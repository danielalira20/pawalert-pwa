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6c9b8c5a774d90" /><Relationship Type="http://schemas.openxmlformats.org/officeDocument/2006/relationships/extended-properties" Target="/docProps/app.xml" Id="R32b76a29f568426b" /><Relationship Type="http://schemas.openxmlformats.org/officeDocument/2006/relationships/officeDocument" Target="/ppt/presentation.xml" Id="Rd2db4b25e22e4f63" /></Relationships>
</file>

<file path=ppt/presentation.xml><?xml version="1.0" encoding="utf-8"?>
<p:presentation xmlns:p="http://schemas.openxmlformats.org/presentationml/2006/main">
  <p:sldMasterIdLst>
    <p:sldMasterId xmlns:r="http://schemas.openxmlformats.org/officeDocument/2006/relationships" id="2147483648" r:id="R5871f29c24f54515"/>
  </p:sldMasterIdLst>
  <p:notesMasterIdLst>
    <p:notesMasterId xmlns:r="http://schemas.openxmlformats.org/officeDocument/2006/relationships" r:id="R0639db076aaa4bc4"/>
  </p:notesMasterIdLst>
  <p:sldIdLst>
    <p:sldId xmlns:r="http://schemas.openxmlformats.org/officeDocument/2006/relationships" id="256" r:id="Rb2e87d75e32a48f9"/>
    <p:sldId xmlns:r="http://schemas.openxmlformats.org/officeDocument/2006/relationships" id="257" r:id="R8f684c81707a477c"/>
    <p:sldId xmlns:r="http://schemas.openxmlformats.org/officeDocument/2006/relationships" id="258" r:id="Re1139078dc164a56"/>
    <p:sldId xmlns:r="http://schemas.openxmlformats.org/officeDocument/2006/relationships" id="259" r:id="R93dca0df896d40db"/>
    <p:sldId xmlns:r="http://schemas.openxmlformats.org/officeDocument/2006/relationships" id="260" r:id="R9945e8ce1253499f"/>
    <p:sldId xmlns:r="http://schemas.openxmlformats.org/officeDocument/2006/relationships" id="261" r:id="R2341e03f572a4920"/>
    <p:sldId xmlns:r="http://schemas.openxmlformats.org/officeDocument/2006/relationships" id="262" r:id="R1637dd23144b4b04"/>
    <p:sldId xmlns:r="http://schemas.openxmlformats.org/officeDocument/2006/relationships" id="263" r:id="Refdaeb5d36054d4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3bc58bb8514157" /><Relationship Type="http://schemas.openxmlformats.org/officeDocument/2006/relationships/slideMaster" Target="/ppt/slideMasters/slideMaster1.xml" Id="R5871f29c24f54515" /><Relationship Type="http://schemas.openxmlformats.org/officeDocument/2006/relationships/notesMaster" Target="/ppt/notesMasters/notesMaster1.xml" Id="R0639db076aaa4bc4" /><Relationship Type="http://schemas.openxmlformats.org/officeDocument/2006/relationships/presProps" Target="/ppt/presProps.xml" Id="R8b407566385349f0" /><Relationship Type="http://schemas.openxmlformats.org/officeDocument/2006/relationships/tableStyles" Target="/ppt/tableStyles.xml" Id="R5c87723ddf8a4392" /><Relationship Type="http://schemas.openxmlformats.org/officeDocument/2006/relationships/slide" Target="/ppt/slides/slide1.xml" Id="Rb2e87d75e32a48f9" /><Relationship Type="http://schemas.openxmlformats.org/officeDocument/2006/relationships/slide" Target="/ppt/slides/slide2.xml" Id="R8f684c81707a477c" /><Relationship Type="http://schemas.openxmlformats.org/officeDocument/2006/relationships/slide" Target="/ppt/slides/slide3.xml" Id="Re1139078dc164a56" /><Relationship Type="http://schemas.openxmlformats.org/officeDocument/2006/relationships/slide" Target="/ppt/slides/slide4.xml" Id="R93dca0df896d40db" /><Relationship Type="http://schemas.openxmlformats.org/officeDocument/2006/relationships/slide" Target="/ppt/slides/slide5.xml" Id="R9945e8ce1253499f" /><Relationship Type="http://schemas.openxmlformats.org/officeDocument/2006/relationships/slide" Target="/ppt/slides/slide6.xml" Id="R2341e03f572a4920" /><Relationship Type="http://schemas.openxmlformats.org/officeDocument/2006/relationships/slide" Target="/ppt/slides/slide7.xml" Id="R1637dd23144b4b04" /><Relationship Type="http://schemas.openxmlformats.org/officeDocument/2006/relationships/slide" Target="/ppt/slides/slide8.xml" Id="Refdaeb5d36054d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039c50a71c4a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29f9dbd50745bc" /><Relationship Type="http://schemas.openxmlformats.org/officeDocument/2006/relationships/notesMaster" Target="/ppt/notesMasters/notesMaster1.xml" Id="Ra634782b32aa43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c919e9815f41cd" /><Relationship Type="http://schemas.openxmlformats.org/officeDocument/2006/relationships/notesMaster" Target="/ppt/notesMasters/notesMaster1.xml" Id="R5f77d1cbb0f34a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4bcaa71db64326" /><Relationship Type="http://schemas.openxmlformats.org/officeDocument/2006/relationships/notesMaster" Target="/ppt/notesMasters/notesMaster1.xml" Id="R2ce2da9239d644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66fd875ec540f3" /><Relationship Type="http://schemas.openxmlformats.org/officeDocument/2006/relationships/notesMaster" Target="/ppt/notesMasters/notesMaster1.xml" Id="R3304976e5dca4f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daa6768ab146a9" /><Relationship Type="http://schemas.openxmlformats.org/officeDocument/2006/relationships/notesMaster" Target="/ppt/notesMasters/notesMaster1.xml" Id="Rd539a4f4e52a43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04851006194dc1" /><Relationship Type="http://schemas.openxmlformats.org/officeDocument/2006/relationships/notesMaster" Target="/ppt/notesMasters/notesMaster1.xml" Id="R333f8f0e74e647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afb853e77d4695" /><Relationship Type="http://schemas.openxmlformats.org/officeDocument/2006/relationships/notesMaster" Target="/ppt/notesMasters/notesMaster1.xml" Id="R89a9dab00bdd49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54eaa1b9c4401b" /><Relationship Type="http://schemas.openxmlformats.org/officeDocument/2006/relationships/notesMaster" Target="/ppt/notesMasters/notesMaster1.xml" Id="R4c1b6e7999f343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el flujo completo de asignación de PawAlert. La idea central es que primero se asegura cobertura institucional, luego se rankean voluntarios compatibles y finalmente se confirma su participación antes de iniciar el rescate.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diapositiva introduce el flujo. La asociación no se elige por puntuación, sino por elegibilidad y distancia. El ranking solo aparece en la etapa de voluntarios. Seleccionar un voluntario no inicia el rescate: primero debe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crear el reporte se extraen todas las especies únicas, incluyendo animales individuales y grupos. La función encuentra_asociacion_cercana filtra asociaciones activas, verificadas, capaces de atender todas las especies, dentro de su radio y no excluidas por rechazos. La condición SQL p_tipos_animales &lt;@ a.tipos_animales::text[] significa que todas las especies requeridas deben estar contenidas en las atendidas. Entre las elegibles se ordena por distancia. Si una asociación rechaza, se repite la búsqueda excluyendo rechazos previos; si no queda cobertura, el caso pasa a sin_cobertura y se buscan contactos de emergencia por especie.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capa SQL considera voluntarios activos, con términos aceptados, ubicación registrada, dentro de 10 km y vinculados correctamente. También calcula capacidad total, carga actual por cantidades reales de animales, casa-hogar, especies, tamaños y disponibilidad. Después Python elimina quienes ya rechazaron, no aceptan todas las especies, ofrecen casa-hogar para más de dos animales o no tienen capacidad suficiente. La especie no suma puntos porque es una condición obligatoria.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máximo es 100. Proximidad aporta hasta 40 puntos y cae 10 por kilómetro. Compatibilidad de tamaño aporta 25 si acepta al menos uno de los tamaños presentes o si no hay dato. Disponibilidad aporta 20 si coincide el momento actual. Capacidad libre aporta hasta 15 según la proporción de espacio disponible. Los candidatos se ordenan de mayor a menor y se devuelve un máximo de tres.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modalidad manual deja la selección a la asociación. En semi-automático, el plazo depende de la condición más grave y después el sistema elige al primero. En automático, el timeout es cero y el cron propone el caso al primer candidato en su siguiente ejecución. El cron está diseñado para correr cada cinco minutos. Sin candidatos elegibles, el reporte permanece con la asociación sin voluntario.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ejecutó backend/venv/bin/python -m pytest tests -q. El resultado fue 69 passed en 1.02 segundos. Las pruebas usan mocks de Supabase y validan unidades y endpoints sin depender de servicios externos. Cubren autenticación, registro de asociaciones, creación y deduplicación de reportes, matching de asociación y voluntarios, puntuación, asignación, confirmación, rechazo, reasignación, escalamiento, seguridad, privacidad de coordenadas y estadísticas. Las dos advertencias no rompen la suite: gotrue está deprecado en favor de supabase_auth y la configuración de Pydantic basada en clases deberá migrar a ConfigDict antes de Pydantic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ofrecer el caso, staff_asignado_id guarda al voluntario, confirmacion_voluntario queda en esperando y el reporte permanece asignado. Si acepta, el backend valida identidad y estado, cambia la confirmación a confirmado, mueve el reporte a en_camino y registra el evento. Si rechaza, se limpia la asignación, se registra el rechazo y queda excluido para ese reporte. El frontend consulta cada cinco segundos, recarga el ranking y muestra el siguiente candidato disponible. Cierre: el valor del sistema está en encadenar cobertura institucional, filtros estrictos, ranking transparente y confirmación humana.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8302f68ee142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3b2f19aa043de" /><Relationship Type="http://schemas.openxmlformats.org/officeDocument/2006/relationships/slideLayout" Target="/ppt/slideLayouts/slideLayout1.xml" Id="R33bf3d47a05a45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bf3d47a05a45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eeb6ea711f4aaa" /><Relationship Type="http://schemas.openxmlformats.org/officeDocument/2006/relationships/notesSlide" Target="/ppt/notesSlides/notesSlide1.xml" Id="Rbe843176760649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68645d8618476e" /><Relationship Type="http://schemas.openxmlformats.org/officeDocument/2006/relationships/notesSlide" Target="/ppt/notesSlides/notesSlide2.xml" Id="Rd515638cf8804f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e7746a61f14ce9" /><Relationship Type="http://schemas.openxmlformats.org/officeDocument/2006/relationships/notesSlide" Target="/ppt/notesSlides/notesSlide3.xml" Id="Re74a464912f44e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6edfdbfcfb4e66" /><Relationship Type="http://schemas.openxmlformats.org/officeDocument/2006/relationships/notesSlide" Target="/ppt/notesSlides/notesSlide4.xml" Id="R9b5d638da50d4e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9ae2e2af4343d2" /><Relationship Type="http://schemas.openxmlformats.org/officeDocument/2006/relationships/notesSlide" Target="/ppt/notesSlides/notesSlide5.xml" Id="Re1516285b08d40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6dcaa421264f6f" /><Relationship Type="http://schemas.openxmlformats.org/officeDocument/2006/relationships/notesSlide" Target="/ppt/notesSlides/notesSlide6.xml" Id="R616ddd5e6fbc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1048829d8bc44f5" /><Relationship Type="http://schemas.openxmlformats.org/officeDocument/2006/relationships/notesSlide" Target="/ppt/notesSlides/notesSlide7.xml" Id="R119e50b3ac4945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524256703a43ea" /><Relationship Type="http://schemas.openxmlformats.org/officeDocument/2006/relationships/notesSlide" Target="/ppt/notesSlides/notesSlide8.xml" Id="Rf7c80bbdc8de425c" /></Relationships>
</file>

<file path=ppt/slides/slide1.xml><?xml version="1.0" encoding="utf-8"?>
<p:sld xmlns:p="http://schemas.openxmlformats.org/presentationml/2006/main">
  <p:cSld>
    <p:bg>
      <p:bgPr>
        <a:solidFill xmlns:a="http://schemas.openxmlformats.org/drawingml/2006/main">
          <a:srgbClr val="EC802B"/>
        </a:solidFill>
      </p:bgPr>
    </p:bg>
    <p:spTree>
      <p:nvGrpSpPr>
        <p:cNvPr id="1" name=""/>
        <p:cNvGrpSpPr/>
        <p:nvPr/>
      </p:nvGrpSpPr>
      <p:grpSpPr>
        <a:xfrm xmlns:a="http://schemas.openxmlformats.org/drawingml/2006/main"/>
      </p:grpSpPr>
      <p:sp>
        <p:nvSpPr>
          <p:cNvPr id="14" name="gradient-bg">
            <a:extLst xmlns:a="http://schemas.openxmlformats.org/drawingml/2006/main">
              <a:ext uri="{FF2B5EF4-FFF2-40B4-BE49-F238E27FC236}">
                <a16:creationId xmlns:a16="http://schemas.microsoft.com/office/drawing/2014/main" id="{3911742F-4043-4E75-91C6-583DC2FB66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EC802B"/>
              </a:gs>
              <a:gs pos="100000">
                <a:srgbClr val="D4621A"/>
              </a:gs>
            </a:gsLst>
            <a:lin ang="0"/>
          </a:gra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7B3F14EC-5BEF-4B53-AF6A-CF45981541F2}"/>
              </a:ext>
            </a:extLst>
          </p:cNvPr>
          <p:cNvSpPr>
            <a:spLocks xmlns:a="http://schemas.openxmlformats.org/drawingml/2006/main" noGrp="1"/>
          </p:cNvSpPr>
          <p:nvPr/>
        </p:nvSpPr>
        <p:spPr>
          <a:xfrm xmlns:a="http://schemas.openxmlformats.org/drawingml/2006/main">
            <a:off x="685800" y="5334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FFFFF"/>
                </a:solidFill>
              </a:defRPr>
            </a:pPr>
            <a:r>
              <a:rPr sz="1350" b="1">
                <a:solidFill>
                  <a:srgbClr val="FFFFFF"/>
                </a:solidFill>
              </a:rPr>
              <a:t>PAWALERT</a:t>
            </a:r>
          </a:p>
        </p:txBody>
      </p:sp>
      <p:sp>
        <p:nvSpPr>
          <p:cNvPr id="3" name="title">
            <a:extLst xmlns:a="http://schemas.openxmlformats.org/drawingml/2006/main">
              <a:ext uri="{FF2B5EF4-FFF2-40B4-BE49-F238E27FC236}">
                <a16:creationId xmlns:a16="http://schemas.microsoft.com/office/drawing/2014/main" id="{35E7F33A-1C6C-4549-99A4-B7A188FF9169}"/>
              </a:ext>
            </a:extLst>
          </p:cNvPr>
          <p:cNvSpPr>
            <a:spLocks xmlns:a="http://schemas.openxmlformats.org/drawingml/2006/main" noGrp="1"/>
          </p:cNvSpPr>
          <p:nvPr/>
        </p:nvSpPr>
        <p:spPr>
          <a:xfrm xmlns:a="http://schemas.openxmlformats.org/drawingml/2006/main">
            <a:off x="685800" y="1638300"/>
            <a:ext cx="7524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Cómo PawAlert encuentra</a:t>
            </a:r>
          </a:p>
          <a:p xmlns:a="http://schemas.openxmlformats.org/drawingml/2006/main">
            <a:pPr algn="l">
              <a:defRPr sz="4050" b="1">
                <a:solidFill>
                  <a:srgbClr val="FFFFFF"/>
                </a:solidFill>
              </a:defRPr>
            </a:pPr>
            <a:r>
              <a:rPr sz="4050" b="1">
                <a:solidFill>
                  <a:srgbClr val="FFFFFF"/>
                </a:solidFill>
              </a:rPr>
              <a:t>la ayuda adecuada</a:t>
            </a:r>
          </a:p>
        </p:txBody>
      </p:sp>
      <p:sp>
        <p:nvSpPr>
          <p:cNvPr id="4" name="subtitle">
            <a:extLst xmlns:a="http://schemas.openxmlformats.org/drawingml/2006/main">
              <a:ext uri="{FF2B5EF4-FFF2-40B4-BE49-F238E27FC236}">
                <a16:creationId xmlns:a16="http://schemas.microsoft.com/office/drawing/2014/main" id="{5EFD2235-72A0-4BFE-B141-97D25242DF15}"/>
              </a:ext>
            </a:extLst>
          </p:cNvPr>
          <p:cNvSpPr>
            <a:spLocks xmlns:a="http://schemas.openxmlformats.org/drawingml/2006/main" noGrp="1"/>
          </p:cNvSpPr>
          <p:nvPr/>
        </p:nvSpPr>
        <p:spPr>
          <a:xfrm xmlns:a="http://schemas.openxmlformats.org/drawingml/2006/main">
            <a:off x="723900" y="3714750"/>
            <a:ext cx="685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FFE8D2"/>
                </a:solidFill>
              </a:defRPr>
            </a:pPr>
            <a:r>
              <a:rPr sz="1725" b="0">
                <a:solidFill>
                  <a:srgbClr val="FFE8D2"/>
                </a:solidFill>
              </a:rPr>
              <a:t>El matching conecta cada rescate con una asociación elegible y hasta tres voluntarios compatibles.</a:t>
            </a:r>
          </a:p>
        </p:txBody>
      </p:sp>
      <p:sp>
        <p:nvSpPr>
          <p:cNvPr id="5" name="signal">
            <a:extLst xmlns:a="http://schemas.openxmlformats.org/drawingml/2006/main">
              <a:ext uri="{FF2B5EF4-FFF2-40B4-BE49-F238E27FC236}">
                <a16:creationId xmlns:a16="http://schemas.microsoft.com/office/drawing/2014/main" id="{CAF1179A-CD63-44B4-B444-F3EE4ECAE6FF}"/>
              </a:ext>
            </a:extLst>
          </p:cNvPr>
          <p:cNvSpPr>
            <a:spLocks xmlns:a="http://schemas.openxmlformats.org/drawingml/2006/main" noGrp="1"/>
          </p:cNvSpPr>
          <p:nvPr/>
        </p:nvSpPr>
        <p:spPr>
          <a:xfrm xmlns:a="http://schemas.openxmlformats.org/drawingml/2006/main">
            <a:off x="8982075" y="1257300"/>
            <a:ext cx="2095500" cy="4095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0">
            <a:noFill/>
            <a:prstDash val="solid"/>
          </a:ln>
        </p:spPr>
      </p:sp>
      <p:sp>
        <p:nvSpPr>
          <p:cNvPr id="6" name="paw">
            <a:extLst xmlns:a="http://schemas.openxmlformats.org/drawingml/2006/main">
              <a:ext uri="{FF2B5EF4-FFF2-40B4-BE49-F238E27FC236}">
                <a16:creationId xmlns:a16="http://schemas.microsoft.com/office/drawing/2014/main" id="{0E002E91-317A-4C22-9399-1ED89322596B}"/>
              </a:ext>
            </a:extLst>
          </p:cNvPr>
          <p:cNvSpPr>
            <a:spLocks xmlns:a="http://schemas.openxmlformats.org/drawingml/2006/main" noGrp="1"/>
          </p:cNvSpPr>
          <p:nvPr/>
        </p:nvSpPr>
        <p:spPr>
          <a:xfrm xmlns:a="http://schemas.openxmlformats.org/drawingml/2006/main">
            <a:off x="9353550" y="1562100"/>
            <a:ext cx="1352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100" b="1">
                <a:solidFill>
                  <a:srgbClr val="EC802B"/>
                </a:solidFill>
              </a:defRPr>
            </a:pPr>
            <a:r>
              <a:rPr sz="5100" b="1">
                <a:solidFill>
                  <a:srgbClr val="EC802B"/>
                </a:solidFill>
              </a:rPr>
              <a:t>🐾</a:t>
            </a:r>
          </a:p>
        </p:txBody>
      </p:sp>
      <p:sp>
        <p:nvSpPr>
          <p:cNvPr id="7" name="chip-ASOCIACIÓN">
            <a:extLst xmlns:a="http://schemas.openxmlformats.org/drawingml/2006/main">
              <a:ext uri="{FF2B5EF4-FFF2-40B4-BE49-F238E27FC236}">
                <a16:creationId xmlns:a16="http://schemas.microsoft.com/office/drawing/2014/main" id="{1B7E6329-A2E3-414F-B87B-6FAC19E1C69D}"/>
              </a:ext>
            </a:extLst>
          </p:cNvPr>
          <p:cNvSpPr>
            <a:spLocks xmlns:a="http://schemas.openxmlformats.org/drawingml/2006/main" noGrp="1"/>
          </p:cNvSpPr>
          <p:nvPr/>
        </p:nvSpPr>
        <p:spPr>
          <a:xfrm xmlns:a="http://schemas.openxmlformats.org/drawingml/2006/main">
            <a:off x="9172575" y="3105150"/>
            <a:ext cx="1714500" cy="323850"/>
          </a:xfrm>
          <a:prstGeom xmlns:a="http://schemas.openxmlformats.org/drawingml/2006/main" prst="roundRect">
            <a:avLst>
              <a:gd name="adj" fmla="val 47059"/>
            </a:avLst>
          </a:prstGeom>
          <a:solidFill xmlns:a="http://schemas.openxmlformats.org/drawingml/2006/main">
            <a:srgbClr val="EC802B"/>
          </a:solidFill>
          <a:ln xmlns:a="http://schemas.openxmlformats.org/drawingml/2006/main" w="0">
            <a:noFill/>
            <a:prstDash val="solid"/>
          </a:ln>
        </p:spPr>
      </p:sp>
      <p:sp>
        <p:nvSpPr>
          <p:cNvPr id="8" name="chip-text-ASOCIACIÓN">
            <a:extLst xmlns:a="http://schemas.openxmlformats.org/drawingml/2006/main">
              <a:ext uri="{FF2B5EF4-FFF2-40B4-BE49-F238E27FC236}">
                <a16:creationId xmlns:a16="http://schemas.microsoft.com/office/drawing/2014/main" id="{03B9E311-9193-4103-AEA9-91F481BD3523}"/>
              </a:ext>
            </a:extLst>
          </p:cNvPr>
          <p:cNvSpPr>
            <a:spLocks xmlns:a="http://schemas.openxmlformats.org/drawingml/2006/main" noGrp="1"/>
          </p:cNvSpPr>
          <p:nvPr/>
        </p:nvSpPr>
        <p:spPr>
          <a:xfrm xmlns:a="http://schemas.openxmlformats.org/drawingml/2006/main">
            <a:off x="9267825" y="3114675"/>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ASOCIACIÓN</a:t>
            </a:r>
          </a:p>
        </p:txBody>
      </p:sp>
      <p:sp>
        <p:nvSpPr>
          <p:cNvPr id="9" name="chip-VOLUNTARIOS">
            <a:extLst xmlns:a="http://schemas.openxmlformats.org/drawingml/2006/main">
              <a:ext uri="{FF2B5EF4-FFF2-40B4-BE49-F238E27FC236}">
                <a16:creationId xmlns:a16="http://schemas.microsoft.com/office/drawing/2014/main" id="{35FF645F-2BD2-4778-B61E-744E40D7FBB8}"/>
              </a:ext>
            </a:extLst>
          </p:cNvPr>
          <p:cNvSpPr>
            <a:spLocks xmlns:a="http://schemas.openxmlformats.org/drawingml/2006/main" noGrp="1"/>
          </p:cNvSpPr>
          <p:nvPr/>
        </p:nvSpPr>
        <p:spPr>
          <a:xfrm xmlns:a="http://schemas.openxmlformats.org/drawingml/2006/main">
            <a:off x="9172575" y="3648075"/>
            <a:ext cx="1714500" cy="323850"/>
          </a:xfrm>
          <a:prstGeom xmlns:a="http://schemas.openxmlformats.org/drawingml/2006/main" prst="roundRect">
            <a:avLst>
              <a:gd name="adj" fmla="val 47059"/>
            </a:avLst>
          </a:prstGeom>
          <a:solidFill xmlns:a="http://schemas.openxmlformats.org/drawingml/2006/main">
            <a:srgbClr val="66BCB4"/>
          </a:solidFill>
          <a:ln xmlns:a="http://schemas.openxmlformats.org/drawingml/2006/main" w="0">
            <a:noFill/>
            <a:prstDash val="solid"/>
          </a:ln>
        </p:spPr>
      </p:sp>
      <p:sp>
        <p:nvSpPr>
          <p:cNvPr id="10" name="chip-text-VOLUNTARIOS">
            <a:extLst xmlns:a="http://schemas.openxmlformats.org/drawingml/2006/main">
              <a:ext uri="{FF2B5EF4-FFF2-40B4-BE49-F238E27FC236}">
                <a16:creationId xmlns:a16="http://schemas.microsoft.com/office/drawing/2014/main" id="{C668764E-10E2-48B9-8174-04A1707C345C}"/>
              </a:ext>
            </a:extLst>
          </p:cNvPr>
          <p:cNvSpPr>
            <a:spLocks xmlns:a="http://schemas.openxmlformats.org/drawingml/2006/main" noGrp="1"/>
          </p:cNvSpPr>
          <p:nvPr/>
        </p:nvSpPr>
        <p:spPr>
          <a:xfrm xmlns:a="http://schemas.openxmlformats.org/drawingml/2006/main">
            <a:off x="9267825" y="3657600"/>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VOLUNTARIOS</a:t>
            </a:r>
          </a:p>
        </p:txBody>
      </p:sp>
      <p:sp>
        <p:nvSpPr>
          <p:cNvPr id="11" name="chip-CONFIRMACIÓN">
            <a:extLst xmlns:a="http://schemas.openxmlformats.org/drawingml/2006/main">
              <a:ext uri="{FF2B5EF4-FFF2-40B4-BE49-F238E27FC236}">
                <a16:creationId xmlns:a16="http://schemas.microsoft.com/office/drawing/2014/main" id="{BC0A4129-4837-43DC-9174-4237C3B70BD3}"/>
              </a:ext>
            </a:extLst>
          </p:cNvPr>
          <p:cNvSpPr>
            <a:spLocks xmlns:a="http://schemas.openxmlformats.org/drawingml/2006/main" noGrp="1"/>
          </p:cNvSpPr>
          <p:nvPr/>
        </p:nvSpPr>
        <p:spPr>
          <a:xfrm xmlns:a="http://schemas.openxmlformats.org/drawingml/2006/main">
            <a:off x="9172575" y="4191000"/>
            <a:ext cx="1714500" cy="323850"/>
          </a:xfrm>
          <a:prstGeom xmlns:a="http://schemas.openxmlformats.org/drawingml/2006/main" prst="roundRect">
            <a:avLst>
              <a:gd name="adj" fmla="val 47059"/>
            </a:avLst>
          </a:prstGeom>
          <a:solidFill xmlns:a="http://schemas.openxmlformats.org/drawingml/2006/main">
            <a:srgbClr val="EDC55B"/>
          </a:solidFill>
          <a:ln xmlns:a="http://schemas.openxmlformats.org/drawingml/2006/main" w="0">
            <a:noFill/>
            <a:prstDash val="solid"/>
          </a:ln>
        </p:spPr>
      </p:sp>
      <p:sp>
        <p:nvSpPr>
          <p:cNvPr id="12" name="chip-text-CONFIRMACIÓN">
            <a:extLst xmlns:a="http://schemas.openxmlformats.org/drawingml/2006/main">
              <a:ext uri="{FF2B5EF4-FFF2-40B4-BE49-F238E27FC236}">
                <a16:creationId xmlns:a16="http://schemas.microsoft.com/office/drawing/2014/main" id="{B251F964-E4C6-4DEE-8DB1-AAE8B764FE7C}"/>
              </a:ext>
            </a:extLst>
          </p:cNvPr>
          <p:cNvSpPr>
            <a:spLocks xmlns:a="http://schemas.openxmlformats.org/drawingml/2006/main" noGrp="1"/>
          </p:cNvSpPr>
          <p:nvPr/>
        </p:nvSpPr>
        <p:spPr>
          <a:xfrm xmlns:a="http://schemas.openxmlformats.org/drawingml/2006/main">
            <a:off x="9267825" y="4200525"/>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CONFIRMACIÓN</a:t>
            </a:r>
          </a:p>
        </p:txBody>
      </p:sp>
      <p:sp>
        <p:nvSpPr>
          <p:cNvPr id="13" name="footer">
            <a:extLst xmlns:a="http://schemas.openxmlformats.org/drawingml/2006/main">
              <a:ext uri="{FF2B5EF4-FFF2-40B4-BE49-F238E27FC236}">
                <a16:creationId xmlns:a16="http://schemas.microsoft.com/office/drawing/2014/main" id="{C63235F8-022B-4C59-A533-39DAA70E8600}"/>
              </a:ext>
            </a:extLst>
          </p:cNvPr>
          <p:cNvSpPr>
            <a:spLocks xmlns:a="http://schemas.openxmlformats.org/drawingml/2006/main" noGrp="1"/>
          </p:cNvSpPr>
          <p:nvPr/>
        </p:nvSpPr>
        <p:spPr>
          <a:xfrm xmlns:a="http://schemas.openxmlformats.org/drawingml/2006/main">
            <a:off x="685800" y="60960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FFE8D2"/>
                </a:solidFill>
              </a:defRPr>
            </a:pPr>
            <a:r>
              <a:rPr sz="1200" b="0">
                <a:solidFill>
                  <a:srgbClr val="FFE8D2"/>
                </a:solidFill>
              </a:rPr>
              <a:t>Sistema de asignación para rescates de animales</a:t>
            </a:r>
          </a:p>
        </p:txBody>
      </p:sp>
    </p:spTree>
    <p:extLst>
      <p:ext uri="{BB962C8B-B14F-4D97-AF65-F5344CB8AC3E}">
        <p14:creationId xmlns:p14="http://schemas.microsoft.com/office/powerpoint/2010/main" val="526792873"/>
      </p:ext>
    </p:extLst>
  </p:cSld>
</p:sld>
</file>

<file path=ppt/slides/slide2.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23" name="kicker">
            <a:extLst xmlns:a="http://schemas.openxmlformats.org/drawingml/2006/main">
              <a:ext uri="{FF2B5EF4-FFF2-40B4-BE49-F238E27FC236}">
                <a16:creationId xmlns:a16="http://schemas.microsoft.com/office/drawing/2014/main" id="{6EDCA643-E6A1-42D3-9F9E-5E767E9E56FB}"/>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LA LÓGICA COMPLETA</a:t>
            </a:r>
          </a:p>
        </p:txBody>
      </p:sp>
      <p:sp>
        <p:nvSpPr>
          <p:cNvPr id="2" name="title">
            <a:extLst xmlns:a="http://schemas.openxmlformats.org/drawingml/2006/main">
              <a:ext uri="{FF2B5EF4-FFF2-40B4-BE49-F238E27FC236}">
                <a16:creationId xmlns:a16="http://schemas.microsoft.com/office/drawing/2014/main" id="{A478E8F8-0764-4AF1-BABC-E352142A4ECA}"/>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Tres decisiones convierten un reporte en un rescate en camino</a:t>
            </a:r>
          </a:p>
        </p:txBody>
      </p:sp>
      <p:sp>
        <p:nvSpPr>
          <p:cNvPr id="3" name="page">
            <a:extLst xmlns:a="http://schemas.openxmlformats.org/drawingml/2006/main">
              <a:ext uri="{FF2B5EF4-FFF2-40B4-BE49-F238E27FC236}">
                <a16:creationId xmlns:a16="http://schemas.microsoft.com/office/drawing/2014/main" id="{7CAD3C61-E971-45AD-A4EA-017ED7B1D645}"/>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02</a:t>
            </a:r>
          </a:p>
        </p:txBody>
      </p:sp>
      <p:sp>
        <p:nvSpPr>
          <p:cNvPr id="4" name="accent">
            <a:extLst xmlns:a="http://schemas.openxmlformats.org/drawingml/2006/main">
              <a:ext uri="{FF2B5EF4-FFF2-40B4-BE49-F238E27FC236}">
                <a16:creationId xmlns:a16="http://schemas.microsoft.com/office/drawing/2014/main" id="{65743CB5-307F-4B26-9769-8D1F2963F395}"/>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flow-card-1">
            <a:extLst xmlns:a="http://schemas.openxmlformats.org/drawingml/2006/main">
              <a:ext uri="{FF2B5EF4-FFF2-40B4-BE49-F238E27FC236}">
                <a16:creationId xmlns:a16="http://schemas.microsoft.com/office/drawing/2014/main" id="{5D486C7B-15EE-44CF-A871-B2EF7C9FDF7E}"/>
              </a:ext>
            </a:extLst>
          </p:cNvPr>
          <p:cNvSpPr>
            <a:spLocks xmlns:a="http://schemas.openxmlformats.org/drawingml/2006/main" noGrp="1"/>
          </p:cNvSpPr>
          <p:nvPr/>
        </p:nvSpPr>
        <p:spPr>
          <a:xfrm xmlns:a="http://schemas.openxmlformats.org/drawingml/2006/main">
            <a:off x="685800" y="2305050"/>
            <a:ext cx="31242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E2D3C3"/>
            </a:solidFill>
            <a:prstDash val="solid"/>
          </a:ln>
        </p:spPr>
      </p:sp>
      <p:sp>
        <p:nvSpPr>
          <p:cNvPr id="6" name="flow-num-1">
            <a:extLst xmlns:a="http://schemas.openxmlformats.org/drawingml/2006/main">
              <a:ext uri="{FF2B5EF4-FFF2-40B4-BE49-F238E27FC236}">
                <a16:creationId xmlns:a16="http://schemas.microsoft.com/office/drawing/2014/main" id="{9D3F5872-DE70-42D5-B29B-A72875E0E324}"/>
              </a:ext>
            </a:extLst>
          </p:cNvPr>
          <p:cNvSpPr>
            <a:spLocks xmlns:a="http://schemas.openxmlformats.org/drawingml/2006/main" noGrp="1"/>
          </p:cNvSpPr>
          <p:nvPr/>
        </p:nvSpPr>
        <p:spPr>
          <a:xfrm xmlns:a="http://schemas.openxmlformats.org/drawingml/2006/main">
            <a:off x="914400" y="2533650"/>
            <a:ext cx="514350" cy="514350"/>
          </a:xfrm>
          <a:prstGeom xmlns:a="http://schemas.openxmlformats.org/drawingml/2006/main" prst="roundRect">
            <a:avLst>
              <a:gd name="adj" fmla="val 29630"/>
            </a:avLst>
          </a:prstGeom>
          <a:solidFill xmlns:a="http://schemas.openxmlformats.org/drawingml/2006/main">
            <a:srgbClr val="EC802B"/>
          </a:solidFill>
          <a:ln xmlns:a="http://schemas.openxmlformats.org/drawingml/2006/main" w="0">
            <a:noFill/>
            <a:prstDash val="solid"/>
          </a:ln>
        </p:spPr>
      </p:sp>
      <p:sp>
        <p:nvSpPr>
          <p:cNvPr id="7" name="flow-num-text-1">
            <a:extLst xmlns:a="http://schemas.openxmlformats.org/drawingml/2006/main">
              <a:ext uri="{FF2B5EF4-FFF2-40B4-BE49-F238E27FC236}">
                <a16:creationId xmlns:a16="http://schemas.microsoft.com/office/drawing/2014/main" id="{874F93A6-8D99-43E6-8689-01DE2DBBC691}"/>
              </a:ext>
            </a:extLst>
          </p:cNvPr>
          <p:cNvSpPr>
            <a:spLocks xmlns:a="http://schemas.openxmlformats.org/drawingml/2006/main" noGrp="1"/>
          </p:cNvSpPr>
          <p:nvPr/>
        </p:nvSpPr>
        <p:spPr>
          <a:xfrm xmlns:a="http://schemas.openxmlformats.org/drawingml/2006/main">
            <a:off x="914400" y="25336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1</a:t>
            </a:r>
          </a:p>
        </p:txBody>
      </p:sp>
      <p:sp>
        <p:nvSpPr>
          <p:cNvPr id="8" name="flow-title-1">
            <a:extLst xmlns:a="http://schemas.openxmlformats.org/drawingml/2006/main">
              <a:ext uri="{FF2B5EF4-FFF2-40B4-BE49-F238E27FC236}">
                <a16:creationId xmlns:a16="http://schemas.microsoft.com/office/drawing/2014/main" id="{7D819E54-F3E7-42BA-BC11-9C6E57F6B113}"/>
              </a:ext>
            </a:extLst>
          </p:cNvPr>
          <p:cNvSpPr>
            <a:spLocks xmlns:a="http://schemas.openxmlformats.org/drawingml/2006/main" noGrp="1"/>
          </p:cNvSpPr>
          <p:nvPr/>
        </p:nvSpPr>
        <p:spPr>
          <a:xfrm xmlns:a="http://schemas.openxmlformats.org/drawingml/2006/main">
            <a:off x="914400" y="32194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E2A26"/>
                </a:solidFill>
              </a:defRPr>
            </a:pPr>
            <a:r>
              <a:rPr sz="1950" b="1">
                <a:solidFill>
                  <a:srgbClr val="2E2A26"/>
                </a:solidFill>
              </a:rPr>
              <a:t>Encontrar asociación</a:t>
            </a:r>
          </a:p>
        </p:txBody>
      </p:sp>
      <p:sp>
        <p:nvSpPr>
          <p:cNvPr id="9" name="flow-body-1">
            <a:extLst xmlns:a="http://schemas.openxmlformats.org/drawingml/2006/main">
              <a:ext uri="{FF2B5EF4-FFF2-40B4-BE49-F238E27FC236}">
                <a16:creationId xmlns:a16="http://schemas.microsoft.com/office/drawing/2014/main" id="{3859C56F-2AEF-42EB-975B-61B5A6AA6941}"/>
              </a:ext>
            </a:extLst>
          </p:cNvPr>
          <p:cNvSpPr>
            <a:spLocks xmlns:a="http://schemas.openxmlformats.org/drawingml/2006/main" noGrp="1"/>
          </p:cNvSpPr>
          <p:nvPr/>
        </p:nvSpPr>
        <p:spPr>
          <a:xfrm xmlns:a="http://schemas.openxmlformats.org/drawingml/2006/main">
            <a:off x="914400" y="3914775"/>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La más cercana que cubre todas las especies y opera dentro de su radio.</a:t>
            </a:r>
          </a:p>
        </p:txBody>
      </p:sp>
      <p:sp>
        <p:nvSpPr>
          <p:cNvPr id="10" name="flow-card-2">
            <a:extLst xmlns:a="http://schemas.openxmlformats.org/drawingml/2006/main">
              <a:ext uri="{FF2B5EF4-FFF2-40B4-BE49-F238E27FC236}">
                <a16:creationId xmlns:a16="http://schemas.microsoft.com/office/drawing/2014/main" id="{26D9DAC7-3DC7-422E-82F8-301A69CB26A4}"/>
              </a:ext>
            </a:extLst>
          </p:cNvPr>
          <p:cNvSpPr>
            <a:spLocks xmlns:a="http://schemas.openxmlformats.org/drawingml/2006/main" noGrp="1"/>
          </p:cNvSpPr>
          <p:nvPr/>
        </p:nvSpPr>
        <p:spPr>
          <a:xfrm xmlns:a="http://schemas.openxmlformats.org/drawingml/2006/main">
            <a:off x="4533900" y="2305050"/>
            <a:ext cx="31242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E2D3C3"/>
            </a:solidFill>
            <a:prstDash val="solid"/>
          </a:ln>
        </p:spPr>
      </p:sp>
      <p:sp>
        <p:nvSpPr>
          <p:cNvPr id="11" name="flow-num-2">
            <a:extLst xmlns:a="http://schemas.openxmlformats.org/drawingml/2006/main">
              <a:ext uri="{FF2B5EF4-FFF2-40B4-BE49-F238E27FC236}">
                <a16:creationId xmlns:a16="http://schemas.microsoft.com/office/drawing/2014/main" id="{8F02C16E-C761-4C79-BAE1-D39CC5BD59E2}"/>
              </a:ext>
            </a:extLst>
          </p:cNvPr>
          <p:cNvSpPr>
            <a:spLocks xmlns:a="http://schemas.openxmlformats.org/drawingml/2006/main" noGrp="1"/>
          </p:cNvSpPr>
          <p:nvPr/>
        </p:nvSpPr>
        <p:spPr>
          <a:xfrm xmlns:a="http://schemas.openxmlformats.org/drawingml/2006/main">
            <a:off x="4762500" y="2533650"/>
            <a:ext cx="514350" cy="514350"/>
          </a:xfrm>
          <a:prstGeom xmlns:a="http://schemas.openxmlformats.org/drawingml/2006/main" prst="roundRect">
            <a:avLst>
              <a:gd name="adj" fmla="val 29630"/>
            </a:avLst>
          </a:prstGeom>
          <a:solidFill xmlns:a="http://schemas.openxmlformats.org/drawingml/2006/main">
            <a:srgbClr val="66BCB4"/>
          </a:solidFill>
          <a:ln xmlns:a="http://schemas.openxmlformats.org/drawingml/2006/main" w="0">
            <a:noFill/>
            <a:prstDash val="solid"/>
          </a:ln>
        </p:spPr>
      </p:sp>
      <p:sp>
        <p:nvSpPr>
          <p:cNvPr id="12" name="flow-num-text-2">
            <a:extLst xmlns:a="http://schemas.openxmlformats.org/drawingml/2006/main">
              <a:ext uri="{FF2B5EF4-FFF2-40B4-BE49-F238E27FC236}">
                <a16:creationId xmlns:a16="http://schemas.microsoft.com/office/drawing/2014/main" id="{F2B3717A-2E46-4C25-A374-35BF9081DFB7}"/>
              </a:ext>
            </a:extLst>
          </p:cNvPr>
          <p:cNvSpPr>
            <a:spLocks xmlns:a="http://schemas.openxmlformats.org/drawingml/2006/main" noGrp="1"/>
          </p:cNvSpPr>
          <p:nvPr/>
        </p:nvSpPr>
        <p:spPr>
          <a:xfrm xmlns:a="http://schemas.openxmlformats.org/drawingml/2006/main">
            <a:off x="4762500" y="25336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2</a:t>
            </a:r>
          </a:p>
        </p:txBody>
      </p:sp>
      <p:sp>
        <p:nvSpPr>
          <p:cNvPr id="13" name="flow-title-2">
            <a:extLst xmlns:a="http://schemas.openxmlformats.org/drawingml/2006/main">
              <a:ext uri="{FF2B5EF4-FFF2-40B4-BE49-F238E27FC236}">
                <a16:creationId xmlns:a16="http://schemas.microsoft.com/office/drawing/2014/main" id="{144D4909-515F-4EAC-9CB2-13542C2FF526}"/>
              </a:ext>
            </a:extLst>
          </p:cNvPr>
          <p:cNvSpPr>
            <a:spLocks xmlns:a="http://schemas.openxmlformats.org/drawingml/2006/main" noGrp="1"/>
          </p:cNvSpPr>
          <p:nvPr/>
        </p:nvSpPr>
        <p:spPr>
          <a:xfrm xmlns:a="http://schemas.openxmlformats.org/drawingml/2006/main">
            <a:off x="4762500" y="32194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E2A26"/>
                </a:solidFill>
              </a:defRPr>
            </a:pPr>
            <a:r>
              <a:rPr sz="1950" b="1">
                <a:solidFill>
                  <a:srgbClr val="2E2A26"/>
                </a:solidFill>
              </a:rPr>
              <a:t>Rankear voluntarios</a:t>
            </a:r>
          </a:p>
        </p:txBody>
      </p:sp>
      <p:sp>
        <p:nvSpPr>
          <p:cNvPr id="14" name="flow-body-2">
            <a:extLst xmlns:a="http://schemas.openxmlformats.org/drawingml/2006/main">
              <a:ext uri="{FF2B5EF4-FFF2-40B4-BE49-F238E27FC236}">
                <a16:creationId xmlns:a16="http://schemas.microsoft.com/office/drawing/2014/main" id="{AFFB1C56-FD0D-43D8-B64E-32FBDDD6EBFE}"/>
              </a:ext>
            </a:extLst>
          </p:cNvPr>
          <p:cNvSpPr>
            <a:spLocks xmlns:a="http://schemas.openxmlformats.org/drawingml/2006/main" noGrp="1"/>
          </p:cNvSpPr>
          <p:nvPr/>
        </p:nvSpPr>
        <p:spPr>
          <a:xfrm xmlns:a="http://schemas.openxmlformats.org/drawingml/2006/main">
            <a:off x="4762500" y="3914775"/>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Filtros obligatorios y un score explicable producen un top 3.</a:t>
            </a:r>
          </a:p>
        </p:txBody>
      </p:sp>
      <p:sp>
        <p:nvSpPr>
          <p:cNvPr id="15" name="flow-card-3">
            <a:extLst xmlns:a="http://schemas.openxmlformats.org/drawingml/2006/main">
              <a:ext uri="{FF2B5EF4-FFF2-40B4-BE49-F238E27FC236}">
                <a16:creationId xmlns:a16="http://schemas.microsoft.com/office/drawing/2014/main" id="{9974779F-C600-4774-BF7A-29AD4CE6A491}"/>
              </a:ext>
            </a:extLst>
          </p:cNvPr>
          <p:cNvSpPr>
            <a:spLocks xmlns:a="http://schemas.openxmlformats.org/drawingml/2006/main" noGrp="1"/>
          </p:cNvSpPr>
          <p:nvPr/>
        </p:nvSpPr>
        <p:spPr>
          <a:xfrm xmlns:a="http://schemas.openxmlformats.org/drawingml/2006/main">
            <a:off x="8382000" y="2305050"/>
            <a:ext cx="31242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E2D3C3"/>
            </a:solidFill>
            <a:prstDash val="solid"/>
          </a:ln>
        </p:spPr>
      </p:sp>
      <p:sp>
        <p:nvSpPr>
          <p:cNvPr id="16" name="flow-num-3">
            <a:extLst xmlns:a="http://schemas.openxmlformats.org/drawingml/2006/main">
              <a:ext uri="{FF2B5EF4-FFF2-40B4-BE49-F238E27FC236}">
                <a16:creationId xmlns:a16="http://schemas.microsoft.com/office/drawing/2014/main" id="{C2391077-0ABF-431E-AF93-754A19CE3EAA}"/>
              </a:ext>
            </a:extLst>
          </p:cNvPr>
          <p:cNvSpPr>
            <a:spLocks xmlns:a="http://schemas.openxmlformats.org/drawingml/2006/main" noGrp="1"/>
          </p:cNvSpPr>
          <p:nvPr/>
        </p:nvSpPr>
        <p:spPr>
          <a:xfrm xmlns:a="http://schemas.openxmlformats.org/drawingml/2006/main">
            <a:off x="8610600" y="2533650"/>
            <a:ext cx="514350" cy="514350"/>
          </a:xfrm>
          <a:prstGeom xmlns:a="http://schemas.openxmlformats.org/drawingml/2006/main" prst="roundRect">
            <a:avLst>
              <a:gd name="adj" fmla="val 29630"/>
            </a:avLst>
          </a:prstGeom>
          <a:solidFill xmlns:a="http://schemas.openxmlformats.org/drawingml/2006/main">
            <a:srgbClr val="EDC55B"/>
          </a:solidFill>
          <a:ln xmlns:a="http://schemas.openxmlformats.org/drawingml/2006/main" w="0">
            <a:noFill/>
            <a:prstDash val="solid"/>
          </a:ln>
        </p:spPr>
      </p:sp>
      <p:sp>
        <p:nvSpPr>
          <p:cNvPr id="17" name="flow-num-text-3">
            <a:extLst xmlns:a="http://schemas.openxmlformats.org/drawingml/2006/main">
              <a:ext uri="{FF2B5EF4-FFF2-40B4-BE49-F238E27FC236}">
                <a16:creationId xmlns:a16="http://schemas.microsoft.com/office/drawing/2014/main" id="{7918FA85-88D1-4CBA-AB58-1A3E650BF7F6}"/>
              </a:ext>
            </a:extLst>
          </p:cNvPr>
          <p:cNvSpPr>
            <a:spLocks xmlns:a="http://schemas.openxmlformats.org/drawingml/2006/main" noGrp="1"/>
          </p:cNvSpPr>
          <p:nvPr/>
        </p:nvSpPr>
        <p:spPr>
          <a:xfrm xmlns:a="http://schemas.openxmlformats.org/drawingml/2006/main">
            <a:off x="8610600" y="25336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2E2A26"/>
                </a:solidFill>
              </a:defRPr>
            </a:pPr>
            <a:r>
              <a:rPr sz="1800" b="1">
                <a:solidFill>
                  <a:srgbClr val="2E2A26"/>
                </a:solidFill>
              </a:rPr>
              <a:t>3</a:t>
            </a:r>
          </a:p>
        </p:txBody>
      </p:sp>
      <p:sp>
        <p:nvSpPr>
          <p:cNvPr id="18" name="flow-title-3">
            <a:extLst xmlns:a="http://schemas.openxmlformats.org/drawingml/2006/main">
              <a:ext uri="{FF2B5EF4-FFF2-40B4-BE49-F238E27FC236}">
                <a16:creationId xmlns:a16="http://schemas.microsoft.com/office/drawing/2014/main" id="{AE254C14-0424-4884-A108-5DFC96D7C2E2}"/>
              </a:ext>
            </a:extLst>
          </p:cNvPr>
          <p:cNvSpPr>
            <a:spLocks xmlns:a="http://schemas.openxmlformats.org/drawingml/2006/main" noGrp="1"/>
          </p:cNvSpPr>
          <p:nvPr/>
        </p:nvSpPr>
        <p:spPr>
          <a:xfrm xmlns:a="http://schemas.openxmlformats.org/drawingml/2006/main">
            <a:off x="8610600" y="3219450"/>
            <a:ext cx="266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E2A26"/>
                </a:solidFill>
              </a:defRPr>
            </a:pPr>
            <a:r>
              <a:rPr sz="1950" b="1">
                <a:solidFill>
                  <a:srgbClr val="2E2A26"/>
                </a:solidFill>
              </a:rPr>
              <a:t>Confirmar apoyo</a:t>
            </a:r>
          </a:p>
        </p:txBody>
      </p:sp>
      <p:sp>
        <p:nvSpPr>
          <p:cNvPr id="19" name="flow-body-3">
            <a:extLst xmlns:a="http://schemas.openxmlformats.org/drawingml/2006/main">
              <a:ext uri="{FF2B5EF4-FFF2-40B4-BE49-F238E27FC236}">
                <a16:creationId xmlns:a16="http://schemas.microsoft.com/office/drawing/2014/main" id="{6F61853A-2D31-4670-BDF4-96B129126B4D}"/>
              </a:ext>
            </a:extLst>
          </p:cNvPr>
          <p:cNvSpPr>
            <a:spLocks xmlns:a="http://schemas.openxmlformats.org/drawingml/2006/main" noGrp="1"/>
          </p:cNvSpPr>
          <p:nvPr/>
        </p:nvSpPr>
        <p:spPr>
          <a:xfrm xmlns:a="http://schemas.openxmlformats.org/drawingml/2006/main">
            <a:off x="8610600" y="3914775"/>
            <a:ext cx="2667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La propuesta solo avanza cuando el voluntario acepta el caso.</a:t>
            </a:r>
          </a:p>
        </p:txBody>
      </p:sp>
      <p:sp>
        <p:nvSpPr>
          <p:cNvPr id="20" name="arrow1">
            <a:extLst xmlns:a="http://schemas.openxmlformats.org/drawingml/2006/main">
              <a:ext uri="{FF2B5EF4-FFF2-40B4-BE49-F238E27FC236}">
                <a16:creationId xmlns:a16="http://schemas.microsoft.com/office/drawing/2014/main" id="{339752D3-35D8-4F53-A8EC-2EA7065FA29A}"/>
              </a:ext>
            </a:extLst>
          </p:cNvPr>
          <p:cNvSpPr>
            <a:spLocks xmlns:a="http://schemas.openxmlformats.org/drawingml/2006/main" noGrp="1"/>
          </p:cNvSpPr>
          <p:nvPr/>
        </p:nvSpPr>
        <p:spPr>
          <a:xfrm xmlns:a="http://schemas.openxmlformats.org/drawingml/2006/main">
            <a:off x="3905250" y="3286125"/>
            <a:ext cx="45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9B8B7E"/>
                </a:solidFill>
              </a:defRPr>
            </a:pPr>
            <a:r>
              <a:rPr sz="3150" b="1">
                <a:solidFill>
                  <a:srgbClr val="9B8B7E"/>
                </a:solidFill>
              </a:rPr>
              <a:t>→</a:t>
            </a:r>
          </a:p>
        </p:txBody>
      </p:sp>
      <p:sp>
        <p:nvSpPr>
          <p:cNvPr id="21" name="arrow2">
            <a:extLst xmlns:a="http://schemas.openxmlformats.org/drawingml/2006/main">
              <a:ext uri="{FF2B5EF4-FFF2-40B4-BE49-F238E27FC236}">
                <a16:creationId xmlns:a16="http://schemas.microsoft.com/office/drawing/2014/main" id="{E19DD632-8E1C-42CC-9B7C-249A7A8E75D3}"/>
              </a:ext>
            </a:extLst>
          </p:cNvPr>
          <p:cNvSpPr>
            <a:spLocks xmlns:a="http://schemas.openxmlformats.org/drawingml/2006/main" noGrp="1"/>
          </p:cNvSpPr>
          <p:nvPr/>
        </p:nvSpPr>
        <p:spPr>
          <a:xfrm xmlns:a="http://schemas.openxmlformats.org/drawingml/2006/main">
            <a:off x="7753350" y="3286125"/>
            <a:ext cx="457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9B8B7E"/>
                </a:solidFill>
              </a:defRPr>
            </a:pPr>
            <a:r>
              <a:rPr sz="3150" b="1">
                <a:solidFill>
                  <a:srgbClr val="9B8B7E"/>
                </a:solidFill>
              </a:rPr>
              <a:t>→</a:t>
            </a:r>
          </a:p>
        </p:txBody>
      </p:sp>
      <p:sp>
        <p:nvSpPr>
          <p:cNvPr id="22" name="takeaway">
            <a:extLst xmlns:a="http://schemas.openxmlformats.org/drawingml/2006/main">
              <a:ext uri="{FF2B5EF4-FFF2-40B4-BE49-F238E27FC236}">
                <a16:creationId xmlns:a16="http://schemas.microsoft.com/office/drawing/2014/main" id="{3DFFB9B6-77ED-4A99-A2B6-B970733782A6}"/>
              </a:ext>
            </a:extLst>
          </p:cNvPr>
          <p:cNvSpPr>
            <a:spLocks xmlns:a="http://schemas.openxmlformats.org/drawingml/2006/main" noGrp="1"/>
          </p:cNvSpPr>
          <p:nvPr/>
        </p:nvSpPr>
        <p:spPr>
          <a:xfrm xmlns:a="http://schemas.openxmlformats.org/drawingml/2006/main">
            <a:off x="685800" y="57150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E2A26"/>
                </a:solidFill>
              </a:defRPr>
            </a:pPr>
            <a:r>
              <a:rPr sz="1650" b="1">
                <a:solidFill>
                  <a:srgbClr val="2E2A26"/>
                </a:solidFill>
              </a:rPr>
              <a:t>La seguridad del matching está en el orden: elegibilidad → ranking → consentimiento.</a:t>
            </a:r>
          </a:p>
        </p:txBody>
      </p:sp>
    </p:spTree>
    <p:extLst>
      <p:ext uri="{BB962C8B-B14F-4D97-AF65-F5344CB8AC3E}">
        <p14:creationId xmlns:p14="http://schemas.microsoft.com/office/powerpoint/2010/main" val="1048264187"/>
      </p:ext>
    </p:extLst>
  </p:cSld>
</p:sld>
</file>

<file path=ppt/slides/slide3.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BAF06897-2C8E-4192-83AE-9A340613F370}"/>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PASO 1 · MATCHING DE ASOCIACIÓN</a:t>
            </a:r>
          </a:p>
        </p:txBody>
      </p:sp>
      <p:sp>
        <p:nvSpPr>
          <p:cNvPr id="2" name="title">
            <a:extLst xmlns:a="http://schemas.openxmlformats.org/drawingml/2006/main">
              <a:ext uri="{FF2B5EF4-FFF2-40B4-BE49-F238E27FC236}">
                <a16:creationId xmlns:a16="http://schemas.microsoft.com/office/drawing/2014/main" id="{159F8410-D3BF-41FF-877A-8A713C8DFF2D}"/>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La cobertura institucional se decide por reglas obligatorias, no por puntos</a:t>
            </a:r>
          </a:p>
        </p:txBody>
      </p:sp>
      <p:sp>
        <p:nvSpPr>
          <p:cNvPr id="3" name="page">
            <a:extLst xmlns:a="http://schemas.openxmlformats.org/drawingml/2006/main">
              <a:ext uri="{FF2B5EF4-FFF2-40B4-BE49-F238E27FC236}">
                <a16:creationId xmlns:a16="http://schemas.microsoft.com/office/drawing/2014/main" id="{99BD6D58-02EE-4949-AC44-A12DC3E5DF3B}"/>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03</a:t>
            </a:r>
          </a:p>
        </p:txBody>
      </p:sp>
      <p:sp>
        <p:nvSpPr>
          <p:cNvPr id="4" name="accent">
            <a:extLst xmlns:a="http://schemas.openxmlformats.org/drawingml/2006/main">
              <a:ext uri="{FF2B5EF4-FFF2-40B4-BE49-F238E27FC236}">
                <a16:creationId xmlns:a16="http://schemas.microsoft.com/office/drawing/2014/main" id="{9A3CA2E4-0F6B-432B-B22A-06094BD570AC}"/>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left-panel">
            <a:extLst xmlns:a="http://schemas.openxmlformats.org/drawingml/2006/main">
              <a:ext uri="{FF2B5EF4-FFF2-40B4-BE49-F238E27FC236}">
                <a16:creationId xmlns:a16="http://schemas.microsoft.com/office/drawing/2014/main" id="{845642BF-43AB-4310-A6EC-7B01927E9377}"/>
              </a:ext>
            </a:extLst>
          </p:cNvPr>
          <p:cNvSpPr>
            <a:spLocks xmlns:a="http://schemas.openxmlformats.org/drawingml/2006/main" noGrp="1"/>
          </p:cNvSpPr>
          <p:nvPr/>
        </p:nvSpPr>
        <p:spPr>
          <a:xfrm xmlns:a="http://schemas.openxmlformats.org/drawingml/2006/main">
            <a:off x="685800" y="1952625"/>
            <a:ext cx="4953000" cy="3571875"/>
          </a:xfrm>
          <a:prstGeom xmlns:a="http://schemas.openxmlformats.org/drawingml/2006/main" prst="roundRect">
            <a:avLst>
              <a:gd name="adj" fmla="val 4267"/>
            </a:avLst>
          </a:prstGeom>
          <a:solidFill xmlns:a="http://schemas.openxmlformats.org/drawingml/2006/main">
            <a:srgbClr val="FFFFFF"/>
          </a:solidFill>
          <a:ln xmlns:a="http://schemas.openxmlformats.org/drawingml/2006/main" w="9525">
            <a:solidFill>
              <a:srgbClr val="E2D3C3"/>
            </a:solidFill>
            <a:prstDash val="solid"/>
          </a:ln>
        </p:spPr>
      </p:sp>
      <p:sp>
        <p:nvSpPr>
          <p:cNvPr id="6" name="left-title">
            <a:extLst xmlns:a="http://schemas.openxmlformats.org/drawingml/2006/main">
              <a:ext uri="{FF2B5EF4-FFF2-40B4-BE49-F238E27FC236}">
                <a16:creationId xmlns:a16="http://schemas.microsoft.com/office/drawing/2014/main" id="{197074E8-218C-49B2-9514-4337D3545F56}"/>
              </a:ext>
            </a:extLst>
          </p:cNvPr>
          <p:cNvSpPr>
            <a:spLocks xmlns:a="http://schemas.openxmlformats.org/drawingml/2006/main" noGrp="1"/>
          </p:cNvSpPr>
          <p:nvPr/>
        </p:nvSpPr>
        <p:spPr>
          <a:xfrm xmlns:a="http://schemas.openxmlformats.org/drawingml/2006/main">
            <a:off x="990600" y="22098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EC802B"/>
                </a:solidFill>
              </a:defRPr>
            </a:pPr>
            <a:r>
              <a:rPr sz="1950" b="1">
                <a:solidFill>
                  <a:srgbClr val="EC802B"/>
                </a:solidFill>
              </a:rPr>
              <a:t>Debe cumplir todo</a:t>
            </a:r>
          </a:p>
        </p:txBody>
      </p:sp>
      <p:sp>
        <p:nvSpPr>
          <p:cNvPr id="7" name="check-0">
            <a:extLst xmlns:a="http://schemas.openxmlformats.org/drawingml/2006/main">
              <a:ext uri="{FF2B5EF4-FFF2-40B4-BE49-F238E27FC236}">
                <a16:creationId xmlns:a16="http://schemas.microsoft.com/office/drawing/2014/main" id="{918B58CD-7185-4436-BEB1-4C0F893FA2BA}"/>
              </a:ext>
            </a:extLst>
          </p:cNvPr>
          <p:cNvSpPr>
            <a:spLocks xmlns:a="http://schemas.openxmlformats.org/drawingml/2006/main" noGrp="1"/>
          </p:cNvSpPr>
          <p:nvPr/>
        </p:nvSpPr>
        <p:spPr>
          <a:xfrm xmlns:a="http://schemas.openxmlformats.org/drawingml/2006/main">
            <a:off x="1009650" y="2857500"/>
            <a:ext cx="285750" cy="285750"/>
          </a:xfrm>
          <a:prstGeom xmlns:a="http://schemas.openxmlformats.org/drawingml/2006/main" prst="roundRect">
            <a:avLst>
              <a:gd name="adj" fmla="val 50000"/>
            </a:avLst>
          </a:prstGeom>
          <a:solidFill xmlns:a="http://schemas.openxmlformats.org/drawingml/2006/main">
            <a:srgbClr val="EC802B"/>
          </a:solidFill>
          <a:ln xmlns:a="http://schemas.openxmlformats.org/drawingml/2006/main" w="0">
            <a:noFill/>
            <a:prstDash val="solid"/>
          </a:ln>
        </p:spPr>
      </p:sp>
      <p:sp>
        <p:nvSpPr>
          <p:cNvPr id="8" name="check-text-0">
            <a:extLst xmlns:a="http://schemas.openxmlformats.org/drawingml/2006/main">
              <a:ext uri="{FF2B5EF4-FFF2-40B4-BE49-F238E27FC236}">
                <a16:creationId xmlns:a16="http://schemas.microsoft.com/office/drawing/2014/main" id="{E31F6E16-AD92-45CC-A2D8-62166CD16A2E}"/>
              </a:ext>
            </a:extLst>
          </p:cNvPr>
          <p:cNvSpPr>
            <a:spLocks xmlns:a="http://schemas.openxmlformats.org/drawingml/2006/main" noGrp="1"/>
          </p:cNvSpPr>
          <p:nvPr/>
        </p:nvSpPr>
        <p:spPr>
          <a:xfrm xmlns:a="http://schemas.openxmlformats.org/drawingml/2006/main">
            <a:off x="1009650" y="2828925"/>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9" name="rule-0">
            <a:extLst xmlns:a="http://schemas.openxmlformats.org/drawingml/2006/main">
              <a:ext uri="{FF2B5EF4-FFF2-40B4-BE49-F238E27FC236}">
                <a16:creationId xmlns:a16="http://schemas.microsoft.com/office/drawing/2014/main" id="{1A82A1D0-E83B-47AD-AF38-CAC2360D4EE1}"/>
              </a:ext>
            </a:extLst>
          </p:cNvPr>
          <p:cNvSpPr>
            <a:spLocks xmlns:a="http://schemas.openxmlformats.org/drawingml/2006/main" noGrp="1"/>
          </p:cNvSpPr>
          <p:nvPr/>
        </p:nvSpPr>
        <p:spPr>
          <a:xfrm xmlns:a="http://schemas.openxmlformats.org/drawingml/2006/main">
            <a:off x="1457325" y="2800350"/>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E2A26"/>
                </a:solidFill>
              </a:defRPr>
            </a:pPr>
            <a:r>
              <a:rPr sz="1425" b="0">
                <a:solidFill>
                  <a:srgbClr val="2E2A26"/>
                </a:solidFill>
              </a:rPr>
              <a:t>Activa y verificada</a:t>
            </a:r>
          </a:p>
        </p:txBody>
      </p:sp>
      <p:sp>
        <p:nvSpPr>
          <p:cNvPr id="10" name="check-1">
            <a:extLst xmlns:a="http://schemas.openxmlformats.org/drawingml/2006/main">
              <a:ext uri="{FF2B5EF4-FFF2-40B4-BE49-F238E27FC236}">
                <a16:creationId xmlns:a16="http://schemas.microsoft.com/office/drawing/2014/main" id="{68C230C1-C17C-4866-B4E8-EDB687721405}"/>
              </a:ext>
            </a:extLst>
          </p:cNvPr>
          <p:cNvSpPr>
            <a:spLocks xmlns:a="http://schemas.openxmlformats.org/drawingml/2006/main" noGrp="1"/>
          </p:cNvSpPr>
          <p:nvPr/>
        </p:nvSpPr>
        <p:spPr>
          <a:xfrm xmlns:a="http://schemas.openxmlformats.org/drawingml/2006/main">
            <a:off x="1009650" y="3419475"/>
            <a:ext cx="285750" cy="285750"/>
          </a:xfrm>
          <a:prstGeom xmlns:a="http://schemas.openxmlformats.org/drawingml/2006/main" prst="roundRect">
            <a:avLst>
              <a:gd name="adj" fmla="val 50000"/>
            </a:avLst>
          </a:prstGeom>
          <a:solidFill xmlns:a="http://schemas.openxmlformats.org/drawingml/2006/main">
            <a:srgbClr val="EC802B"/>
          </a:solidFill>
          <a:ln xmlns:a="http://schemas.openxmlformats.org/drawingml/2006/main" w="0">
            <a:noFill/>
            <a:prstDash val="solid"/>
          </a:ln>
        </p:spPr>
      </p:sp>
      <p:sp>
        <p:nvSpPr>
          <p:cNvPr id="11" name="check-text-1">
            <a:extLst xmlns:a="http://schemas.openxmlformats.org/drawingml/2006/main">
              <a:ext uri="{FF2B5EF4-FFF2-40B4-BE49-F238E27FC236}">
                <a16:creationId xmlns:a16="http://schemas.microsoft.com/office/drawing/2014/main" id="{4C3D3C89-7D16-422A-A513-E9E8C33D9413}"/>
              </a:ext>
            </a:extLst>
          </p:cNvPr>
          <p:cNvSpPr>
            <a:spLocks xmlns:a="http://schemas.openxmlformats.org/drawingml/2006/main" noGrp="1"/>
          </p:cNvSpPr>
          <p:nvPr/>
        </p:nvSpPr>
        <p:spPr>
          <a:xfrm xmlns:a="http://schemas.openxmlformats.org/drawingml/2006/main">
            <a:off x="1009650" y="339090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2" name="rule-1">
            <a:extLst xmlns:a="http://schemas.openxmlformats.org/drawingml/2006/main">
              <a:ext uri="{FF2B5EF4-FFF2-40B4-BE49-F238E27FC236}">
                <a16:creationId xmlns:a16="http://schemas.microsoft.com/office/drawing/2014/main" id="{E5B4E30E-787B-4417-AB2C-16CDB0552DCB}"/>
              </a:ext>
            </a:extLst>
          </p:cNvPr>
          <p:cNvSpPr>
            <a:spLocks xmlns:a="http://schemas.openxmlformats.org/drawingml/2006/main" noGrp="1"/>
          </p:cNvSpPr>
          <p:nvPr/>
        </p:nvSpPr>
        <p:spPr>
          <a:xfrm xmlns:a="http://schemas.openxmlformats.org/drawingml/2006/main">
            <a:off x="1457325" y="3362325"/>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2E2A26"/>
                </a:solidFill>
              </a:defRPr>
            </a:pPr>
            <a:r>
              <a:rPr sz="1425" b="1">
                <a:solidFill>
                  <a:srgbClr val="2E2A26"/>
                </a:solidFill>
              </a:rPr>
              <a:t>Atiende todas las especies del caso</a:t>
            </a:r>
          </a:p>
        </p:txBody>
      </p:sp>
      <p:sp>
        <p:nvSpPr>
          <p:cNvPr id="13" name="check-2">
            <a:extLst xmlns:a="http://schemas.openxmlformats.org/drawingml/2006/main">
              <a:ext uri="{FF2B5EF4-FFF2-40B4-BE49-F238E27FC236}">
                <a16:creationId xmlns:a16="http://schemas.microsoft.com/office/drawing/2014/main" id="{F4D1E18C-55BE-47A3-8057-632A14175960}"/>
              </a:ext>
            </a:extLst>
          </p:cNvPr>
          <p:cNvSpPr>
            <a:spLocks xmlns:a="http://schemas.openxmlformats.org/drawingml/2006/main" noGrp="1"/>
          </p:cNvSpPr>
          <p:nvPr/>
        </p:nvSpPr>
        <p:spPr>
          <a:xfrm xmlns:a="http://schemas.openxmlformats.org/drawingml/2006/main">
            <a:off x="1009650" y="3981450"/>
            <a:ext cx="285750" cy="285750"/>
          </a:xfrm>
          <a:prstGeom xmlns:a="http://schemas.openxmlformats.org/drawingml/2006/main" prst="roundRect">
            <a:avLst>
              <a:gd name="adj" fmla="val 50000"/>
            </a:avLst>
          </a:prstGeom>
          <a:solidFill xmlns:a="http://schemas.openxmlformats.org/drawingml/2006/main">
            <a:srgbClr val="EC802B"/>
          </a:solidFill>
          <a:ln xmlns:a="http://schemas.openxmlformats.org/drawingml/2006/main" w="0">
            <a:noFill/>
            <a:prstDash val="solid"/>
          </a:ln>
        </p:spPr>
      </p:sp>
      <p:sp>
        <p:nvSpPr>
          <p:cNvPr id="14" name="check-text-2">
            <a:extLst xmlns:a="http://schemas.openxmlformats.org/drawingml/2006/main">
              <a:ext uri="{FF2B5EF4-FFF2-40B4-BE49-F238E27FC236}">
                <a16:creationId xmlns:a16="http://schemas.microsoft.com/office/drawing/2014/main" id="{7160B5AA-F23E-42AF-B656-99470A89F48F}"/>
              </a:ext>
            </a:extLst>
          </p:cNvPr>
          <p:cNvSpPr>
            <a:spLocks xmlns:a="http://schemas.openxmlformats.org/drawingml/2006/main" noGrp="1"/>
          </p:cNvSpPr>
          <p:nvPr/>
        </p:nvSpPr>
        <p:spPr>
          <a:xfrm xmlns:a="http://schemas.openxmlformats.org/drawingml/2006/main">
            <a:off x="1009650" y="3952875"/>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5" name="rule-2">
            <a:extLst xmlns:a="http://schemas.openxmlformats.org/drawingml/2006/main">
              <a:ext uri="{FF2B5EF4-FFF2-40B4-BE49-F238E27FC236}">
                <a16:creationId xmlns:a16="http://schemas.microsoft.com/office/drawing/2014/main" id="{7F361880-A437-4C0C-8340-CDFF1CE2477A}"/>
              </a:ext>
            </a:extLst>
          </p:cNvPr>
          <p:cNvSpPr>
            <a:spLocks xmlns:a="http://schemas.openxmlformats.org/drawingml/2006/main" noGrp="1"/>
          </p:cNvSpPr>
          <p:nvPr/>
        </p:nvSpPr>
        <p:spPr>
          <a:xfrm xmlns:a="http://schemas.openxmlformats.org/drawingml/2006/main">
            <a:off x="1457325" y="3924300"/>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E2A26"/>
                </a:solidFill>
              </a:defRPr>
            </a:pPr>
            <a:r>
              <a:rPr sz="1425" b="0">
                <a:solidFill>
                  <a:srgbClr val="2E2A26"/>
                </a:solidFill>
              </a:rPr>
              <a:t>El reporte cae dentro de su radio</a:t>
            </a:r>
          </a:p>
        </p:txBody>
      </p:sp>
      <p:sp>
        <p:nvSpPr>
          <p:cNvPr id="16" name="check-3">
            <a:extLst xmlns:a="http://schemas.openxmlformats.org/drawingml/2006/main">
              <a:ext uri="{FF2B5EF4-FFF2-40B4-BE49-F238E27FC236}">
                <a16:creationId xmlns:a16="http://schemas.microsoft.com/office/drawing/2014/main" id="{7D57F611-3386-4760-BBD8-B1F35DF53EDC}"/>
              </a:ext>
            </a:extLst>
          </p:cNvPr>
          <p:cNvSpPr>
            <a:spLocks xmlns:a="http://schemas.openxmlformats.org/drawingml/2006/main" noGrp="1"/>
          </p:cNvSpPr>
          <p:nvPr/>
        </p:nvSpPr>
        <p:spPr>
          <a:xfrm xmlns:a="http://schemas.openxmlformats.org/drawingml/2006/main">
            <a:off x="1009650" y="4543425"/>
            <a:ext cx="285750" cy="285750"/>
          </a:xfrm>
          <a:prstGeom xmlns:a="http://schemas.openxmlformats.org/drawingml/2006/main" prst="roundRect">
            <a:avLst>
              <a:gd name="adj" fmla="val 50000"/>
            </a:avLst>
          </a:prstGeom>
          <a:solidFill xmlns:a="http://schemas.openxmlformats.org/drawingml/2006/main">
            <a:srgbClr val="EC802B"/>
          </a:solidFill>
          <a:ln xmlns:a="http://schemas.openxmlformats.org/drawingml/2006/main" w="0">
            <a:noFill/>
            <a:prstDash val="solid"/>
          </a:ln>
        </p:spPr>
      </p:sp>
      <p:sp>
        <p:nvSpPr>
          <p:cNvPr id="17" name="check-text-3">
            <a:extLst xmlns:a="http://schemas.openxmlformats.org/drawingml/2006/main">
              <a:ext uri="{FF2B5EF4-FFF2-40B4-BE49-F238E27FC236}">
                <a16:creationId xmlns:a16="http://schemas.microsoft.com/office/drawing/2014/main" id="{268F2200-A02E-431F-BEC3-A145479181B5}"/>
              </a:ext>
            </a:extLst>
          </p:cNvPr>
          <p:cNvSpPr>
            <a:spLocks xmlns:a="http://schemas.openxmlformats.org/drawingml/2006/main" noGrp="1"/>
          </p:cNvSpPr>
          <p:nvPr/>
        </p:nvSpPr>
        <p:spPr>
          <a:xfrm xmlns:a="http://schemas.openxmlformats.org/drawingml/2006/main">
            <a:off x="1009650" y="45148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a:t>
            </a:r>
          </a:p>
        </p:txBody>
      </p:sp>
      <p:sp>
        <p:nvSpPr>
          <p:cNvPr id="18" name="rule-3">
            <a:extLst xmlns:a="http://schemas.openxmlformats.org/drawingml/2006/main">
              <a:ext uri="{FF2B5EF4-FFF2-40B4-BE49-F238E27FC236}">
                <a16:creationId xmlns:a16="http://schemas.microsoft.com/office/drawing/2014/main" id="{2CD8ABE0-B8CE-4EF9-BDF9-C0FFFDAFAF60}"/>
              </a:ext>
            </a:extLst>
          </p:cNvPr>
          <p:cNvSpPr>
            <a:spLocks xmlns:a="http://schemas.openxmlformats.org/drawingml/2006/main" noGrp="1"/>
          </p:cNvSpPr>
          <p:nvPr/>
        </p:nvSpPr>
        <p:spPr>
          <a:xfrm xmlns:a="http://schemas.openxmlformats.org/drawingml/2006/main">
            <a:off x="1457325" y="4486275"/>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2E2A26"/>
                </a:solidFill>
              </a:defRPr>
            </a:pPr>
            <a:r>
              <a:rPr sz="1425" b="0">
                <a:solidFill>
                  <a:srgbClr val="2E2A26"/>
                </a:solidFill>
              </a:rPr>
              <a:t>No rechazó previamente el caso</a:t>
            </a:r>
          </a:p>
        </p:txBody>
      </p:sp>
      <p:sp>
        <p:nvSpPr>
          <p:cNvPr id="19" name="right-panel">
            <a:extLst xmlns:a="http://schemas.openxmlformats.org/drawingml/2006/main">
              <a:ext uri="{FF2B5EF4-FFF2-40B4-BE49-F238E27FC236}">
                <a16:creationId xmlns:a16="http://schemas.microsoft.com/office/drawing/2014/main" id="{B221C34F-8408-46E6-B19D-2E5B387FECED}"/>
              </a:ext>
            </a:extLst>
          </p:cNvPr>
          <p:cNvSpPr>
            <a:spLocks xmlns:a="http://schemas.openxmlformats.org/drawingml/2006/main" noGrp="1"/>
          </p:cNvSpPr>
          <p:nvPr/>
        </p:nvSpPr>
        <p:spPr>
          <a:xfrm xmlns:a="http://schemas.openxmlformats.org/drawingml/2006/main">
            <a:off x="6096000" y="1952625"/>
            <a:ext cx="5410200" cy="3571875"/>
          </a:xfrm>
          <a:prstGeom xmlns:a="http://schemas.openxmlformats.org/drawingml/2006/main" prst="roundRect">
            <a:avLst>
              <a:gd name="adj" fmla="val 4267"/>
            </a:avLst>
          </a:prstGeom>
          <a:solidFill xmlns:a="http://schemas.openxmlformats.org/drawingml/2006/main">
            <a:srgbClr val="FFF7EF"/>
          </a:solidFill>
          <a:ln xmlns:a="http://schemas.openxmlformats.org/drawingml/2006/main" w="9525">
            <a:solidFill>
              <a:srgbClr val="F2C49D"/>
            </a:solidFill>
            <a:prstDash val="solid"/>
          </a:ln>
        </p:spPr>
      </p:sp>
      <p:sp>
        <p:nvSpPr>
          <p:cNvPr id="20" name="chip-SIN SCORE">
            <a:extLst xmlns:a="http://schemas.openxmlformats.org/drawingml/2006/main">
              <a:ext uri="{FF2B5EF4-FFF2-40B4-BE49-F238E27FC236}">
                <a16:creationId xmlns:a16="http://schemas.microsoft.com/office/drawing/2014/main" id="{3878C42C-4960-4D1F-8659-C9D5375C09AB}"/>
              </a:ext>
            </a:extLst>
          </p:cNvPr>
          <p:cNvSpPr>
            <a:spLocks xmlns:a="http://schemas.openxmlformats.org/drawingml/2006/main" noGrp="1"/>
          </p:cNvSpPr>
          <p:nvPr/>
        </p:nvSpPr>
        <p:spPr>
          <a:xfrm xmlns:a="http://schemas.openxmlformats.org/drawingml/2006/main">
            <a:off x="6400800" y="2247900"/>
            <a:ext cx="1181100" cy="323850"/>
          </a:xfrm>
          <a:prstGeom xmlns:a="http://schemas.openxmlformats.org/drawingml/2006/main" prst="roundRect">
            <a:avLst>
              <a:gd name="adj" fmla="val 47059"/>
            </a:avLst>
          </a:prstGeom>
          <a:solidFill xmlns:a="http://schemas.openxmlformats.org/drawingml/2006/main">
            <a:srgbClr val="EC802B"/>
          </a:solidFill>
          <a:ln xmlns:a="http://schemas.openxmlformats.org/drawingml/2006/main" w="0">
            <a:noFill/>
            <a:prstDash val="solid"/>
          </a:ln>
        </p:spPr>
      </p:sp>
      <p:sp>
        <p:nvSpPr>
          <p:cNvPr id="21" name="chip-text-SIN SCORE">
            <a:extLst xmlns:a="http://schemas.openxmlformats.org/drawingml/2006/main">
              <a:ext uri="{FF2B5EF4-FFF2-40B4-BE49-F238E27FC236}">
                <a16:creationId xmlns:a16="http://schemas.microsoft.com/office/drawing/2014/main" id="{D1BF7DE0-53F6-4745-8D19-AD3B352E1139}"/>
              </a:ext>
            </a:extLst>
          </p:cNvPr>
          <p:cNvSpPr>
            <a:spLocks xmlns:a="http://schemas.openxmlformats.org/drawingml/2006/main" noGrp="1"/>
          </p:cNvSpPr>
          <p:nvPr/>
        </p:nvSpPr>
        <p:spPr>
          <a:xfrm xmlns:a="http://schemas.openxmlformats.org/drawingml/2006/main">
            <a:off x="6496050" y="2257425"/>
            <a:ext cx="990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SIN SCORE</a:t>
            </a:r>
          </a:p>
        </p:txBody>
      </p:sp>
      <p:sp>
        <p:nvSpPr>
          <p:cNvPr id="22" name="right-title">
            <a:extLst xmlns:a="http://schemas.openxmlformats.org/drawingml/2006/main">
              <a:ext uri="{FF2B5EF4-FFF2-40B4-BE49-F238E27FC236}">
                <a16:creationId xmlns:a16="http://schemas.microsoft.com/office/drawing/2014/main" id="{1DAFC5F6-CFE0-4715-99B2-C33CAEBD560B}"/>
              </a:ext>
            </a:extLst>
          </p:cNvPr>
          <p:cNvSpPr>
            <a:spLocks xmlns:a="http://schemas.openxmlformats.org/drawingml/2006/main" noGrp="1"/>
          </p:cNvSpPr>
          <p:nvPr/>
        </p:nvSpPr>
        <p:spPr>
          <a:xfrm xmlns:a="http://schemas.openxmlformats.org/drawingml/2006/main">
            <a:off x="6400800" y="2790825"/>
            <a:ext cx="45243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2E2A26"/>
                </a:solidFill>
              </a:defRPr>
            </a:pPr>
            <a:r>
              <a:rPr sz="2250" b="1">
                <a:solidFill>
                  <a:srgbClr val="2E2A26"/>
                </a:solidFill>
              </a:rPr>
              <a:t>Entre las elegibles, gana la más cercana</a:t>
            </a:r>
          </a:p>
        </p:txBody>
      </p:sp>
      <p:sp>
        <p:nvSpPr>
          <p:cNvPr id="23" name="right-body">
            <a:extLst xmlns:a="http://schemas.openxmlformats.org/drawingml/2006/main">
              <a:ext uri="{FF2B5EF4-FFF2-40B4-BE49-F238E27FC236}">
                <a16:creationId xmlns:a16="http://schemas.microsoft.com/office/drawing/2014/main" id="{6AED4803-8F2C-4589-9016-563D6679FE3A}"/>
              </a:ext>
            </a:extLst>
          </p:cNvPr>
          <p:cNvSpPr>
            <a:spLocks xmlns:a="http://schemas.openxmlformats.org/drawingml/2006/main" noGrp="1"/>
          </p:cNvSpPr>
          <p:nvPr/>
        </p:nvSpPr>
        <p:spPr>
          <a:xfrm xmlns:a="http://schemas.openxmlformats.org/drawingml/2006/main">
            <a:off x="6400800" y="3667125"/>
            <a:ext cx="4381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7A6A5E"/>
                </a:solidFill>
              </a:defRPr>
            </a:pPr>
            <a:r>
              <a:rPr sz="1500" b="0">
                <a:solidFill>
                  <a:srgbClr val="7A6A5E"/>
                </a:solidFill>
              </a:rPr>
              <a:t>Si existe una asociación, el reporte nace asignado. Si ninguna cumple, permanece pendiente.</a:t>
            </a:r>
          </a:p>
        </p:txBody>
      </p:sp>
      <p:sp>
        <p:nvSpPr>
          <p:cNvPr id="24" name="formula">
            <a:extLst xmlns:a="http://schemas.openxmlformats.org/drawingml/2006/main">
              <a:ext uri="{FF2B5EF4-FFF2-40B4-BE49-F238E27FC236}">
                <a16:creationId xmlns:a16="http://schemas.microsoft.com/office/drawing/2014/main" id="{68EC7E26-5AB6-41F2-AA0C-B9078003276E}"/>
              </a:ext>
            </a:extLst>
          </p:cNvPr>
          <p:cNvSpPr>
            <a:spLocks xmlns:a="http://schemas.openxmlformats.org/drawingml/2006/main" noGrp="1"/>
          </p:cNvSpPr>
          <p:nvPr/>
        </p:nvSpPr>
        <p:spPr>
          <a:xfrm xmlns:a="http://schemas.openxmlformats.org/drawingml/2006/main">
            <a:off x="6400800" y="4781550"/>
            <a:ext cx="4419600" cy="457200"/>
          </a:xfrm>
          <a:prstGeom xmlns:a="http://schemas.openxmlformats.org/drawingml/2006/main" prst="roundRect">
            <a:avLst>
              <a:gd name="adj" fmla="val 33333"/>
            </a:avLst>
          </a:prstGeom>
          <a:solidFill xmlns:a="http://schemas.openxmlformats.org/drawingml/2006/main">
            <a:srgbClr val="F5EAD8"/>
          </a:solidFill>
          <a:ln xmlns:a="http://schemas.openxmlformats.org/drawingml/2006/main" w="0">
            <a:noFill/>
            <a:prstDash val="solid"/>
          </a:ln>
        </p:spPr>
      </p:sp>
      <p:sp>
        <p:nvSpPr>
          <p:cNvPr id="25" name="formula-text">
            <a:extLst xmlns:a="http://schemas.openxmlformats.org/drawingml/2006/main">
              <a:ext uri="{FF2B5EF4-FFF2-40B4-BE49-F238E27FC236}">
                <a16:creationId xmlns:a16="http://schemas.microsoft.com/office/drawing/2014/main" id="{C3E23CCA-D797-40A4-8105-ED737FD49535}"/>
              </a:ext>
            </a:extLst>
          </p:cNvPr>
          <p:cNvSpPr>
            <a:spLocks xmlns:a="http://schemas.openxmlformats.org/drawingml/2006/main" noGrp="1"/>
          </p:cNvSpPr>
          <p:nvPr/>
        </p:nvSpPr>
        <p:spPr>
          <a:xfrm xmlns:a="http://schemas.openxmlformats.org/drawingml/2006/main">
            <a:off x="6553200" y="4838700"/>
            <a:ext cx="411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2A26"/>
                </a:solidFill>
              </a:defRPr>
            </a:pPr>
            <a:r>
              <a:rPr sz="1275" b="1">
                <a:solidFill>
                  <a:srgbClr val="2E2A26"/>
                </a:solidFill>
              </a:rPr>
              <a:t>todas las especies requeridas ⊆ especies atendidas</a:t>
            </a:r>
          </a:p>
        </p:txBody>
      </p:sp>
    </p:spTree>
    <p:extLst>
      <p:ext uri="{BB962C8B-B14F-4D97-AF65-F5344CB8AC3E}">
        <p14:creationId xmlns:p14="http://schemas.microsoft.com/office/powerpoint/2010/main" val="2054522037"/>
      </p:ext>
    </p:extLst>
  </p:cSld>
</p:sld>
</file>

<file path=ppt/slides/slide4.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D6E4E67F-4E0F-402E-9EE8-3D64109BB687}"/>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PASO 2 · FILTROS DUROS</a:t>
            </a:r>
          </a:p>
        </p:txBody>
      </p:sp>
      <p:sp>
        <p:nvSpPr>
          <p:cNvPr id="2" name="title">
            <a:extLst xmlns:a="http://schemas.openxmlformats.org/drawingml/2006/main">
              <a:ext uri="{FF2B5EF4-FFF2-40B4-BE49-F238E27FC236}">
                <a16:creationId xmlns:a16="http://schemas.microsoft.com/office/drawing/2014/main" id="{F34D49E6-3357-4434-A53E-54189A5315C1}"/>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Solo los voluntarios realmente viables llegan al ranking</a:t>
            </a:r>
          </a:p>
        </p:txBody>
      </p:sp>
      <p:sp>
        <p:nvSpPr>
          <p:cNvPr id="3" name="page">
            <a:extLst xmlns:a="http://schemas.openxmlformats.org/drawingml/2006/main">
              <a:ext uri="{FF2B5EF4-FFF2-40B4-BE49-F238E27FC236}">
                <a16:creationId xmlns:a16="http://schemas.microsoft.com/office/drawing/2014/main" id="{4C0668F5-E2D5-4BAB-A0E2-5F0B66F4E51B}"/>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04</a:t>
            </a:r>
          </a:p>
        </p:txBody>
      </p:sp>
      <p:sp>
        <p:nvSpPr>
          <p:cNvPr id="4" name="accent">
            <a:extLst xmlns:a="http://schemas.openxmlformats.org/drawingml/2006/main">
              <a:ext uri="{FF2B5EF4-FFF2-40B4-BE49-F238E27FC236}">
                <a16:creationId xmlns:a16="http://schemas.microsoft.com/office/drawing/2014/main" id="{0DFC8F32-88C0-4835-8FCD-AC8C5095F18D}"/>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filter-0">
            <a:extLst xmlns:a="http://schemas.openxmlformats.org/drawingml/2006/main">
              <a:ext uri="{FF2B5EF4-FFF2-40B4-BE49-F238E27FC236}">
                <a16:creationId xmlns:a16="http://schemas.microsoft.com/office/drawing/2014/main" id="{C5B24B14-BA9C-416E-8817-9FAE641D921B}"/>
              </a:ext>
            </a:extLst>
          </p:cNvPr>
          <p:cNvSpPr>
            <a:spLocks xmlns:a="http://schemas.openxmlformats.org/drawingml/2006/main" noGrp="1"/>
          </p:cNvSpPr>
          <p:nvPr/>
        </p:nvSpPr>
        <p:spPr>
          <a:xfrm xmlns:a="http://schemas.openxmlformats.org/drawingml/2006/main">
            <a:off x="685800" y="1943100"/>
            <a:ext cx="51054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CCDBF"/>
            </a:solidFill>
            <a:prstDash val="solid"/>
          </a:ln>
        </p:spPr>
      </p:sp>
      <p:sp>
        <p:nvSpPr>
          <p:cNvPr id="6" name="num-0">
            <a:extLst xmlns:a="http://schemas.openxmlformats.org/drawingml/2006/main">
              <a:ext uri="{FF2B5EF4-FFF2-40B4-BE49-F238E27FC236}">
                <a16:creationId xmlns:a16="http://schemas.microsoft.com/office/drawing/2014/main" id="{2169C1F7-9F8B-43FD-A228-45B203E33923}"/>
              </a:ext>
            </a:extLst>
          </p:cNvPr>
          <p:cNvSpPr>
            <a:spLocks xmlns:a="http://schemas.openxmlformats.org/drawingml/2006/main" noGrp="1"/>
          </p:cNvSpPr>
          <p:nvPr/>
        </p:nvSpPr>
        <p:spPr>
          <a:xfrm xmlns:a="http://schemas.openxmlformats.org/drawingml/2006/main">
            <a:off x="914400" y="21526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66BCB4"/>
                </a:solidFill>
              </a:defRPr>
            </a:pPr>
            <a:r>
              <a:rPr sz="1800" b="1">
                <a:solidFill>
                  <a:srgbClr val="66BCB4"/>
                </a:solidFill>
              </a:rPr>
              <a:t>01</a:t>
            </a:r>
          </a:p>
        </p:txBody>
      </p:sp>
      <p:sp>
        <p:nvSpPr>
          <p:cNvPr id="7" name="ft-0">
            <a:extLst xmlns:a="http://schemas.openxmlformats.org/drawingml/2006/main">
              <a:ext uri="{FF2B5EF4-FFF2-40B4-BE49-F238E27FC236}">
                <a16:creationId xmlns:a16="http://schemas.microsoft.com/office/drawing/2014/main" id="{13D5EF4E-CD65-443F-A397-58C28ADCE825}"/>
              </a:ext>
            </a:extLst>
          </p:cNvPr>
          <p:cNvSpPr>
            <a:spLocks xmlns:a="http://schemas.openxmlformats.org/drawingml/2006/main" noGrp="1"/>
          </p:cNvSpPr>
          <p:nvPr/>
        </p:nvSpPr>
        <p:spPr>
          <a:xfrm xmlns:a="http://schemas.openxmlformats.org/drawingml/2006/main">
            <a:off x="1619250" y="21145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E2A26"/>
                </a:solidFill>
              </a:defRPr>
            </a:pPr>
            <a:r>
              <a:rPr sz="1800" b="1">
                <a:solidFill>
                  <a:srgbClr val="2E2A26"/>
                </a:solidFill>
              </a:rPr>
              <a:t>Estado habilitado</a:t>
            </a:r>
          </a:p>
        </p:txBody>
      </p:sp>
      <p:sp>
        <p:nvSpPr>
          <p:cNvPr id="8" name="fb-0">
            <a:extLst xmlns:a="http://schemas.openxmlformats.org/drawingml/2006/main">
              <a:ext uri="{FF2B5EF4-FFF2-40B4-BE49-F238E27FC236}">
                <a16:creationId xmlns:a16="http://schemas.microsoft.com/office/drawing/2014/main" id="{460CDDE1-485D-47A5-ADC1-59E14B42298D}"/>
              </a:ext>
            </a:extLst>
          </p:cNvPr>
          <p:cNvSpPr>
            <a:spLocks xmlns:a="http://schemas.openxmlformats.org/drawingml/2006/main" noGrp="1"/>
          </p:cNvSpPr>
          <p:nvPr/>
        </p:nvSpPr>
        <p:spPr>
          <a:xfrm xmlns:a="http://schemas.openxmlformats.org/drawingml/2006/main">
            <a:off x="1619250" y="2590800"/>
            <a:ext cx="3667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Activo nivel 1 o 2 y términos aceptados.</a:t>
            </a:r>
          </a:p>
        </p:txBody>
      </p:sp>
      <p:sp>
        <p:nvSpPr>
          <p:cNvPr id="9" name="filter-1">
            <a:extLst xmlns:a="http://schemas.openxmlformats.org/drawingml/2006/main">
              <a:ext uri="{FF2B5EF4-FFF2-40B4-BE49-F238E27FC236}">
                <a16:creationId xmlns:a16="http://schemas.microsoft.com/office/drawing/2014/main" id="{B6F7E423-30E3-4299-B871-985C5A062E6E}"/>
              </a:ext>
            </a:extLst>
          </p:cNvPr>
          <p:cNvSpPr>
            <a:spLocks xmlns:a="http://schemas.openxmlformats.org/drawingml/2006/main" noGrp="1"/>
          </p:cNvSpPr>
          <p:nvPr/>
        </p:nvSpPr>
        <p:spPr>
          <a:xfrm xmlns:a="http://schemas.openxmlformats.org/drawingml/2006/main">
            <a:off x="6096000" y="1943100"/>
            <a:ext cx="51054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CCDBF"/>
            </a:solidFill>
            <a:prstDash val="solid"/>
          </a:ln>
        </p:spPr>
      </p:sp>
      <p:sp>
        <p:nvSpPr>
          <p:cNvPr id="10" name="num-1">
            <a:extLst xmlns:a="http://schemas.openxmlformats.org/drawingml/2006/main">
              <a:ext uri="{FF2B5EF4-FFF2-40B4-BE49-F238E27FC236}">
                <a16:creationId xmlns:a16="http://schemas.microsoft.com/office/drawing/2014/main" id="{EAA50E37-49F3-440F-AC44-379FEC34A638}"/>
              </a:ext>
            </a:extLst>
          </p:cNvPr>
          <p:cNvSpPr>
            <a:spLocks xmlns:a="http://schemas.openxmlformats.org/drawingml/2006/main" noGrp="1"/>
          </p:cNvSpPr>
          <p:nvPr/>
        </p:nvSpPr>
        <p:spPr>
          <a:xfrm xmlns:a="http://schemas.openxmlformats.org/drawingml/2006/main">
            <a:off x="6324600" y="21526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66BCB4"/>
                </a:solidFill>
              </a:defRPr>
            </a:pPr>
            <a:r>
              <a:rPr sz="1800" b="1">
                <a:solidFill>
                  <a:srgbClr val="66BCB4"/>
                </a:solidFill>
              </a:rPr>
              <a:t>02</a:t>
            </a:r>
          </a:p>
        </p:txBody>
      </p:sp>
      <p:sp>
        <p:nvSpPr>
          <p:cNvPr id="11" name="ft-1">
            <a:extLst xmlns:a="http://schemas.openxmlformats.org/drawingml/2006/main">
              <a:ext uri="{FF2B5EF4-FFF2-40B4-BE49-F238E27FC236}">
                <a16:creationId xmlns:a16="http://schemas.microsoft.com/office/drawing/2014/main" id="{B13E22D1-FB5A-4676-95D9-D4C16918E2B1}"/>
              </a:ext>
            </a:extLst>
          </p:cNvPr>
          <p:cNvSpPr>
            <a:spLocks xmlns:a="http://schemas.openxmlformats.org/drawingml/2006/main" noGrp="1"/>
          </p:cNvSpPr>
          <p:nvPr/>
        </p:nvSpPr>
        <p:spPr>
          <a:xfrm xmlns:a="http://schemas.openxmlformats.org/drawingml/2006/main">
            <a:off x="7029450" y="21145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E2A26"/>
                </a:solidFill>
              </a:defRPr>
            </a:pPr>
            <a:r>
              <a:rPr sz="1800" b="1">
                <a:solidFill>
                  <a:srgbClr val="2E2A26"/>
                </a:solidFill>
              </a:rPr>
              <a:t>Ubicación y vínculo</a:t>
            </a:r>
          </a:p>
        </p:txBody>
      </p:sp>
      <p:sp>
        <p:nvSpPr>
          <p:cNvPr id="12" name="fb-1">
            <a:extLst xmlns:a="http://schemas.openxmlformats.org/drawingml/2006/main">
              <a:ext uri="{FF2B5EF4-FFF2-40B4-BE49-F238E27FC236}">
                <a16:creationId xmlns:a16="http://schemas.microsoft.com/office/drawing/2014/main" id="{08FE60C2-560B-45E7-B25C-E46EBFDF7EAA}"/>
              </a:ext>
            </a:extLst>
          </p:cNvPr>
          <p:cNvSpPr>
            <a:spLocks xmlns:a="http://schemas.openxmlformats.org/drawingml/2006/main" noGrp="1"/>
          </p:cNvSpPr>
          <p:nvPr/>
        </p:nvSpPr>
        <p:spPr>
          <a:xfrm xmlns:a="http://schemas.openxmlformats.org/drawingml/2006/main">
            <a:off x="7029450" y="2590800"/>
            <a:ext cx="3667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A máximo 10 km; interno de la asociación o externo.</a:t>
            </a:r>
          </a:p>
        </p:txBody>
      </p:sp>
      <p:sp>
        <p:nvSpPr>
          <p:cNvPr id="13" name="filter-2">
            <a:extLst xmlns:a="http://schemas.openxmlformats.org/drawingml/2006/main">
              <a:ext uri="{FF2B5EF4-FFF2-40B4-BE49-F238E27FC236}">
                <a16:creationId xmlns:a16="http://schemas.microsoft.com/office/drawing/2014/main" id="{5E0F4C85-9E6B-4C56-93CA-05A94249D6F2}"/>
              </a:ext>
            </a:extLst>
          </p:cNvPr>
          <p:cNvSpPr>
            <a:spLocks xmlns:a="http://schemas.openxmlformats.org/drawingml/2006/main" noGrp="1"/>
          </p:cNvSpPr>
          <p:nvPr/>
        </p:nvSpPr>
        <p:spPr>
          <a:xfrm xmlns:a="http://schemas.openxmlformats.org/drawingml/2006/main">
            <a:off x="685800" y="3695700"/>
            <a:ext cx="51054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CCDBF"/>
            </a:solidFill>
            <a:prstDash val="solid"/>
          </a:ln>
        </p:spPr>
      </p:sp>
      <p:sp>
        <p:nvSpPr>
          <p:cNvPr id="14" name="num-2">
            <a:extLst xmlns:a="http://schemas.openxmlformats.org/drawingml/2006/main">
              <a:ext uri="{FF2B5EF4-FFF2-40B4-BE49-F238E27FC236}">
                <a16:creationId xmlns:a16="http://schemas.microsoft.com/office/drawing/2014/main" id="{7BB5D8EE-4EDC-4AE0-9BD5-6C58F6A5E460}"/>
              </a:ext>
            </a:extLst>
          </p:cNvPr>
          <p:cNvSpPr>
            <a:spLocks xmlns:a="http://schemas.openxmlformats.org/drawingml/2006/main" noGrp="1"/>
          </p:cNvSpPr>
          <p:nvPr/>
        </p:nvSpPr>
        <p:spPr>
          <a:xfrm xmlns:a="http://schemas.openxmlformats.org/drawingml/2006/main">
            <a:off x="914400" y="39052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66BCB4"/>
                </a:solidFill>
              </a:defRPr>
            </a:pPr>
            <a:r>
              <a:rPr sz="1800" b="1">
                <a:solidFill>
                  <a:srgbClr val="66BCB4"/>
                </a:solidFill>
              </a:rPr>
              <a:t>03</a:t>
            </a:r>
          </a:p>
        </p:txBody>
      </p:sp>
      <p:sp>
        <p:nvSpPr>
          <p:cNvPr id="15" name="ft-2">
            <a:extLst xmlns:a="http://schemas.openxmlformats.org/drawingml/2006/main">
              <a:ext uri="{FF2B5EF4-FFF2-40B4-BE49-F238E27FC236}">
                <a16:creationId xmlns:a16="http://schemas.microsoft.com/office/drawing/2014/main" id="{EEF51042-6323-4B73-89E8-8FFA1BDE99A3}"/>
              </a:ext>
            </a:extLst>
          </p:cNvPr>
          <p:cNvSpPr>
            <a:spLocks xmlns:a="http://schemas.openxmlformats.org/drawingml/2006/main" noGrp="1"/>
          </p:cNvSpPr>
          <p:nvPr/>
        </p:nvSpPr>
        <p:spPr>
          <a:xfrm xmlns:a="http://schemas.openxmlformats.org/drawingml/2006/main">
            <a:off x="1619250" y="38671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E2A26"/>
                </a:solidFill>
              </a:defRPr>
            </a:pPr>
            <a:r>
              <a:rPr sz="1800" b="1">
                <a:solidFill>
                  <a:srgbClr val="2E2A26"/>
                </a:solidFill>
              </a:rPr>
              <a:t>Compatibilidad total</a:t>
            </a:r>
          </a:p>
        </p:txBody>
      </p:sp>
      <p:sp>
        <p:nvSpPr>
          <p:cNvPr id="16" name="fb-2">
            <a:extLst xmlns:a="http://schemas.openxmlformats.org/drawingml/2006/main">
              <a:ext uri="{FF2B5EF4-FFF2-40B4-BE49-F238E27FC236}">
                <a16:creationId xmlns:a16="http://schemas.microsoft.com/office/drawing/2014/main" id="{CB292550-98B1-4DD4-ADED-FEA856E49B10}"/>
              </a:ext>
            </a:extLst>
          </p:cNvPr>
          <p:cNvSpPr>
            <a:spLocks xmlns:a="http://schemas.openxmlformats.org/drawingml/2006/main" noGrp="1"/>
          </p:cNvSpPr>
          <p:nvPr/>
        </p:nvSpPr>
        <p:spPr>
          <a:xfrm xmlns:a="http://schemas.openxmlformats.org/drawingml/2006/main">
            <a:off x="1619250" y="4343400"/>
            <a:ext cx="3667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Acepta todas las especies y no rechazó el caso.</a:t>
            </a:r>
          </a:p>
        </p:txBody>
      </p:sp>
      <p:sp>
        <p:nvSpPr>
          <p:cNvPr id="17" name="filter-3">
            <a:extLst xmlns:a="http://schemas.openxmlformats.org/drawingml/2006/main">
              <a:ext uri="{FF2B5EF4-FFF2-40B4-BE49-F238E27FC236}">
                <a16:creationId xmlns:a16="http://schemas.microsoft.com/office/drawing/2014/main" id="{334D486A-BD26-4253-AC2C-A1878058CB4B}"/>
              </a:ext>
            </a:extLst>
          </p:cNvPr>
          <p:cNvSpPr>
            <a:spLocks xmlns:a="http://schemas.openxmlformats.org/drawingml/2006/main" noGrp="1"/>
          </p:cNvSpPr>
          <p:nvPr/>
        </p:nvSpPr>
        <p:spPr>
          <a:xfrm xmlns:a="http://schemas.openxmlformats.org/drawingml/2006/main">
            <a:off x="6096000" y="3695700"/>
            <a:ext cx="5105400" cy="140970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DCCDBF"/>
            </a:solidFill>
            <a:prstDash val="solid"/>
          </a:ln>
        </p:spPr>
      </p:sp>
      <p:sp>
        <p:nvSpPr>
          <p:cNvPr id="18" name="num-3">
            <a:extLst xmlns:a="http://schemas.openxmlformats.org/drawingml/2006/main">
              <a:ext uri="{FF2B5EF4-FFF2-40B4-BE49-F238E27FC236}">
                <a16:creationId xmlns:a16="http://schemas.microsoft.com/office/drawing/2014/main" id="{687512C6-2F48-4883-AA97-414823F09860}"/>
              </a:ext>
            </a:extLst>
          </p:cNvPr>
          <p:cNvSpPr>
            <a:spLocks xmlns:a="http://schemas.openxmlformats.org/drawingml/2006/main" noGrp="1"/>
          </p:cNvSpPr>
          <p:nvPr/>
        </p:nvSpPr>
        <p:spPr>
          <a:xfrm xmlns:a="http://schemas.openxmlformats.org/drawingml/2006/main">
            <a:off x="6324600" y="39052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66BCB4"/>
                </a:solidFill>
              </a:defRPr>
            </a:pPr>
            <a:r>
              <a:rPr sz="1800" b="1">
                <a:solidFill>
                  <a:srgbClr val="66BCB4"/>
                </a:solidFill>
              </a:rPr>
              <a:t>04</a:t>
            </a:r>
          </a:p>
        </p:txBody>
      </p:sp>
      <p:sp>
        <p:nvSpPr>
          <p:cNvPr id="19" name="ft-3">
            <a:extLst xmlns:a="http://schemas.openxmlformats.org/drawingml/2006/main">
              <a:ext uri="{FF2B5EF4-FFF2-40B4-BE49-F238E27FC236}">
                <a16:creationId xmlns:a16="http://schemas.microsoft.com/office/drawing/2014/main" id="{0F9FA547-8CCD-42F2-B853-92799AEDE42C}"/>
              </a:ext>
            </a:extLst>
          </p:cNvPr>
          <p:cNvSpPr>
            <a:spLocks xmlns:a="http://schemas.openxmlformats.org/drawingml/2006/main" noGrp="1"/>
          </p:cNvSpPr>
          <p:nvPr/>
        </p:nvSpPr>
        <p:spPr>
          <a:xfrm xmlns:a="http://schemas.openxmlformats.org/drawingml/2006/main">
            <a:off x="7029450" y="38671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2E2A26"/>
                </a:solidFill>
              </a:defRPr>
            </a:pPr>
            <a:r>
              <a:rPr sz="1800" b="1">
                <a:solidFill>
                  <a:srgbClr val="2E2A26"/>
                </a:solidFill>
              </a:rPr>
              <a:t>Capacidad suficiente</a:t>
            </a:r>
          </a:p>
        </p:txBody>
      </p:sp>
      <p:sp>
        <p:nvSpPr>
          <p:cNvPr id="20" name="fb-3">
            <a:extLst xmlns:a="http://schemas.openxmlformats.org/drawingml/2006/main">
              <a:ext uri="{FF2B5EF4-FFF2-40B4-BE49-F238E27FC236}">
                <a16:creationId xmlns:a16="http://schemas.microsoft.com/office/drawing/2014/main" id="{FBF8EA85-1673-450D-BEDB-EFF5AB098463}"/>
              </a:ext>
            </a:extLst>
          </p:cNvPr>
          <p:cNvSpPr>
            <a:spLocks xmlns:a="http://schemas.openxmlformats.org/drawingml/2006/main" noGrp="1"/>
          </p:cNvSpPr>
          <p:nvPr/>
        </p:nvSpPr>
        <p:spPr>
          <a:xfrm xmlns:a="http://schemas.openxmlformats.org/drawingml/2006/main">
            <a:off x="7029450" y="4343400"/>
            <a:ext cx="36671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Espacio libre para la cantidad real de animales.</a:t>
            </a:r>
          </a:p>
        </p:txBody>
      </p:sp>
      <p:sp>
        <p:nvSpPr>
          <p:cNvPr id="21" name="chip-REGLA ESPECIAL">
            <a:extLst xmlns:a="http://schemas.openxmlformats.org/drawingml/2006/main">
              <a:ext uri="{FF2B5EF4-FFF2-40B4-BE49-F238E27FC236}">
                <a16:creationId xmlns:a16="http://schemas.microsoft.com/office/drawing/2014/main" id="{97B222E8-7E00-4F0A-BC95-6315FFEFB0C1}"/>
              </a:ext>
            </a:extLst>
          </p:cNvPr>
          <p:cNvSpPr>
            <a:spLocks xmlns:a="http://schemas.openxmlformats.org/drawingml/2006/main" noGrp="1"/>
          </p:cNvSpPr>
          <p:nvPr/>
        </p:nvSpPr>
        <p:spPr>
          <a:xfrm xmlns:a="http://schemas.openxmlformats.org/drawingml/2006/main">
            <a:off x="685800" y="5638800"/>
            <a:ext cx="1619250" cy="323850"/>
          </a:xfrm>
          <a:prstGeom xmlns:a="http://schemas.openxmlformats.org/drawingml/2006/main" prst="roundRect">
            <a:avLst>
              <a:gd name="adj" fmla="val 47059"/>
            </a:avLst>
          </a:prstGeom>
          <a:solidFill xmlns:a="http://schemas.openxmlformats.org/drawingml/2006/main">
            <a:srgbClr val="EDC55B"/>
          </a:solidFill>
          <a:ln xmlns:a="http://schemas.openxmlformats.org/drawingml/2006/main" w="0">
            <a:noFill/>
            <a:prstDash val="solid"/>
          </a:ln>
        </p:spPr>
      </p:sp>
      <p:sp>
        <p:nvSpPr>
          <p:cNvPr id="22" name="chip-text-REGLA ESPECIAL">
            <a:extLst xmlns:a="http://schemas.openxmlformats.org/drawingml/2006/main">
              <a:ext uri="{FF2B5EF4-FFF2-40B4-BE49-F238E27FC236}">
                <a16:creationId xmlns:a16="http://schemas.microsoft.com/office/drawing/2014/main" id="{02019512-B9DF-4D72-B5D8-FA3ED4EC499E}"/>
              </a:ext>
            </a:extLst>
          </p:cNvPr>
          <p:cNvSpPr>
            <a:spLocks xmlns:a="http://schemas.openxmlformats.org/drawingml/2006/main" noGrp="1"/>
          </p:cNvSpPr>
          <p:nvPr/>
        </p:nvSpPr>
        <p:spPr>
          <a:xfrm xmlns:a="http://schemas.openxmlformats.org/drawingml/2006/main">
            <a:off x="781050" y="5648325"/>
            <a:ext cx="142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REGLA ESPECIAL</a:t>
            </a:r>
          </a:p>
        </p:txBody>
      </p:sp>
      <p:sp>
        <p:nvSpPr>
          <p:cNvPr id="23" name="special">
            <a:extLst xmlns:a="http://schemas.openxmlformats.org/drawingml/2006/main">
              <a:ext uri="{FF2B5EF4-FFF2-40B4-BE49-F238E27FC236}">
                <a16:creationId xmlns:a16="http://schemas.microsoft.com/office/drawing/2014/main" id="{B7F8B221-7C36-45A7-B306-0DCA6936DEB6}"/>
              </a:ext>
            </a:extLst>
          </p:cNvPr>
          <p:cNvSpPr>
            <a:spLocks xmlns:a="http://schemas.openxmlformats.org/drawingml/2006/main" noGrp="1"/>
          </p:cNvSpPr>
          <p:nvPr/>
        </p:nvSpPr>
        <p:spPr>
          <a:xfrm xmlns:a="http://schemas.openxmlformats.org/drawingml/2006/main">
            <a:off x="2457450" y="5629275"/>
            <a:ext cx="714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E2A26"/>
                </a:solidFill>
              </a:defRPr>
            </a:pPr>
            <a:r>
              <a:rPr sz="1350" b="1">
                <a:solidFill>
                  <a:srgbClr val="2E2A26"/>
                </a:solidFill>
              </a:rPr>
              <a:t>Si ofrece casa-hogar, el caso no puede superar dos animales.</a:t>
            </a:r>
          </a:p>
        </p:txBody>
      </p:sp>
    </p:spTree>
    <p:extLst>
      <p:ext uri="{BB962C8B-B14F-4D97-AF65-F5344CB8AC3E}">
        <p14:creationId xmlns:p14="http://schemas.microsoft.com/office/powerpoint/2010/main" val="390338982"/>
      </p:ext>
    </p:extLst>
  </p:cSld>
</p:sld>
</file>

<file path=ppt/slides/slide5.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6B3CB13F-5079-4485-8640-C82DF2A69E11}"/>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PASO 2 · PUNTUACIÓN</a:t>
            </a:r>
          </a:p>
        </p:txBody>
      </p:sp>
      <p:sp>
        <p:nvSpPr>
          <p:cNvPr id="2" name="title">
            <a:extLst xmlns:a="http://schemas.openxmlformats.org/drawingml/2006/main">
              <a:ext uri="{FF2B5EF4-FFF2-40B4-BE49-F238E27FC236}">
                <a16:creationId xmlns:a16="http://schemas.microsoft.com/office/drawing/2014/main" id="{E687EAE7-5C12-4A87-A516-F7334F36EFDD}"/>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El top 3 combina cercanía, tamaño, disponibilidad y capacidad</a:t>
            </a:r>
          </a:p>
        </p:txBody>
      </p:sp>
      <p:sp>
        <p:nvSpPr>
          <p:cNvPr id="3" name="page">
            <a:extLst xmlns:a="http://schemas.openxmlformats.org/drawingml/2006/main">
              <a:ext uri="{FF2B5EF4-FFF2-40B4-BE49-F238E27FC236}">
                <a16:creationId xmlns:a16="http://schemas.microsoft.com/office/drawing/2014/main" id="{5ED7D2F6-77EC-490F-B052-032F265F4C97}"/>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05</a:t>
            </a:r>
          </a:p>
        </p:txBody>
      </p:sp>
      <p:sp>
        <p:nvSpPr>
          <p:cNvPr id="4" name="accent">
            <a:extLst xmlns:a="http://schemas.openxmlformats.org/drawingml/2006/main">
              <a:ext uri="{FF2B5EF4-FFF2-40B4-BE49-F238E27FC236}">
                <a16:creationId xmlns:a16="http://schemas.microsoft.com/office/drawing/2014/main" id="{81E8D6BD-049F-4E22-9192-25F4EEA340F7}"/>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score-row-0">
            <a:extLst xmlns:a="http://schemas.openxmlformats.org/drawingml/2006/main">
              <a:ext uri="{FF2B5EF4-FFF2-40B4-BE49-F238E27FC236}">
                <a16:creationId xmlns:a16="http://schemas.microsoft.com/office/drawing/2014/main" id="{AFD0726F-0B1D-44C9-A73C-492EA4D701BA}"/>
              </a:ext>
            </a:extLst>
          </p:cNvPr>
          <p:cNvSpPr>
            <a:spLocks xmlns:a="http://schemas.openxmlformats.org/drawingml/2006/main" noGrp="1"/>
          </p:cNvSpPr>
          <p:nvPr/>
        </p:nvSpPr>
        <p:spPr>
          <a:xfrm xmlns:a="http://schemas.openxmlformats.org/drawingml/2006/main">
            <a:off x="685800" y="1924050"/>
            <a:ext cx="108204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ED0C2"/>
            </a:solidFill>
            <a:prstDash val="solid"/>
          </a:ln>
        </p:spPr>
      </p:sp>
      <p:sp>
        <p:nvSpPr>
          <p:cNvPr id="6" name="score-badge-0">
            <a:extLst xmlns:a="http://schemas.openxmlformats.org/drawingml/2006/main">
              <a:ext uri="{FF2B5EF4-FFF2-40B4-BE49-F238E27FC236}">
                <a16:creationId xmlns:a16="http://schemas.microsoft.com/office/drawing/2014/main" id="{2A83F35B-46FD-4CAA-88A6-196F4CDEC7F7}"/>
              </a:ext>
            </a:extLst>
          </p:cNvPr>
          <p:cNvSpPr>
            <a:spLocks xmlns:a="http://schemas.openxmlformats.org/drawingml/2006/main" noGrp="1"/>
          </p:cNvSpPr>
          <p:nvPr/>
        </p:nvSpPr>
        <p:spPr>
          <a:xfrm xmlns:a="http://schemas.openxmlformats.org/drawingml/2006/main">
            <a:off x="838200" y="2019300"/>
            <a:ext cx="666750" cy="495300"/>
          </a:xfrm>
          <a:prstGeom xmlns:a="http://schemas.openxmlformats.org/drawingml/2006/main" prst="roundRect">
            <a:avLst>
              <a:gd name="adj" fmla="val 30769"/>
            </a:avLst>
          </a:prstGeom>
          <a:solidFill xmlns:a="http://schemas.openxmlformats.org/drawingml/2006/main">
            <a:srgbClr val="EC802B"/>
          </a:solidFill>
          <a:ln xmlns:a="http://schemas.openxmlformats.org/drawingml/2006/main" w="0">
            <a:noFill/>
            <a:prstDash val="solid"/>
          </a:ln>
        </p:spPr>
      </p:sp>
      <p:sp>
        <p:nvSpPr>
          <p:cNvPr id="7" name="score-val-0">
            <a:extLst xmlns:a="http://schemas.openxmlformats.org/drawingml/2006/main">
              <a:ext uri="{FF2B5EF4-FFF2-40B4-BE49-F238E27FC236}">
                <a16:creationId xmlns:a16="http://schemas.microsoft.com/office/drawing/2014/main" id="{109BE793-A79F-4F7F-AA7A-16356AA84513}"/>
              </a:ext>
            </a:extLst>
          </p:cNvPr>
          <p:cNvSpPr>
            <a:spLocks xmlns:a="http://schemas.openxmlformats.org/drawingml/2006/main" noGrp="1"/>
          </p:cNvSpPr>
          <p:nvPr/>
        </p:nvSpPr>
        <p:spPr>
          <a:xfrm xmlns:a="http://schemas.openxmlformats.org/drawingml/2006/main">
            <a:off x="838200" y="201930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40</a:t>
            </a:r>
          </a:p>
        </p:txBody>
      </p:sp>
      <p:sp>
        <p:nvSpPr>
          <p:cNvPr id="8" name="score-name-0">
            <a:extLst xmlns:a="http://schemas.openxmlformats.org/drawingml/2006/main">
              <a:ext uri="{FF2B5EF4-FFF2-40B4-BE49-F238E27FC236}">
                <a16:creationId xmlns:a16="http://schemas.microsoft.com/office/drawing/2014/main" id="{5883FFA3-5197-4276-BB92-5A7472040164}"/>
              </a:ext>
            </a:extLst>
          </p:cNvPr>
          <p:cNvSpPr>
            <a:spLocks xmlns:a="http://schemas.openxmlformats.org/drawingml/2006/main" noGrp="1"/>
          </p:cNvSpPr>
          <p:nvPr/>
        </p:nvSpPr>
        <p:spPr>
          <a:xfrm xmlns:a="http://schemas.openxmlformats.org/drawingml/2006/main">
            <a:off x="1733550" y="2019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E2A26"/>
                </a:solidFill>
              </a:defRPr>
            </a:pPr>
            <a:r>
              <a:rPr sz="1650" b="1">
                <a:solidFill>
                  <a:srgbClr val="2E2A26"/>
                </a:solidFill>
              </a:rPr>
              <a:t>Proximidad</a:t>
            </a:r>
          </a:p>
        </p:txBody>
      </p:sp>
      <p:sp>
        <p:nvSpPr>
          <p:cNvPr id="9" name="score-desc-0">
            <a:extLst xmlns:a="http://schemas.openxmlformats.org/drawingml/2006/main">
              <a:ext uri="{FF2B5EF4-FFF2-40B4-BE49-F238E27FC236}">
                <a16:creationId xmlns:a16="http://schemas.microsoft.com/office/drawing/2014/main" id="{6CCFE509-FAD0-4302-80C0-38EB7B03BEE2}"/>
              </a:ext>
            </a:extLst>
          </p:cNvPr>
          <p:cNvSpPr>
            <a:spLocks xmlns:a="http://schemas.openxmlformats.org/drawingml/2006/main" noGrp="1"/>
          </p:cNvSpPr>
          <p:nvPr/>
        </p:nvSpPr>
        <p:spPr>
          <a:xfrm xmlns:a="http://schemas.openxmlformats.org/drawingml/2006/main">
            <a:off x="4095750" y="202882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De 40 puntos a 0 km hasta 0 a 10 km</a:t>
            </a:r>
          </a:p>
        </p:txBody>
      </p:sp>
      <p:sp>
        <p:nvSpPr>
          <p:cNvPr id="10" name="score-pct-0">
            <a:extLst xmlns:a="http://schemas.openxmlformats.org/drawingml/2006/main">
              <a:ext uri="{FF2B5EF4-FFF2-40B4-BE49-F238E27FC236}">
                <a16:creationId xmlns:a16="http://schemas.microsoft.com/office/drawing/2014/main" id="{1EDA3091-36DF-4A0B-B19F-92851BE81064}"/>
              </a:ext>
            </a:extLst>
          </p:cNvPr>
          <p:cNvSpPr>
            <a:spLocks xmlns:a="http://schemas.openxmlformats.org/drawingml/2006/main" noGrp="1"/>
          </p:cNvSpPr>
          <p:nvPr/>
        </p:nvSpPr>
        <p:spPr>
          <a:xfrm xmlns:a="http://schemas.openxmlformats.org/drawingml/2006/main">
            <a:off x="10144125" y="201930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a:solidFill>
                  <a:srgbClr val="2E2A26"/>
                </a:solidFill>
              </a:defRPr>
            </a:pPr>
            <a:r>
              <a:rPr sz="1500" b="1">
                <a:solidFill>
                  <a:srgbClr val="2E2A26"/>
                </a:solidFill>
              </a:rPr>
              <a:t>40%</a:t>
            </a:r>
          </a:p>
        </p:txBody>
      </p:sp>
      <p:sp>
        <p:nvSpPr>
          <p:cNvPr id="11" name="score-row-1">
            <a:extLst xmlns:a="http://schemas.openxmlformats.org/drawingml/2006/main">
              <a:ext uri="{FF2B5EF4-FFF2-40B4-BE49-F238E27FC236}">
                <a16:creationId xmlns:a16="http://schemas.microsoft.com/office/drawing/2014/main" id="{867DEBB6-43F9-4D92-9250-799E56ED9E3D}"/>
              </a:ext>
            </a:extLst>
          </p:cNvPr>
          <p:cNvSpPr>
            <a:spLocks xmlns:a="http://schemas.openxmlformats.org/drawingml/2006/main" noGrp="1"/>
          </p:cNvSpPr>
          <p:nvPr/>
        </p:nvSpPr>
        <p:spPr>
          <a:xfrm xmlns:a="http://schemas.openxmlformats.org/drawingml/2006/main">
            <a:off x="685800" y="2790825"/>
            <a:ext cx="108204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ED0C2"/>
            </a:solidFill>
            <a:prstDash val="solid"/>
          </a:ln>
        </p:spPr>
      </p:sp>
      <p:sp>
        <p:nvSpPr>
          <p:cNvPr id="12" name="score-badge-1">
            <a:extLst xmlns:a="http://schemas.openxmlformats.org/drawingml/2006/main">
              <a:ext uri="{FF2B5EF4-FFF2-40B4-BE49-F238E27FC236}">
                <a16:creationId xmlns:a16="http://schemas.microsoft.com/office/drawing/2014/main" id="{CEA10523-7915-40C8-ADDC-40C80544584A}"/>
              </a:ext>
            </a:extLst>
          </p:cNvPr>
          <p:cNvSpPr>
            <a:spLocks xmlns:a="http://schemas.openxmlformats.org/drawingml/2006/main" noGrp="1"/>
          </p:cNvSpPr>
          <p:nvPr/>
        </p:nvSpPr>
        <p:spPr>
          <a:xfrm xmlns:a="http://schemas.openxmlformats.org/drawingml/2006/main">
            <a:off x="838200" y="2886075"/>
            <a:ext cx="666750" cy="495300"/>
          </a:xfrm>
          <a:prstGeom xmlns:a="http://schemas.openxmlformats.org/drawingml/2006/main" prst="roundRect">
            <a:avLst>
              <a:gd name="adj" fmla="val 30769"/>
            </a:avLst>
          </a:prstGeom>
          <a:solidFill xmlns:a="http://schemas.openxmlformats.org/drawingml/2006/main">
            <a:srgbClr val="66BCB4"/>
          </a:solidFill>
          <a:ln xmlns:a="http://schemas.openxmlformats.org/drawingml/2006/main" w="0">
            <a:noFill/>
            <a:prstDash val="solid"/>
          </a:ln>
        </p:spPr>
      </p:sp>
      <p:sp>
        <p:nvSpPr>
          <p:cNvPr id="13" name="score-val-1">
            <a:extLst xmlns:a="http://schemas.openxmlformats.org/drawingml/2006/main">
              <a:ext uri="{FF2B5EF4-FFF2-40B4-BE49-F238E27FC236}">
                <a16:creationId xmlns:a16="http://schemas.microsoft.com/office/drawing/2014/main" id="{FD7F7E98-A4AF-4CA1-883F-FC4657FBFD29}"/>
              </a:ext>
            </a:extLst>
          </p:cNvPr>
          <p:cNvSpPr>
            <a:spLocks xmlns:a="http://schemas.openxmlformats.org/drawingml/2006/main" noGrp="1"/>
          </p:cNvSpPr>
          <p:nvPr/>
        </p:nvSpPr>
        <p:spPr>
          <a:xfrm xmlns:a="http://schemas.openxmlformats.org/drawingml/2006/main">
            <a:off x="838200" y="288607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E2A26"/>
                </a:solidFill>
              </a:defRPr>
            </a:pPr>
            <a:r>
              <a:rPr sz="1875" b="1">
                <a:solidFill>
                  <a:srgbClr val="2E2A26"/>
                </a:solidFill>
              </a:rPr>
              <a:t>25</a:t>
            </a:r>
          </a:p>
        </p:txBody>
      </p:sp>
      <p:sp>
        <p:nvSpPr>
          <p:cNvPr id="14" name="score-name-1">
            <a:extLst xmlns:a="http://schemas.openxmlformats.org/drawingml/2006/main">
              <a:ext uri="{FF2B5EF4-FFF2-40B4-BE49-F238E27FC236}">
                <a16:creationId xmlns:a16="http://schemas.microsoft.com/office/drawing/2014/main" id="{9FD21F54-CE6F-478F-8BCA-019FFD688ED6}"/>
              </a:ext>
            </a:extLst>
          </p:cNvPr>
          <p:cNvSpPr>
            <a:spLocks xmlns:a="http://schemas.openxmlformats.org/drawingml/2006/main" noGrp="1"/>
          </p:cNvSpPr>
          <p:nvPr/>
        </p:nvSpPr>
        <p:spPr>
          <a:xfrm xmlns:a="http://schemas.openxmlformats.org/drawingml/2006/main">
            <a:off x="1733550" y="2886075"/>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E2A26"/>
                </a:solidFill>
              </a:defRPr>
            </a:pPr>
            <a:r>
              <a:rPr sz="1650" b="1">
                <a:solidFill>
                  <a:srgbClr val="2E2A26"/>
                </a:solidFill>
              </a:rPr>
              <a:t>Tamaño</a:t>
            </a:r>
          </a:p>
        </p:txBody>
      </p:sp>
      <p:sp>
        <p:nvSpPr>
          <p:cNvPr id="15" name="score-desc-1">
            <a:extLst xmlns:a="http://schemas.openxmlformats.org/drawingml/2006/main">
              <a:ext uri="{FF2B5EF4-FFF2-40B4-BE49-F238E27FC236}">
                <a16:creationId xmlns:a16="http://schemas.microsoft.com/office/drawing/2014/main" id="{EC6B9A24-783A-4643-AA06-C73C6B5767C1}"/>
              </a:ext>
            </a:extLst>
          </p:cNvPr>
          <p:cNvSpPr>
            <a:spLocks xmlns:a="http://schemas.openxmlformats.org/drawingml/2006/main" noGrp="1"/>
          </p:cNvSpPr>
          <p:nvPr/>
        </p:nvSpPr>
        <p:spPr>
          <a:xfrm xmlns:a="http://schemas.openxmlformats.org/drawingml/2006/main">
            <a:off x="4095750" y="289560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Compatible con al menos un tamaño —o sin dato—</a:t>
            </a:r>
          </a:p>
        </p:txBody>
      </p:sp>
      <p:sp>
        <p:nvSpPr>
          <p:cNvPr id="16" name="score-pct-1">
            <a:extLst xmlns:a="http://schemas.openxmlformats.org/drawingml/2006/main">
              <a:ext uri="{FF2B5EF4-FFF2-40B4-BE49-F238E27FC236}">
                <a16:creationId xmlns:a16="http://schemas.microsoft.com/office/drawing/2014/main" id="{79CFF630-2ACD-4F23-B3B9-57B28DC45A25}"/>
              </a:ext>
            </a:extLst>
          </p:cNvPr>
          <p:cNvSpPr>
            <a:spLocks xmlns:a="http://schemas.openxmlformats.org/drawingml/2006/main" noGrp="1"/>
          </p:cNvSpPr>
          <p:nvPr/>
        </p:nvSpPr>
        <p:spPr>
          <a:xfrm xmlns:a="http://schemas.openxmlformats.org/drawingml/2006/main">
            <a:off x="10144125" y="2886075"/>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a:solidFill>
                  <a:srgbClr val="2E2A26"/>
                </a:solidFill>
              </a:defRPr>
            </a:pPr>
            <a:r>
              <a:rPr sz="1500" b="1">
                <a:solidFill>
                  <a:srgbClr val="2E2A26"/>
                </a:solidFill>
              </a:rPr>
              <a:t>25%</a:t>
            </a:r>
          </a:p>
        </p:txBody>
      </p:sp>
      <p:sp>
        <p:nvSpPr>
          <p:cNvPr id="17" name="score-row-2">
            <a:extLst xmlns:a="http://schemas.openxmlformats.org/drawingml/2006/main">
              <a:ext uri="{FF2B5EF4-FFF2-40B4-BE49-F238E27FC236}">
                <a16:creationId xmlns:a16="http://schemas.microsoft.com/office/drawing/2014/main" id="{4905F2B0-A42F-4BD5-B3CE-BE397B7D718B}"/>
              </a:ext>
            </a:extLst>
          </p:cNvPr>
          <p:cNvSpPr>
            <a:spLocks xmlns:a="http://schemas.openxmlformats.org/drawingml/2006/main" noGrp="1"/>
          </p:cNvSpPr>
          <p:nvPr/>
        </p:nvSpPr>
        <p:spPr>
          <a:xfrm xmlns:a="http://schemas.openxmlformats.org/drawingml/2006/main">
            <a:off x="685800" y="3657600"/>
            <a:ext cx="108204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ED0C2"/>
            </a:solidFill>
            <a:prstDash val="solid"/>
          </a:ln>
        </p:spPr>
      </p:sp>
      <p:sp>
        <p:nvSpPr>
          <p:cNvPr id="18" name="score-badge-2">
            <a:extLst xmlns:a="http://schemas.openxmlformats.org/drawingml/2006/main">
              <a:ext uri="{FF2B5EF4-FFF2-40B4-BE49-F238E27FC236}">
                <a16:creationId xmlns:a16="http://schemas.microsoft.com/office/drawing/2014/main" id="{ACE3EFEF-8999-40C1-B49D-A2BCA3B6C7DD}"/>
              </a:ext>
            </a:extLst>
          </p:cNvPr>
          <p:cNvSpPr>
            <a:spLocks xmlns:a="http://schemas.openxmlformats.org/drawingml/2006/main" noGrp="1"/>
          </p:cNvSpPr>
          <p:nvPr/>
        </p:nvSpPr>
        <p:spPr>
          <a:xfrm xmlns:a="http://schemas.openxmlformats.org/drawingml/2006/main">
            <a:off x="838200" y="3752850"/>
            <a:ext cx="666750" cy="495300"/>
          </a:xfrm>
          <a:prstGeom xmlns:a="http://schemas.openxmlformats.org/drawingml/2006/main" prst="roundRect">
            <a:avLst>
              <a:gd name="adj" fmla="val 30769"/>
            </a:avLst>
          </a:prstGeom>
          <a:solidFill xmlns:a="http://schemas.openxmlformats.org/drawingml/2006/main">
            <a:srgbClr val="EDC55B"/>
          </a:solidFill>
          <a:ln xmlns:a="http://schemas.openxmlformats.org/drawingml/2006/main" w="0">
            <a:noFill/>
            <a:prstDash val="solid"/>
          </a:ln>
        </p:spPr>
      </p:sp>
      <p:sp>
        <p:nvSpPr>
          <p:cNvPr id="19" name="score-val-2">
            <a:extLst xmlns:a="http://schemas.openxmlformats.org/drawingml/2006/main">
              <a:ext uri="{FF2B5EF4-FFF2-40B4-BE49-F238E27FC236}">
                <a16:creationId xmlns:a16="http://schemas.microsoft.com/office/drawing/2014/main" id="{27B9AE1A-BA6B-4BB5-9A2E-F19CFF8024FF}"/>
              </a:ext>
            </a:extLst>
          </p:cNvPr>
          <p:cNvSpPr>
            <a:spLocks xmlns:a="http://schemas.openxmlformats.org/drawingml/2006/main" noGrp="1"/>
          </p:cNvSpPr>
          <p:nvPr/>
        </p:nvSpPr>
        <p:spPr>
          <a:xfrm xmlns:a="http://schemas.openxmlformats.org/drawingml/2006/main">
            <a:off x="838200" y="3752850"/>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E2A26"/>
                </a:solidFill>
              </a:defRPr>
            </a:pPr>
            <a:r>
              <a:rPr sz="1875" b="1">
                <a:solidFill>
                  <a:srgbClr val="2E2A26"/>
                </a:solidFill>
              </a:rPr>
              <a:t>20</a:t>
            </a:r>
          </a:p>
        </p:txBody>
      </p:sp>
      <p:sp>
        <p:nvSpPr>
          <p:cNvPr id="20" name="score-name-2">
            <a:extLst xmlns:a="http://schemas.openxmlformats.org/drawingml/2006/main">
              <a:ext uri="{FF2B5EF4-FFF2-40B4-BE49-F238E27FC236}">
                <a16:creationId xmlns:a16="http://schemas.microsoft.com/office/drawing/2014/main" id="{CF98D76F-82B4-4933-9524-7E814089E9DA}"/>
              </a:ext>
            </a:extLst>
          </p:cNvPr>
          <p:cNvSpPr>
            <a:spLocks xmlns:a="http://schemas.openxmlformats.org/drawingml/2006/main" noGrp="1"/>
          </p:cNvSpPr>
          <p:nvPr/>
        </p:nvSpPr>
        <p:spPr>
          <a:xfrm xmlns:a="http://schemas.openxmlformats.org/drawingml/2006/main">
            <a:off x="1733550" y="37528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E2A26"/>
                </a:solidFill>
              </a:defRPr>
            </a:pPr>
            <a:r>
              <a:rPr sz="1650" b="1">
                <a:solidFill>
                  <a:srgbClr val="2E2A26"/>
                </a:solidFill>
              </a:rPr>
              <a:t>Disponibilidad</a:t>
            </a:r>
          </a:p>
        </p:txBody>
      </p:sp>
      <p:sp>
        <p:nvSpPr>
          <p:cNvPr id="21" name="score-desc-2">
            <a:extLst xmlns:a="http://schemas.openxmlformats.org/drawingml/2006/main">
              <a:ext uri="{FF2B5EF4-FFF2-40B4-BE49-F238E27FC236}">
                <a16:creationId xmlns:a16="http://schemas.microsoft.com/office/drawing/2014/main" id="{671AAEBF-8D28-4C3F-9E6C-14C76B5D57B3}"/>
              </a:ext>
            </a:extLst>
          </p:cNvPr>
          <p:cNvSpPr>
            <a:spLocks xmlns:a="http://schemas.openxmlformats.org/drawingml/2006/main" noGrp="1"/>
          </p:cNvSpPr>
          <p:nvPr/>
        </p:nvSpPr>
        <p:spPr>
          <a:xfrm xmlns:a="http://schemas.openxmlformats.org/drawingml/2006/main">
            <a:off x="4095750" y="376237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Coincide con el día y horario actuales</a:t>
            </a:r>
          </a:p>
        </p:txBody>
      </p:sp>
      <p:sp>
        <p:nvSpPr>
          <p:cNvPr id="22" name="score-pct-2">
            <a:extLst xmlns:a="http://schemas.openxmlformats.org/drawingml/2006/main">
              <a:ext uri="{FF2B5EF4-FFF2-40B4-BE49-F238E27FC236}">
                <a16:creationId xmlns:a16="http://schemas.microsoft.com/office/drawing/2014/main" id="{57B1228A-CDD7-405B-B53F-041A22DC0ED9}"/>
              </a:ext>
            </a:extLst>
          </p:cNvPr>
          <p:cNvSpPr>
            <a:spLocks xmlns:a="http://schemas.openxmlformats.org/drawingml/2006/main" noGrp="1"/>
          </p:cNvSpPr>
          <p:nvPr/>
        </p:nvSpPr>
        <p:spPr>
          <a:xfrm xmlns:a="http://schemas.openxmlformats.org/drawingml/2006/main">
            <a:off x="10144125" y="3752850"/>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a:solidFill>
                  <a:srgbClr val="2E2A26"/>
                </a:solidFill>
              </a:defRPr>
            </a:pPr>
            <a:r>
              <a:rPr sz="1500" b="1">
                <a:solidFill>
                  <a:srgbClr val="2E2A26"/>
                </a:solidFill>
              </a:rPr>
              <a:t>20%</a:t>
            </a:r>
          </a:p>
        </p:txBody>
      </p:sp>
      <p:sp>
        <p:nvSpPr>
          <p:cNvPr id="23" name="score-row-3">
            <a:extLst xmlns:a="http://schemas.openxmlformats.org/drawingml/2006/main">
              <a:ext uri="{FF2B5EF4-FFF2-40B4-BE49-F238E27FC236}">
                <a16:creationId xmlns:a16="http://schemas.microsoft.com/office/drawing/2014/main" id="{8A21BA02-DA15-4552-8C4F-8EB261DBC688}"/>
              </a:ext>
            </a:extLst>
          </p:cNvPr>
          <p:cNvSpPr>
            <a:spLocks xmlns:a="http://schemas.openxmlformats.org/drawingml/2006/main" noGrp="1"/>
          </p:cNvSpPr>
          <p:nvPr/>
        </p:nvSpPr>
        <p:spPr>
          <a:xfrm xmlns:a="http://schemas.openxmlformats.org/drawingml/2006/main">
            <a:off x="685800" y="4524375"/>
            <a:ext cx="108204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DED0C2"/>
            </a:solidFill>
            <a:prstDash val="solid"/>
          </a:ln>
        </p:spPr>
      </p:sp>
      <p:sp>
        <p:nvSpPr>
          <p:cNvPr id="24" name="score-badge-3">
            <a:extLst xmlns:a="http://schemas.openxmlformats.org/drawingml/2006/main">
              <a:ext uri="{FF2B5EF4-FFF2-40B4-BE49-F238E27FC236}">
                <a16:creationId xmlns:a16="http://schemas.microsoft.com/office/drawing/2014/main" id="{EBAE075C-234A-4F3C-9602-0D0B9945E039}"/>
              </a:ext>
            </a:extLst>
          </p:cNvPr>
          <p:cNvSpPr>
            <a:spLocks xmlns:a="http://schemas.openxmlformats.org/drawingml/2006/main" noGrp="1"/>
          </p:cNvSpPr>
          <p:nvPr/>
        </p:nvSpPr>
        <p:spPr>
          <a:xfrm xmlns:a="http://schemas.openxmlformats.org/drawingml/2006/main">
            <a:off x="838200" y="4619625"/>
            <a:ext cx="666750" cy="495300"/>
          </a:xfrm>
          <a:prstGeom xmlns:a="http://schemas.openxmlformats.org/drawingml/2006/main" prst="roundRect">
            <a:avLst>
              <a:gd name="adj" fmla="val 30769"/>
            </a:avLst>
          </a:prstGeom>
          <a:solidFill xmlns:a="http://schemas.openxmlformats.org/drawingml/2006/main">
            <a:srgbClr val="E8CCAD"/>
          </a:solidFill>
          <a:ln xmlns:a="http://schemas.openxmlformats.org/drawingml/2006/main" w="0">
            <a:noFill/>
            <a:prstDash val="solid"/>
          </a:ln>
        </p:spPr>
      </p:sp>
      <p:sp>
        <p:nvSpPr>
          <p:cNvPr id="25" name="score-val-3">
            <a:extLst xmlns:a="http://schemas.openxmlformats.org/drawingml/2006/main">
              <a:ext uri="{FF2B5EF4-FFF2-40B4-BE49-F238E27FC236}">
                <a16:creationId xmlns:a16="http://schemas.microsoft.com/office/drawing/2014/main" id="{B1CBE755-023A-4995-A559-8BDC635B18A7}"/>
              </a:ext>
            </a:extLst>
          </p:cNvPr>
          <p:cNvSpPr>
            <a:spLocks xmlns:a="http://schemas.openxmlformats.org/drawingml/2006/main" noGrp="1"/>
          </p:cNvSpPr>
          <p:nvPr/>
        </p:nvSpPr>
        <p:spPr>
          <a:xfrm xmlns:a="http://schemas.openxmlformats.org/drawingml/2006/main">
            <a:off x="838200" y="4619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2E2A26"/>
                </a:solidFill>
              </a:defRPr>
            </a:pPr>
            <a:r>
              <a:rPr sz="1875" b="1">
                <a:solidFill>
                  <a:srgbClr val="2E2A26"/>
                </a:solidFill>
              </a:rPr>
              <a:t>15</a:t>
            </a:r>
          </a:p>
        </p:txBody>
      </p:sp>
      <p:sp>
        <p:nvSpPr>
          <p:cNvPr id="26" name="score-name-3">
            <a:extLst xmlns:a="http://schemas.openxmlformats.org/drawingml/2006/main">
              <a:ext uri="{FF2B5EF4-FFF2-40B4-BE49-F238E27FC236}">
                <a16:creationId xmlns:a16="http://schemas.microsoft.com/office/drawing/2014/main" id="{6B4B4EC5-DAB1-4C0E-AC4C-32601543620C}"/>
              </a:ext>
            </a:extLst>
          </p:cNvPr>
          <p:cNvSpPr>
            <a:spLocks xmlns:a="http://schemas.openxmlformats.org/drawingml/2006/main" noGrp="1"/>
          </p:cNvSpPr>
          <p:nvPr/>
        </p:nvSpPr>
        <p:spPr>
          <a:xfrm xmlns:a="http://schemas.openxmlformats.org/drawingml/2006/main">
            <a:off x="1733550" y="4619625"/>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E2A26"/>
                </a:solidFill>
              </a:defRPr>
            </a:pPr>
            <a:r>
              <a:rPr sz="1650" b="1">
                <a:solidFill>
                  <a:srgbClr val="2E2A26"/>
                </a:solidFill>
              </a:rPr>
              <a:t>Capacidad libre</a:t>
            </a:r>
          </a:p>
        </p:txBody>
      </p:sp>
      <p:sp>
        <p:nvSpPr>
          <p:cNvPr id="27" name="score-desc-3">
            <a:extLst xmlns:a="http://schemas.openxmlformats.org/drawingml/2006/main">
              <a:ext uri="{FF2B5EF4-FFF2-40B4-BE49-F238E27FC236}">
                <a16:creationId xmlns:a16="http://schemas.microsoft.com/office/drawing/2014/main" id="{39B4BB1F-186C-44F2-AF2A-3AA825A8A2EE}"/>
              </a:ext>
            </a:extLst>
          </p:cNvPr>
          <p:cNvSpPr>
            <a:spLocks xmlns:a="http://schemas.openxmlformats.org/drawingml/2006/main" noGrp="1"/>
          </p:cNvSpPr>
          <p:nvPr/>
        </p:nvSpPr>
        <p:spPr>
          <a:xfrm xmlns:a="http://schemas.openxmlformats.org/drawingml/2006/main">
            <a:off x="4095750" y="4629150"/>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7A6A5E"/>
                </a:solidFill>
              </a:defRPr>
            </a:pPr>
            <a:r>
              <a:rPr sz="1275" b="0">
                <a:solidFill>
                  <a:srgbClr val="7A6A5E"/>
                </a:solidFill>
              </a:rPr>
              <a:t>Proporción disponible sobre capacidad total</a:t>
            </a:r>
          </a:p>
        </p:txBody>
      </p:sp>
      <p:sp>
        <p:nvSpPr>
          <p:cNvPr id="28" name="score-pct-3">
            <a:extLst xmlns:a="http://schemas.openxmlformats.org/drawingml/2006/main">
              <a:ext uri="{FF2B5EF4-FFF2-40B4-BE49-F238E27FC236}">
                <a16:creationId xmlns:a16="http://schemas.microsoft.com/office/drawing/2014/main" id="{3F9F2F44-CF36-447A-9875-D4B8E0B2E5EB}"/>
              </a:ext>
            </a:extLst>
          </p:cNvPr>
          <p:cNvSpPr>
            <a:spLocks xmlns:a="http://schemas.openxmlformats.org/drawingml/2006/main" noGrp="1"/>
          </p:cNvSpPr>
          <p:nvPr/>
        </p:nvSpPr>
        <p:spPr>
          <a:xfrm xmlns:a="http://schemas.openxmlformats.org/drawingml/2006/main">
            <a:off x="10144125" y="4619625"/>
            <a:ext cx="1047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500" b="1">
                <a:solidFill>
                  <a:srgbClr val="2E2A26"/>
                </a:solidFill>
              </a:defRPr>
            </a:pPr>
            <a:r>
              <a:rPr sz="1500" b="1">
                <a:solidFill>
                  <a:srgbClr val="2E2A26"/>
                </a:solidFill>
              </a:rPr>
              <a:t>15%</a:t>
            </a:r>
          </a:p>
        </p:txBody>
      </p:sp>
      <p:sp>
        <p:nvSpPr>
          <p:cNvPr id="29" name="equation">
            <a:extLst xmlns:a="http://schemas.openxmlformats.org/drawingml/2006/main">
              <a:ext uri="{FF2B5EF4-FFF2-40B4-BE49-F238E27FC236}">
                <a16:creationId xmlns:a16="http://schemas.microsoft.com/office/drawing/2014/main" id="{B6E3A1EA-4A28-4C8B-8C2F-2787F4AC1A2C}"/>
              </a:ext>
            </a:extLst>
          </p:cNvPr>
          <p:cNvSpPr>
            <a:spLocks xmlns:a="http://schemas.openxmlformats.org/drawingml/2006/main" noGrp="1"/>
          </p:cNvSpPr>
          <p:nvPr/>
        </p:nvSpPr>
        <p:spPr>
          <a:xfrm xmlns:a="http://schemas.openxmlformats.org/drawingml/2006/main">
            <a:off x="685800" y="55816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E2A26"/>
                </a:solidFill>
              </a:defRPr>
            </a:pPr>
            <a:r>
              <a:rPr sz="1575" b="1">
                <a:solidFill>
                  <a:srgbClr val="2E2A26"/>
                </a:solidFill>
              </a:rPr>
              <a:t>score total = proximidad + tamaño + disponibilidad + capacidad libre</a:t>
            </a:r>
          </a:p>
        </p:txBody>
      </p:sp>
      <p:sp>
        <p:nvSpPr>
          <p:cNvPr id="30" name="chip-TOP 3">
            <a:extLst xmlns:a="http://schemas.openxmlformats.org/drawingml/2006/main">
              <a:ext uri="{FF2B5EF4-FFF2-40B4-BE49-F238E27FC236}">
                <a16:creationId xmlns:a16="http://schemas.microsoft.com/office/drawing/2014/main" id="{21EC0257-F11B-40AD-8C02-90520380F723}"/>
              </a:ext>
            </a:extLst>
          </p:cNvPr>
          <p:cNvSpPr>
            <a:spLocks xmlns:a="http://schemas.openxmlformats.org/drawingml/2006/main" noGrp="1"/>
          </p:cNvSpPr>
          <p:nvPr/>
        </p:nvSpPr>
        <p:spPr>
          <a:xfrm xmlns:a="http://schemas.openxmlformats.org/drawingml/2006/main">
            <a:off x="5095875" y="6048375"/>
            <a:ext cx="1047750" cy="323850"/>
          </a:xfrm>
          <a:prstGeom xmlns:a="http://schemas.openxmlformats.org/drawingml/2006/main" prst="roundRect">
            <a:avLst>
              <a:gd name="adj" fmla="val 47059"/>
            </a:avLst>
          </a:prstGeom>
          <a:solidFill xmlns:a="http://schemas.openxmlformats.org/drawingml/2006/main">
            <a:srgbClr val="66BCB4"/>
          </a:solidFill>
          <a:ln xmlns:a="http://schemas.openxmlformats.org/drawingml/2006/main" w="0">
            <a:noFill/>
            <a:prstDash val="solid"/>
          </a:ln>
        </p:spPr>
      </p:sp>
      <p:sp>
        <p:nvSpPr>
          <p:cNvPr id="31" name="chip-text-TOP 3">
            <a:extLst xmlns:a="http://schemas.openxmlformats.org/drawingml/2006/main">
              <a:ext uri="{FF2B5EF4-FFF2-40B4-BE49-F238E27FC236}">
                <a16:creationId xmlns:a16="http://schemas.microsoft.com/office/drawing/2014/main" id="{6B280C83-45E8-4779-9B75-C6C05ACE4989}"/>
              </a:ext>
            </a:extLst>
          </p:cNvPr>
          <p:cNvSpPr>
            <a:spLocks xmlns:a="http://schemas.openxmlformats.org/drawingml/2006/main" noGrp="1"/>
          </p:cNvSpPr>
          <p:nvPr/>
        </p:nvSpPr>
        <p:spPr>
          <a:xfrm xmlns:a="http://schemas.openxmlformats.org/drawingml/2006/main">
            <a:off x="5191125" y="6057900"/>
            <a:ext cx="857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TOP 3</a:t>
            </a:r>
          </a:p>
        </p:txBody>
      </p:sp>
    </p:spTree>
    <p:extLst>
      <p:ext uri="{BB962C8B-B14F-4D97-AF65-F5344CB8AC3E}">
        <p14:creationId xmlns:p14="http://schemas.microsoft.com/office/powerpoint/2010/main" val="1377171581"/>
      </p:ext>
    </p:extLst>
  </p:cSld>
</p:sld>
</file>

<file path=ppt/slides/slide6.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22" name="kicker">
            <a:extLst xmlns:a="http://schemas.openxmlformats.org/drawingml/2006/main">
              <a:ext uri="{FF2B5EF4-FFF2-40B4-BE49-F238E27FC236}">
                <a16:creationId xmlns:a16="http://schemas.microsoft.com/office/drawing/2014/main" id="{B7B20DD2-D791-4AF7-B1F8-007A69652948}"/>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PASO 2 · MODALIDAD</a:t>
            </a:r>
          </a:p>
        </p:txBody>
      </p:sp>
      <p:sp>
        <p:nvSpPr>
          <p:cNvPr id="2" name="title">
            <a:extLst xmlns:a="http://schemas.openxmlformats.org/drawingml/2006/main">
              <a:ext uri="{FF2B5EF4-FFF2-40B4-BE49-F238E27FC236}">
                <a16:creationId xmlns:a16="http://schemas.microsoft.com/office/drawing/2014/main" id="{DAA24C1F-CBFE-4562-8A07-7B7485B14CA7}"/>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La asociación decide cuánto control conserva sobre la asignación</a:t>
            </a:r>
          </a:p>
        </p:txBody>
      </p:sp>
      <p:sp>
        <p:nvSpPr>
          <p:cNvPr id="3" name="page">
            <a:extLst xmlns:a="http://schemas.openxmlformats.org/drawingml/2006/main">
              <a:ext uri="{FF2B5EF4-FFF2-40B4-BE49-F238E27FC236}">
                <a16:creationId xmlns:a16="http://schemas.microsoft.com/office/drawing/2014/main" id="{E6FB0809-B71C-4DAB-B16F-FCBF37019D22}"/>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06</a:t>
            </a:r>
          </a:p>
        </p:txBody>
      </p:sp>
      <p:sp>
        <p:nvSpPr>
          <p:cNvPr id="4" name="accent">
            <a:extLst xmlns:a="http://schemas.openxmlformats.org/drawingml/2006/main">
              <a:ext uri="{FF2B5EF4-FFF2-40B4-BE49-F238E27FC236}">
                <a16:creationId xmlns:a16="http://schemas.microsoft.com/office/drawing/2014/main" id="{AC71586F-C443-4FDE-BF3C-E1BC234734B2}"/>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mode-0">
            <a:extLst xmlns:a="http://schemas.openxmlformats.org/drawingml/2006/main">
              <a:ext uri="{FF2B5EF4-FFF2-40B4-BE49-F238E27FC236}">
                <a16:creationId xmlns:a16="http://schemas.microsoft.com/office/drawing/2014/main" id="{A8C8C951-AF89-4384-B9B1-FB9D533173C8}"/>
              </a:ext>
            </a:extLst>
          </p:cNvPr>
          <p:cNvSpPr>
            <a:spLocks xmlns:a="http://schemas.openxmlformats.org/drawingml/2006/main" noGrp="1"/>
          </p:cNvSpPr>
          <p:nvPr/>
        </p:nvSpPr>
        <p:spPr>
          <a:xfrm xmlns:a="http://schemas.openxmlformats.org/drawingml/2006/main">
            <a:off x="685800" y="2095500"/>
            <a:ext cx="329565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CDBF"/>
            </a:solidFill>
            <a:prstDash val="solid"/>
          </a:ln>
        </p:spPr>
      </p:sp>
      <p:sp>
        <p:nvSpPr>
          <p:cNvPr id="6" name="mode-bar-0">
            <a:extLst xmlns:a="http://schemas.openxmlformats.org/drawingml/2006/main">
              <a:ext uri="{FF2B5EF4-FFF2-40B4-BE49-F238E27FC236}">
                <a16:creationId xmlns:a16="http://schemas.microsoft.com/office/drawing/2014/main" id="{0C9279CE-4E41-4A92-970B-630299932CE3}"/>
              </a:ext>
            </a:extLst>
          </p:cNvPr>
          <p:cNvSpPr>
            <a:spLocks xmlns:a="http://schemas.openxmlformats.org/drawingml/2006/main" noGrp="1"/>
          </p:cNvSpPr>
          <p:nvPr/>
        </p:nvSpPr>
        <p:spPr>
          <a:xfrm xmlns:a="http://schemas.openxmlformats.org/drawingml/2006/main">
            <a:off x="685800" y="2095500"/>
            <a:ext cx="3295650" cy="133350"/>
          </a:xfrm>
          <a:prstGeom xmlns:a="http://schemas.openxmlformats.org/drawingml/2006/main" prst="roundRect">
            <a:avLst>
              <a:gd name="adj" fmla="val 50000"/>
            </a:avLst>
          </a:prstGeom>
          <a:solidFill xmlns:a="http://schemas.openxmlformats.org/drawingml/2006/main">
            <a:srgbClr val="EC802B"/>
          </a:solidFill>
          <a:ln xmlns:a="http://schemas.openxmlformats.org/drawingml/2006/main" w="0">
            <a:noFill/>
            <a:prstDash val="solid"/>
          </a:ln>
        </p:spPr>
      </p:sp>
      <p:sp>
        <p:nvSpPr>
          <p:cNvPr id="7" name="mode-title-0">
            <a:extLst xmlns:a="http://schemas.openxmlformats.org/drawingml/2006/main">
              <a:ext uri="{FF2B5EF4-FFF2-40B4-BE49-F238E27FC236}">
                <a16:creationId xmlns:a16="http://schemas.microsoft.com/office/drawing/2014/main" id="{8F1E3140-723D-4835-BA72-1C44C18B0110}"/>
              </a:ext>
            </a:extLst>
          </p:cNvPr>
          <p:cNvSpPr>
            <a:spLocks xmlns:a="http://schemas.openxmlformats.org/drawingml/2006/main" noGrp="1"/>
          </p:cNvSpPr>
          <p:nvPr/>
        </p:nvSpPr>
        <p:spPr>
          <a:xfrm xmlns:a="http://schemas.openxmlformats.org/drawingml/2006/main">
            <a:off x="914400" y="2428875"/>
            <a:ext cx="2838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E2A26"/>
                </a:solidFill>
              </a:defRPr>
            </a:pPr>
            <a:r>
              <a:rPr sz="1650" b="1">
                <a:solidFill>
                  <a:srgbClr val="2E2A26"/>
                </a:solidFill>
              </a:rPr>
              <a:t>MANUAL</a:t>
            </a:r>
          </a:p>
        </p:txBody>
      </p:sp>
      <p:sp>
        <p:nvSpPr>
          <p:cNvPr id="8" name="mode-body-0">
            <a:extLst xmlns:a="http://schemas.openxmlformats.org/drawingml/2006/main">
              <a:ext uri="{FF2B5EF4-FFF2-40B4-BE49-F238E27FC236}">
                <a16:creationId xmlns:a16="http://schemas.microsoft.com/office/drawing/2014/main" id="{570827EF-46AA-4F42-B004-A1446C426D84}"/>
              </a:ext>
            </a:extLst>
          </p:cNvPr>
          <p:cNvSpPr>
            <a:spLocks xmlns:a="http://schemas.openxmlformats.org/drawingml/2006/main" noGrp="1"/>
          </p:cNvSpPr>
          <p:nvPr/>
        </p:nvSpPr>
        <p:spPr>
          <a:xfrm xmlns:a="http://schemas.openxmlformats.org/drawingml/2006/main">
            <a:off x="952500" y="3105150"/>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7A6A5E"/>
                </a:solidFill>
              </a:defRPr>
            </a:pPr>
            <a:r>
              <a:rPr sz="1350" b="0">
                <a:solidFill>
                  <a:srgbClr val="7A6A5E"/>
                </a:solidFill>
              </a:rPr>
              <a:t>La asociación elige a cualquiera del top 3.</a:t>
            </a:r>
          </a:p>
        </p:txBody>
      </p:sp>
      <p:sp>
        <p:nvSpPr>
          <p:cNvPr id="9" name="mode-cap-0">
            <a:extLst xmlns:a="http://schemas.openxmlformats.org/drawingml/2006/main">
              <a:ext uri="{FF2B5EF4-FFF2-40B4-BE49-F238E27FC236}">
                <a16:creationId xmlns:a16="http://schemas.microsoft.com/office/drawing/2014/main" id="{645CDEB4-9B88-4970-B2A9-9175FCE99E4B}"/>
              </a:ext>
            </a:extLst>
          </p:cNvPr>
          <p:cNvSpPr>
            <a:spLocks xmlns:a="http://schemas.openxmlformats.org/drawingml/2006/main" noGrp="1"/>
          </p:cNvSpPr>
          <p:nvPr/>
        </p:nvSpPr>
        <p:spPr>
          <a:xfrm xmlns:a="http://schemas.openxmlformats.org/drawingml/2006/main">
            <a:off x="952500" y="4400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2A26"/>
                </a:solidFill>
              </a:defRPr>
            </a:pPr>
            <a:r>
              <a:rPr sz="1275" b="1">
                <a:solidFill>
                  <a:srgbClr val="2E2A26"/>
                </a:solidFill>
              </a:rPr>
              <a:t>Control directo</a:t>
            </a:r>
          </a:p>
        </p:txBody>
      </p:sp>
      <p:sp>
        <p:nvSpPr>
          <p:cNvPr id="10" name="mode-1">
            <a:extLst xmlns:a="http://schemas.openxmlformats.org/drawingml/2006/main">
              <a:ext uri="{FF2B5EF4-FFF2-40B4-BE49-F238E27FC236}">
                <a16:creationId xmlns:a16="http://schemas.microsoft.com/office/drawing/2014/main" id="{985B409E-6134-4EE0-B2D6-0970864385D8}"/>
              </a:ext>
            </a:extLst>
          </p:cNvPr>
          <p:cNvSpPr>
            <a:spLocks xmlns:a="http://schemas.openxmlformats.org/drawingml/2006/main" noGrp="1"/>
          </p:cNvSpPr>
          <p:nvPr/>
        </p:nvSpPr>
        <p:spPr>
          <a:xfrm xmlns:a="http://schemas.openxmlformats.org/drawingml/2006/main">
            <a:off x="4286250" y="2095500"/>
            <a:ext cx="329565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CDBF"/>
            </a:solidFill>
            <a:prstDash val="solid"/>
          </a:ln>
        </p:spPr>
      </p:sp>
      <p:sp>
        <p:nvSpPr>
          <p:cNvPr id="11" name="mode-bar-1">
            <a:extLst xmlns:a="http://schemas.openxmlformats.org/drawingml/2006/main">
              <a:ext uri="{FF2B5EF4-FFF2-40B4-BE49-F238E27FC236}">
                <a16:creationId xmlns:a16="http://schemas.microsoft.com/office/drawing/2014/main" id="{045CA938-C776-446A-90B4-CA03F3D03B3F}"/>
              </a:ext>
            </a:extLst>
          </p:cNvPr>
          <p:cNvSpPr>
            <a:spLocks xmlns:a="http://schemas.openxmlformats.org/drawingml/2006/main" noGrp="1"/>
          </p:cNvSpPr>
          <p:nvPr/>
        </p:nvSpPr>
        <p:spPr>
          <a:xfrm xmlns:a="http://schemas.openxmlformats.org/drawingml/2006/main">
            <a:off x="4286250" y="2095500"/>
            <a:ext cx="3295650" cy="133350"/>
          </a:xfrm>
          <a:prstGeom xmlns:a="http://schemas.openxmlformats.org/drawingml/2006/main" prst="roundRect">
            <a:avLst>
              <a:gd name="adj" fmla="val 50000"/>
            </a:avLst>
          </a:prstGeom>
          <a:solidFill xmlns:a="http://schemas.openxmlformats.org/drawingml/2006/main">
            <a:srgbClr val="66BCB4"/>
          </a:solidFill>
          <a:ln xmlns:a="http://schemas.openxmlformats.org/drawingml/2006/main" w="0">
            <a:noFill/>
            <a:prstDash val="solid"/>
          </a:ln>
        </p:spPr>
      </p:sp>
      <p:sp>
        <p:nvSpPr>
          <p:cNvPr id="12" name="mode-title-1">
            <a:extLst xmlns:a="http://schemas.openxmlformats.org/drawingml/2006/main">
              <a:ext uri="{FF2B5EF4-FFF2-40B4-BE49-F238E27FC236}">
                <a16:creationId xmlns:a16="http://schemas.microsoft.com/office/drawing/2014/main" id="{364ACC8E-B29E-41C4-A2B1-0F8A9986B8A0}"/>
              </a:ext>
            </a:extLst>
          </p:cNvPr>
          <p:cNvSpPr>
            <a:spLocks xmlns:a="http://schemas.openxmlformats.org/drawingml/2006/main" noGrp="1"/>
          </p:cNvSpPr>
          <p:nvPr/>
        </p:nvSpPr>
        <p:spPr>
          <a:xfrm xmlns:a="http://schemas.openxmlformats.org/drawingml/2006/main">
            <a:off x="4514850" y="2428875"/>
            <a:ext cx="2838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E2A26"/>
                </a:solidFill>
              </a:defRPr>
            </a:pPr>
            <a:r>
              <a:rPr sz="1650" b="1">
                <a:solidFill>
                  <a:srgbClr val="2E2A26"/>
                </a:solidFill>
              </a:rPr>
              <a:t>SEMI-AUTOMÁTICO</a:t>
            </a:r>
          </a:p>
        </p:txBody>
      </p:sp>
      <p:sp>
        <p:nvSpPr>
          <p:cNvPr id="13" name="mode-body-1">
            <a:extLst xmlns:a="http://schemas.openxmlformats.org/drawingml/2006/main">
              <a:ext uri="{FF2B5EF4-FFF2-40B4-BE49-F238E27FC236}">
                <a16:creationId xmlns:a16="http://schemas.microsoft.com/office/drawing/2014/main" id="{0C6BDD93-B6A1-438F-831E-73AA0DE61649}"/>
              </a:ext>
            </a:extLst>
          </p:cNvPr>
          <p:cNvSpPr>
            <a:spLocks xmlns:a="http://schemas.openxmlformats.org/drawingml/2006/main" noGrp="1"/>
          </p:cNvSpPr>
          <p:nvPr/>
        </p:nvSpPr>
        <p:spPr>
          <a:xfrm xmlns:a="http://schemas.openxmlformats.org/drawingml/2006/main">
            <a:off x="4552950" y="3105150"/>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7A6A5E"/>
                </a:solidFill>
              </a:defRPr>
            </a:pPr>
            <a:r>
              <a:rPr sz="1350" b="0">
                <a:solidFill>
                  <a:srgbClr val="7A6A5E"/>
                </a:solidFill>
              </a:rPr>
              <a:t>Hay un plazo según la condición más grave; al vencer, gana el primero.</a:t>
            </a:r>
          </a:p>
        </p:txBody>
      </p:sp>
      <p:sp>
        <p:nvSpPr>
          <p:cNvPr id="14" name="mode-cap-1">
            <a:extLst xmlns:a="http://schemas.openxmlformats.org/drawingml/2006/main">
              <a:ext uri="{FF2B5EF4-FFF2-40B4-BE49-F238E27FC236}">
                <a16:creationId xmlns:a16="http://schemas.microsoft.com/office/drawing/2014/main" id="{AEA6234E-263A-4D60-84C9-6021424EEE84}"/>
              </a:ext>
            </a:extLst>
          </p:cNvPr>
          <p:cNvSpPr>
            <a:spLocks xmlns:a="http://schemas.openxmlformats.org/drawingml/2006/main" noGrp="1"/>
          </p:cNvSpPr>
          <p:nvPr/>
        </p:nvSpPr>
        <p:spPr>
          <a:xfrm xmlns:a="http://schemas.openxmlformats.org/drawingml/2006/main">
            <a:off x="4552950" y="4400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2A26"/>
                </a:solidFill>
              </a:defRPr>
            </a:pPr>
            <a:r>
              <a:rPr sz="1275" b="1">
                <a:solidFill>
                  <a:srgbClr val="2E2A26"/>
                </a:solidFill>
              </a:rPr>
              <a:t>Control con respaldo</a:t>
            </a:r>
          </a:p>
        </p:txBody>
      </p:sp>
      <p:sp>
        <p:nvSpPr>
          <p:cNvPr id="15" name="mode-2">
            <a:extLst xmlns:a="http://schemas.openxmlformats.org/drawingml/2006/main">
              <a:ext uri="{FF2B5EF4-FFF2-40B4-BE49-F238E27FC236}">
                <a16:creationId xmlns:a16="http://schemas.microsoft.com/office/drawing/2014/main" id="{43248ADF-9053-461D-8E5F-12A42BFC6F11}"/>
              </a:ext>
            </a:extLst>
          </p:cNvPr>
          <p:cNvSpPr>
            <a:spLocks xmlns:a="http://schemas.openxmlformats.org/drawingml/2006/main" noGrp="1"/>
          </p:cNvSpPr>
          <p:nvPr/>
        </p:nvSpPr>
        <p:spPr>
          <a:xfrm xmlns:a="http://schemas.openxmlformats.org/drawingml/2006/main">
            <a:off x="7886700" y="2095500"/>
            <a:ext cx="329565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CCDBF"/>
            </a:solidFill>
            <a:prstDash val="solid"/>
          </a:ln>
        </p:spPr>
      </p:sp>
      <p:sp>
        <p:nvSpPr>
          <p:cNvPr id="16" name="mode-bar-2">
            <a:extLst xmlns:a="http://schemas.openxmlformats.org/drawingml/2006/main">
              <a:ext uri="{FF2B5EF4-FFF2-40B4-BE49-F238E27FC236}">
                <a16:creationId xmlns:a16="http://schemas.microsoft.com/office/drawing/2014/main" id="{EB6E77F0-0280-4F78-9E61-1001FDAF3909}"/>
              </a:ext>
            </a:extLst>
          </p:cNvPr>
          <p:cNvSpPr>
            <a:spLocks xmlns:a="http://schemas.openxmlformats.org/drawingml/2006/main" noGrp="1"/>
          </p:cNvSpPr>
          <p:nvPr/>
        </p:nvSpPr>
        <p:spPr>
          <a:xfrm xmlns:a="http://schemas.openxmlformats.org/drawingml/2006/main">
            <a:off x="7886700" y="2095500"/>
            <a:ext cx="3295650" cy="133350"/>
          </a:xfrm>
          <a:prstGeom xmlns:a="http://schemas.openxmlformats.org/drawingml/2006/main" prst="roundRect">
            <a:avLst>
              <a:gd name="adj" fmla="val 50000"/>
            </a:avLst>
          </a:prstGeom>
          <a:solidFill xmlns:a="http://schemas.openxmlformats.org/drawingml/2006/main">
            <a:srgbClr val="EDC55B"/>
          </a:solidFill>
          <a:ln xmlns:a="http://schemas.openxmlformats.org/drawingml/2006/main" w="0">
            <a:noFill/>
            <a:prstDash val="solid"/>
          </a:ln>
        </p:spPr>
      </p:sp>
      <p:sp>
        <p:nvSpPr>
          <p:cNvPr id="17" name="mode-title-2">
            <a:extLst xmlns:a="http://schemas.openxmlformats.org/drawingml/2006/main">
              <a:ext uri="{FF2B5EF4-FFF2-40B4-BE49-F238E27FC236}">
                <a16:creationId xmlns:a16="http://schemas.microsoft.com/office/drawing/2014/main" id="{59CD5FB6-2247-4676-8FBB-1C2EACD2D84E}"/>
              </a:ext>
            </a:extLst>
          </p:cNvPr>
          <p:cNvSpPr>
            <a:spLocks xmlns:a="http://schemas.openxmlformats.org/drawingml/2006/main" noGrp="1"/>
          </p:cNvSpPr>
          <p:nvPr/>
        </p:nvSpPr>
        <p:spPr>
          <a:xfrm xmlns:a="http://schemas.openxmlformats.org/drawingml/2006/main">
            <a:off x="8115300" y="2428875"/>
            <a:ext cx="2838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E2A26"/>
                </a:solidFill>
              </a:defRPr>
            </a:pPr>
            <a:r>
              <a:rPr sz="1650" b="1">
                <a:solidFill>
                  <a:srgbClr val="2E2A26"/>
                </a:solidFill>
              </a:rPr>
              <a:t>AUTOMÁTICO</a:t>
            </a:r>
          </a:p>
        </p:txBody>
      </p:sp>
      <p:sp>
        <p:nvSpPr>
          <p:cNvPr id="18" name="mode-body-2">
            <a:extLst xmlns:a="http://schemas.openxmlformats.org/drawingml/2006/main">
              <a:ext uri="{FF2B5EF4-FFF2-40B4-BE49-F238E27FC236}">
                <a16:creationId xmlns:a16="http://schemas.microsoft.com/office/drawing/2014/main" id="{F896CA04-6AF6-461A-909A-DFEDD9EB5266}"/>
              </a:ext>
            </a:extLst>
          </p:cNvPr>
          <p:cNvSpPr>
            <a:spLocks xmlns:a="http://schemas.openxmlformats.org/drawingml/2006/main" noGrp="1"/>
          </p:cNvSpPr>
          <p:nvPr/>
        </p:nvSpPr>
        <p:spPr>
          <a:xfrm xmlns:a="http://schemas.openxmlformats.org/drawingml/2006/main">
            <a:off x="8153400" y="3105150"/>
            <a:ext cx="2762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7A6A5E"/>
                </a:solidFill>
              </a:defRPr>
            </a:pPr>
            <a:r>
              <a:rPr sz="1350" b="0">
                <a:solidFill>
                  <a:srgbClr val="7A6A5E"/>
                </a:solidFill>
              </a:rPr>
              <a:t>Timeout cero: el cron ofrece el caso al primer candidato.</a:t>
            </a:r>
          </a:p>
        </p:txBody>
      </p:sp>
      <p:sp>
        <p:nvSpPr>
          <p:cNvPr id="19" name="mode-cap-2">
            <a:extLst xmlns:a="http://schemas.openxmlformats.org/drawingml/2006/main">
              <a:ext uri="{FF2B5EF4-FFF2-40B4-BE49-F238E27FC236}">
                <a16:creationId xmlns:a16="http://schemas.microsoft.com/office/drawing/2014/main" id="{4DBE3B9B-D970-4570-B77B-9BA27261C55D}"/>
              </a:ext>
            </a:extLst>
          </p:cNvPr>
          <p:cNvSpPr>
            <a:spLocks xmlns:a="http://schemas.openxmlformats.org/drawingml/2006/main" noGrp="1"/>
          </p:cNvSpPr>
          <p:nvPr/>
        </p:nvSpPr>
        <p:spPr>
          <a:xfrm xmlns:a="http://schemas.openxmlformats.org/drawingml/2006/main">
            <a:off x="8153400" y="44005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2A26"/>
                </a:solidFill>
              </a:defRPr>
            </a:pPr>
            <a:r>
              <a:rPr sz="1275" b="1">
                <a:solidFill>
                  <a:srgbClr val="2E2A26"/>
                </a:solidFill>
              </a:rPr>
              <a:t>Respuesta acelerada</a:t>
            </a:r>
          </a:p>
        </p:txBody>
      </p:sp>
      <p:sp>
        <p:nvSpPr>
          <p:cNvPr id="20" name="cron">
            <a:extLst xmlns:a="http://schemas.openxmlformats.org/drawingml/2006/main">
              <a:ext uri="{FF2B5EF4-FFF2-40B4-BE49-F238E27FC236}">
                <a16:creationId xmlns:a16="http://schemas.microsoft.com/office/drawing/2014/main" id="{DC17E2DF-B4A9-4049-A819-43B85049C34E}"/>
              </a:ext>
            </a:extLst>
          </p:cNvPr>
          <p:cNvSpPr>
            <a:spLocks xmlns:a="http://schemas.openxmlformats.org/drawingml/2006/main" noGrp="1"/>
          </p:cNvSpPr>
          <p:nvPr/>
        </p:nvSpPr>
        <p:spPr>
          <a:xfrm xmlns:a="http://schemas.openxmlformats.org/drawingml/2006/main">
            <a:off x="2857500" y="5410200"/>
            <a:ext cx="6477000" cy="590550"/>
          </a:xfrm>
          <a:prstGeom xmlns:a="http://schemas.openxmlformats.org/drawingml/2006/main" prst="roundRect">
            <a:avLst>
              <a:gd name="adj" fmla="val 25806"/>
            </a:avLst>
          </a:prstGeom>
          <a:solidFill xmlns:a="http://schemas.openxmlformats.org/drawingml/2006/main">
            <a:srgbClr val="FFF7EF"/>
          </a:solidFill>
          <a:ln xmlns:a="http://schemas.openxmlformats.org/drawingml/2006/main" w="9525">
            <a:solidFill>
              <a:srgbClr val="F2C49D"/>
            </a:solidFill>
            <a:prstDash val="solid"/>
          </a:ln>
        </p:spPr>
      </p:sp>
      <p:sp>
        <p:nvSpPr>
          <p:cNvPr id="21" name="cron-text">
            <a:extLst xmlns:a="http://schemas.openxmlformats.org/drawingml/2006/main">
              <a:ext uri="{FF2B5EF4-FFF2-40B4-BE49-F238E27FC236}">
                <a16:creationId xmlns:a16="http://schemas.microsoft.com/office/drawing/2014/main" id="{F942E17A-C8EE-4A26-B458-E1E54CF37A63}"/>
              </a:ext>
            </a:extLst>
          </p:cNvPr>
          <p:cNvSpPr>
            <a:spLocks xmlns:a="http://schemas.openxmlformats.org/drawingml/2006/main" noGrp="1"/>
          </p:cNvSpPr>
          <p:nvPr/>
        </p:nvSpPr>
        <p:spPr>
          <a:xfrm xmlns:a="http://schemas.openxmlformats.org/drawingml/2006/main">
            <a:off x="3086100" y="5514975"/>
            <a:ext cx="601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4621A"/>
                </a:solidFill>
              </a:defRPr>
            </a:pPr>
            <a:r>
              <a:rPr sz="1350" b="1">
                <a:solidFill>
                  <a:srgbClr val="D4621A"/>
                </a:solidFill>
              </a:rPr>
              <a:t>El cron revisa cada 5 minutos · sin candidatos, el caso sigue con la asociación</a:t>
            </a:r>
          </a:p>
        </p:txBody>
      </p:sp>
    </p:spTree>
    <p:extLst>
      <p:ext uri="{BB962C8B-B14F-4D97-AF65-F5344CB8AC3E}">
        <p14:creationId xmlns:p14="http://schemas.microsoft.com/office/powerpoint/2010/main" val="1690186819"/>
      </p:ext>
    </p:extLst>
  </p:cSld>
</p:sld>
</file>

<file path=ppt/slides/slide7.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FDD57776-146B-4B09-AC1C-F81C025561F8}"/>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VALIDACIÓN AUTOMATIZADA</a:t>
            </a:r>
          </a:p>
        </p:txBody>
      </p:sp>
      <p:sp>
        <p:nvSpPr>
          <p:cNvPr id="2" name="title">
            <a:extLst xmlns:a="http://schemas.openxmlformats.org/drawingml/2006/main">
              <a:ext uri="{FF2B5EF4-FFF2-40B4-BE49-F238E27FC236}">
                <a16:creationId xmlns:a16="http://schemas.microsoft.com/office/drawing/2014/main" id="{B5ED418B-0B36-4827-AD07-CA00D791ABC9}"/>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69 pruebas protegen las decisiones críticas del rescate</a:t>
            </a:r>
          </a:p>
        </p:txBody>
      </p:sp>
      <p:sp>
        <p:nvSpPr>
          <p:cNvPr id="3" name="page">
            <a:extLst xmlns:a="http://schemas.openxmlformats.org/drawingml/2006/main">
              <a:ext uri="{FF2B5EF4-FFF2-40B4-BE49-F238E27FC236}">
                <a16:creationId xmlns:a16="http://schemas.microsoft.com/office/drawing/2014/main" id="{F77B267C-89CA-47FE-881E-4F45DF2CDF15}"/>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07</a:t>
            </a:r>
          </a:p>
        </p:txBody>
      </p:sp>
      <p:sp>
        <p:nvSpPr>
          <p:cNvPr id="4" name="accent">
            <a:extLst xmlns:a="http://schemas.openxmlformats.org/drawingml/2006/main">
              <a:ext uri="{FF2B5EF4-FFF2-40B4-BE49-F238E27FC236}">
                <a16:creationId xmlns:a16="http://schemas.microsoft.com/office/drawing/2014/main" id="{1A7D7CCA-3104-49D9-AEAD-6807858E6B9A}"/>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result-panel">
            <a:extLst xmlns:a="http://schemas.openxmlformats.org/drawingml/2006/main">
              <a:ext uri="{FF2B5EF4-FFF2-40B4-BE49-F238E27FC236}">
                <a16:creationId xmlns:a16="http://schemas.microsoft.com/office/drawing/2014/main" id="{275672AF-4C5D-45FD-8E31-343B84178715}"/>
              </a:ext>
            </a:extLst>
          </p:cNvPr>
          <p:cNvSpPr>
            <a:spLocks xmlns:a="http://schemas.openxmlformats.org/drawingml/2006/main" noGrp="1"/>
          </p:cNvSpPr>
          <p:nvPr/>
        </p:nvSpPr>
        <p:spPr>
          <a:xfrm xmlns:a="http://schemas.openxmlformats.org/drawingml/2006/main">
            <a:off x="685800" y="1943100"/>
            <a:ext cx="2952750" cy="3619500"/>
          </a:xfrm>
          <a:prstGeom xmlns:a="http://schemas.openxmlformats.org/drawingml/2006/main" prst="roundRect">
            <a:avLst>
              <a:gd name="adj" fmla="val 5161"/>
            </a:avLst>
          </a:prstGeom>
          <a:solidFill xmlns:a="http://schemas.openxmlformats.org/drawingml/2006/main">
            <a:srgbClr val="2E2A26"/>
          </a:solidFill>
          <a:ln xmlns:a="http://schemas.openxmlformats.org/drawingml/2006/main" w="0">
            <a:noFill/>
            <a:prstDash val="solid"/>
          </a:ln>
        </p:spPr>
      </p:sp>
      <p:sp>
        <p:nvSpPr>
          <p:cNvPr id="6" name="result-number">
            <a:extLst xmlns:a="http://schemas.openxmlformats.org/drawingml/2006/main">
              <a:ext uri="{FF2B5EF4-FFF2-40B4-BE49-F238E27FC236}">
                <a16:creationId xmlns:a16="http://schemas.microsoft.com/office/drawing/2014/main" id="{A3801D01-5957-4A60-8A89-271A4BF4F585}"/>
              </a:ext>
            </a:extLst>
          </p:cNvPr>
          <p:cNvSpPr>
            <a:spLocks xmlns:a="http://schemas.openxmlformats.org/drawingml/2006/main" noGrp="1"/>
          </p:cNvSpPr>
          <p:nvPr/>
        </p:nvSpPr>
        <p:spPr>
          <a:xfrm xmlns:a="http://schemas.openxmlformats.org/drawingml/2006/main">
            <a:off x="971550" y="2286000"/>
            <a:ext cx="238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400" b="1">
                <a:solidFill>
                  <a:srgbClr val="EDC55B"/>
                </a:solidFill>
              </a:defRPr>
            </a:pPr>
            <a:r>
              <a:rPr sz="5400" b="1">
                <a:solidFill>
                  <a:srgbClr val="EDC55B"/>
                </a:solidFill>
              </a:rPr>
              <a:t>69</a:t>
            </a:r>
          </a:p>
        </p:txBody>
      </p:sp>
      <p:sp>
        <p:nvSpPr>
          <p:cNvPr id="7" name="result-label">
            <a:extLst xmlns:a="http://schemas.openxmlformats.org/drawingml/2006/main">
              <a:ext uri="{FF2B5EF4-FFF2-40B4-BE49-F238E27FC236}">
                <a16:creationId xmlns:a16="http://schemas.microsoft.com/office/drawing/2014/main" id="{D65BB607-06DD-42DB-AB71-D751F6CC6454}"/>
              </a:ext>
            </a:extLst>
          </p:cNvPr>
          <p:cNvSpPr>
            <a:spLocks xmlns:a="http://schemas.openxmlformats.org/drawingml/2006/main" noGrp="1"/>
          </p:cNvSpPr>
          <p:nvPr/>
        </p:nvSpPr>
        <p:spPr>
          <a:xfrm xmlns:a="http://schemas.openxmlformats.org/drawingml/2006/main">
            <a:off x="971550" y="33337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defRPr>
            </a:pPr>
            <a:r>
              <a:rPr sz="1350" b="1">
                <a:solidFill>
                  <a:srgbClr val="FFFFFF"/>
                </a:solidFill>
              </a:rPr>
              <a:t>PRUEBAS APROBADAS</a:t>
            </a:r>
          </a:p>
        </p:txBody>
      </p:sp>
      <p:sp>
        <p:nvSpPr>
          <p:cNvPr id="8" name="chip-100% EXITOSAS">
            <a:extLst xmlns:a="http://schemas.openxmlformats.org/drawingml/2006/main">
              <a:ext uri="{FF2B5EF4-FFF2-40B4-BE49-F238E27FC236}">
                <a16:creationId xmlns:a16="http://schemas.microsoft.com/office/drawing/2014/main" id="{BB802DF4-AE41-4AD3-9E72-671970B5C17B}"/>
              </a:ext>
            </a:extLst>
          </p:cNvPr>
          <p:cNvSpPr>
            <a:spLocks xmlns:a="http://schemas.openxmlformats.org/drawingml/2006/main" noGrp="1"/>
          </p:cNvSpPr>
          <p:nvPr/>
        </p:nvSpPr>
        <p:spPr>
          <a:xfrm xmlns:a="http://schemas.openxmlformats.org/drawingml/2006/main">
            <a:off x="1304925" y="3943350"/>
            <a:ext cx="1714500" cy="323850"/>
          </a:xfrm>
          <a:prstGeom xmlns:a="http://schemas.openxmlformats.org/drawingml/2006/main" prst="roundRect">
            <a:avLst>
              <a:gd name="adj" fmla="val 47059"/>
            </a:avLst>
          </a:prstGeom>
          <a:solidFill xmlns:a="http://schemas.openxmlformats.org/drawingml/2006/main">
            <a:srgbClr val="66BCB4"/>
          </a:solidFill>
          <a:ln xmlns:a="http://schemas.openxmlformats.org/drawingml/2006/main" w="0">
            <a:noFill/>
            <a:prstDash val="solid"/>
          </a:ln>
        </p:spPr>
      </p:sp>
      <p:sp>
        <p:nvSpPr>
          <p:cNvPr id="9" name="chip-text-100% EXITOSAS">
            <a:extLst xmlns:a="http://schemas.openxmlformats.org/drawingml/2006/main">
              <a:ext uri="{FF2B5EF4-FFF2-40B4-BE49-F238E27FC236}">
                <a16:creationId xmlns:a16="http://schemas.microsoft.com/office/drawing/2014/main" id="{56513473-588D-41EC-82E2-A198E8F9E002}"/>
              </a:ext>
            </a:extLst>
          </p:cNvPr>
          <p:cNvSpPr>
            <a:spLocks xmlns:a="http://schemas.openxmlformats.org/drawingml/2006/main" noGrp="1"/>
          </p:cNvSpPr>
          <p:nvPr/>
        </p:nvSpPr>
        <p:spPr>
          <a:xfrm xmlns:a="http://schemas.openxmlformats.org/drawingml/2006/main">
            <a:off x="1400175" y="3952875"/>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100% EXITOSAS</a:t>
            </a:r>
          </a:p>
        </p:txBody>
      </p:sp>
      <p:sp>
        <p:nvSpPr>
          <p:cNvPr id="10" name="result-meta">
            <a:extLst xmlns:a="http://schemas.openxmlformats.org/drawingml/2006/main">
              <a:ext uri="{FF2B5EF4-FFF2-40B4-BE49-F238E27FC236}">
                <a16:creationId xmlns:a16="http://schemas.microsoft.com/office/drawing/2014/main" id="{0127BAD5-3B20-4119-8932-72BF80912AE1}"/>
              </a:ext>
            </a:extLst>
          </p:cNvPr>
          <p:cNvSpPr>
            <a:spLocks xmlns:a="http://schemas.openxmlformats.org/drawingml/2006/main" noGrp="1"/>
          </p:cNvSpPr>
          <p:nvPr/>
        </p:nvSpPr>
        <p:spPr>
          <a:xfrm xmlns:a="http://schemas.openxmlformats.org/drawingml/2006/main">
            <a:off x="971550" y="45148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D9CEC5"/>
                </a:solidFill>
              </a:defRPr>
            </a:pPr>
            <a:r>
              <a:rPr sz="1275" b="0">
                <a:solidFill>
                  <a:srgbClr val="D9CEC5"/>
                </a:solidFill>
              </a:rPr>
              <a:t>Ejecución local · pytest</a:t>
            </a:r>
          </a:p>
          <a:p xmlns:a="http://schemas.openxmlformats.org/drawingml/2006/main">
            <a:pPr algn="ctr">
              <a:defRPr sz="1275" b="0">
                <a:solidFill>
                  <a:srgbClr val="D9CEC5"/>
                </a:solidFill>
              </a:defRPr>
            </a:pPr>
            <a:r>
              <a:rPr sz="1275" b="0">
                <a:solidFill>
                  <a:srgbClr val="D9CEC5"/>
                </a:solidFill>
              </a:rPr>
              <a:t>1.02 segundos · 0 fallos</a:t>
            </a:r>
          </a:p>
        </p:txBody>
      </p:sp>
      <p:sp>
        <p:nvSpPr>
          <p:cNvPr id="11" name="test-row-0">
            <a:extLst xmlns:a="http://schemas.openxmlformats.org/drawingml/2006/main">
              <a:ext uri="{FF2B5EF4-FFF2-40B4-BE49-F238E27FC236}">
                <a16:creationId xmlns:a16="http://schemas.microsoft.com/office/drawing/2014/main" id="{491A8457-F1AA-40D7-B235-0B2E5F14633C}"/>
              </a:ext>
            </a:extLst>
          </p:cNvPr>
          <p:cNvSpPr>
            <a:spLocks xmlns:a="http://schemas.openxmlformats.org/drawingml/2006/main" noGrp="1"/>
          </p:cNvSpPr>
          <p:nvPr/>
        </p:nvSpPr>
        <p:spPr>
          <a:xfrm xmlns:a="http://schemas.openxmlformats.org/drawingml/2006/main">
            <a:off x="4095750" y="1943100"/>
            <a:ext cx="74104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CDBF"/>
            </a:solidFill>
            <a:prstDash val="solid"/>
          </a:ln>
        </p:spPr>
      </p:sp>
      <p:sp>
        <p:nvSpPr>
          <p:cNvPr id="12" name="test-mark-0">
            <a:extLst xmlns:a="http://schemas.openxmlformats.org/drawingml/2006/main">
              <a:ext uri="{FF2B5EF4-FFF2-40B4-BE49-F238E27FC236}">
                <a16:creationId xmlns:a16="http://schemas.microsoft.com/office/drawing/2014/main" id="{B2F1B69E-8198-43D7-A42F-58C5EE8A5625}"/>
              </a:ext>
            </a:extLst>
          </p:cNvPr>
          <p:cNvSpPr>
            <a:spLocks xmlns:a="http://schemas.openxmlformats.org/drawingml/2006/main" noGrp="1"/>
          </p:cNvSpPr>
          <p:nvPr/>
        </p:nvSpPr>
        <p:spPr>
          <a:xfrm xmlns:a="http://schemas.openxmlformats.org/drawingml/2006/main">
            <a:off x="4267200" y="2105025"/>
            <a:ext cx="419100" cy="419100"/>
          </a:xfrm>
          <a:prstGeom xmlns:a="http://schemas.openxmlformats.org/drawingml/2006/main" prst="roundRect">
            <a:avLst>
              <a:gd name="adj" fmla="val 36364"/>
            </a:avLst>
          </a:prstGeom>
          <a:solidFill xmlns:a="http://schemas.openxmlformats.org/drawingml/2006/main">
            <a:srgbClr val="EC802B"/>
          </a:solidFill>
          <a:ln xmlns:a="http://schemas.openxmlformats.org/drawingml/2006/main" w="0">
            <a:noFill/>
            <a:prstDash val="solid"/>
          </a:ln>
        </p:spPr>
      </p:sp>
      <p:sp>
        <p:nvSpPr>
          <p:cNvPr id="13" name="test-check-0">
            <a:extLst xmlns:a="http://schemas.openxmlformats.org/drawingml/2006/main">
              <a:ext uri="{FF2B5EF4-FFF2-40B4-BE49-F238E27FC236}">
                <a16:creationId xmlns:a16="http://schemas.microsoft.com/office/drawing/2014/main" id="{EC8C1738-9354-40C7-8257-9373326F9534}"/>
              </a:ext>
            </a:extLst>
          </p:cNvPr>
          <p:cNvSpPr>
            <a:spLocks xmlns:a="http://schemas.openxmlformats.org/drawingml/2006/main" noGrp="1"/>
          </p:cNvSpPr>
          <p:nvPr/>
        </p:nvSpPr>
        <p:spPr>
          <a:xfrm xmlns:a="http://schemas.openxmlformats.org/drawingml/2006/main">
            <a:off x="4267200" y="207645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defRPr>
            </a:pPr>
            <a:r>
              <a:rPr sz="1575" b="1">
                <a:solidFill>
                  <a:srgbClr val="FFFFFF"/>
                </a:solidFill>
              </a:rPr>
              <a:t>✓</a:t>
            </a:r>
          </a:p>
        </p:txBody>
      </p:sp>
      <p:sp>
        <p:nvSpPr>
          <p:cNvPr id="14" name="test-title-0">
            <a:extLst xmlns:a="http://schemas.openxmlformats.org/drawingml/2006/main">
              <a:ext uri="{FF2B5EF4-FFF2-40B4-BE49-F238E27FC236}">
                <a16:creationId xmlns:a16="http://schemas.microsoft.com/office/drawing/2014/main" id="{D2F79FA7-0BDB-42CE-9980-65CA921CF8A0}"/>
              </a:ext>
            </a:extLst>
          </p:cNvPr>
          <p:cNvSpPr>
            <a:spLocks xmlns:a="http://schemas.openxmlformats.org/drawingml/2006/main" noGrp="1"/>
          </p:cNvSpPr>
          <p:nvPr/>
        </p:nvSpPr>
        <p:spPr>
          <a:xfrm xmlns:a="http://schemas.openxmlformats.org/drawingml/2006/main">
            <a:off x="4895850" y="2019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E2A26"/>
                </a:solidFill>
              </a:defRPr>
            </a:pPr>
            <a:r>
              <a:rPr sz="1500" b="1">
                <a:solidFill>
                  <a:srgbClr val="2E2A26"/>
                </a:solidFill>
              </a:rPr>
              <a:t>Matching y ranking</a:t>
            </a:r>
          </a:p>
        </p:txBody>
      </p:sp>
      <p:sp>
        <p:nvSpPr>
          <p:cNvPr id="15" name="test-body-0">
            <a:extLst xmlns:a="http://schemas.openxmlformats.org/drawingml/2006/main">
              <a:ext uri="{FF2B5EF4-FFF2-40B4-BE49-F238E27FC236}">
                <a16:creationId xmlns:a16="http://schemas.microsoft.com/office/drawing/2014/main" id="{339D2B9B-38C8-43E5-9B80-9289E0742A27}"/>
              </a:ext>
            </a:extLst>
          </p:cNvPr>
          <p:cNvSpPr>
            <a:spLocks xmlns:a="http://schemas.openxmlformats.org/drawingml/2006/main" noGrp="1"/>
          </p:cNvSpPr>
          <p:nvPr/>
        </p:nvSpPr>
        <p:spPr>
          <a:xfrm xmlns:a="http://schemas.openxmlformats.org/drawingml/2006/main">
            <a:off x="4895850" y="2314575"/>
            <a:ext cx="619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7A6A5E"/>
                </a:solidFill>
              </a:defRPr>
            </a:pPr>
            <a:r>
              <a:rPr sz="1200" b="0">
                <a:solidFill>
                  <a:srgbClr val="7A6A5E"/>
                </a:solidFill>
              </a:rPr>
              <a:t>Especies, capacidad, casa-hogar, rechazos, pesos y top 3.</a:t>
            </a:r>
          </a:p>
        </p:txBody>
      </p:sp>
      <p:sp>
        <p:nvSpPr>
          <p:cNvPr id="16" name="test-row-1">
            <a:extLst xmlns:a="http://schemas.openxmlformats.org/drawingml/2006/main">
              <a:ext uri="{FF2B5EF4-FFF2-40B4-BE49-F238E27FC236}">
                <a16:creationId xmlns:a16="http://schemas.microsoft.com/office/drawing/2014/main" id="{33A08053-09D3-4487-8304-8786C02BA9B1}"/>
              </a:ext>
            </a:extLst>
          </p:cNvPr>
          <p:cNvSpPr>
            <a:spLocks xmlns:a="http://schemas.openxmlformats.org/drawingml/2006/main" noGrp="1"/>
          </p:cNvSpPr>
          <p:nvPr/>
        </p:nvSpPr>
        <p:spPr>
          <a:xfrm xmlns:a="http://schemas.openxmlformats.org/drawingml/2006/main">
            <a:off x="4095750" y="2847975"/>
            <a:ext cx="74104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CDBF"/>
            </a:solidFill>
            <a:prstDash val="solid"/>
          </a:ln>
        </p:spPr>
      </p:sp>
      <p:sp>
        <p:nvSpPr>
          <p:cNvPr id="17" name="test-mark-1">
            <a:extLst xmlns:a="http://schemas.openxmlformats.org/drawingml/2006/main">
              <a:ext uri="{FF2B5EF4-FFF2-40B4-BE49-F238E27FC236}">
                <a16:creationId xmlns:a16="http://schemas.microsoft.com/office/drawing/2014/main" id="{55B45CF1-0C5E-4774-9313-EC59DC629AA0}"/>
              </a:ext>
            </a:extLst>
          </p:cNvPr>
          <p:cNvSpPr>
            <a:spLocks xmlns:a="http://schemas.openxmlformats.org/drawingml/2006/main" noGrp="1"/>
          </p:cNvSpPr>
          <p:nvPr/>
        </p:nvSpPr>
        <p:spPr>
          <a:xfrm xmlns:a="http://schemas.openxmlformats.org/drawingml/2006/main">
            <a:off x="4267200" y="3009900"/>
            <a:ext cx="419100" cy="419100"/>
          </a:xfrm>
          <a:prstGeom xmlns:a="http://schemas.openxmlformats.org/drawingml/2006/main" prst="roundRect">
            <a:avLst>
              <a:gd name="adj" fmla="val 36364"/>
            </a:avLst>
          </a:prstGeom>
          <a:solidFill xmlns:a="http://schemas.openxmlformats.org/drawingml/2006/main">
            <a:srgbClr val="66BCB4"/>
          </a:solidFill>
          <a:ln xmlns:a="http://schemas.openxmlformats.org/drawingml/2006/main" w="0">
            <a:noFill/>
            <a:prstDash val="solid"/>
          </a:ln>
        </p:spPr>
      </p:sp>
      <p:sp>
        <p:nvSpPr>
          <p:cNvPr id="18" name="test-check-1">
            <a:extLst xmlns:a="http://schemas.openxmlformats.org/drawingml/2006/main">
              <a:ext uri="{FF2B5EF4-FFF2-40B4-BE49-F238E27FC236}">
                <a16:creationId xmlns:a16="http://schemas.microsoft.com/office/drawing/2014/main" id="{26323507-4CA1-4CA6-8AC8-07267AB0FF9B}"/>
              </a:ext>
            </a:extLst>
          </p:cNvPr>
          <p:cNvSpPr>
            <a:spLocks xmlns:a="http://schemas.openxmlformats.org/drawingml/2006/main" noGrp="1"/>
          </p:cNvSpPr>
          <p:nvPr/>
        </p:nvSpPr>
        <p:spPr>
          <a:xfrm xmlns:a="http://schemas.openxmlformats.org/drawingml/2006/main">
            <a:off x="4267200" y="2981325"/>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E2A26"/>
                </a:solidFill>
              </a:defRPr>
            </a:pPr>
            <a:r>
              <a:rPr sz="1575" b="1">
                <a:solidFill>
                  <a:srgbClr val="2E2A26"/>
                </a:solidFill>
              </a:rPr>
              <a:t>✓</a:t>
            </a:r>
          </a:p>
        </p:txBody>
      </p:sp>
      <p:sp>
        <p:nvSpPr>
          <p:cNvPr id="19" name="test-title-1">
            <a:extLst xmlns:a="http://schemas.openxmlformats.org/drawingml/2006/main">
              <a:ext uri="{FF2B5EF4-FFF2-40B4-BE49-F238E27FC236}">
                <a16:creationId xmlns:a16="http://schemas.microsoft.com/office/drawing/2014/main" id="{A80210C7-32A2-491B-8B86-18CD40DA7EB8}"/>
              </a:ext>
            </a:extLst>
          </p:cNvPr>
          <p:cNvSpPr>
            <a:spLocks xmlns:a="http://schemas.openxmlformats.org/drawingml/2006/main" noGrp="1"/>
          </p:cNvSpPr>
          <p:nvPr/>
        </p:nvSpPr>
        <p:spPr>
          <a:xfrm xmlns:a="http://schemas.openxmlformats.org/drawingml/2006/main">
            <a:off x="4895850" y="29241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E2A26"/>
                </a:solidFill>
              </a:defRPr>
            </a:pPr>
            <a:r>
              <a:rPr sz="1500" b="1">
                <a:solidFill>
                  <a:srgbClr val="2E2A26"/>
                </a:solidFill>
              </a:rPr>
              <a:t>Asignación y escalamiento</a:t>
            </a:r>
          </a:p>
        </p:txBody>
      </p:sp>
      <p:sp>
        <p:nvSpPr>
          <p:cNvPr id="20" name="test-body-1">
            <a:extLst xmlns:a="http://schemas.openxmlformats.org/drawingml/2006/main">
              <a:ext uri="{FF2B5EF4-FFF2-40B4-BE49-F238E27FC236}">
                <a16:creationId xmlns:a16="http://schemas.microsoft.com/office/drawing/2014/main" id="{4DA44718-D4BF-409E-BF4E-A43C5C9818E1}"/>
              </a:ext>
            </a:extLst>
          </p:cNvPr>
          <p:cNvSpPr>
            <a:spLocks xmlns:a="http://schemas.openxmlformats.org/drawingml/2006/main" noGrp="1"/>
          </p:cNvSpPr>
          <p:nvPr/>
        </p:nvSpPr>
        <p:spPr>
          <a:xfrm xmlns:a="http://schemas.openxmlformats.org/drawingml/2006/main">
            <a:off x="4895850" y="3219450"/>
            <a:ext cx="619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7A6A5E"/>
                </a:solidFill>
              </a:defRPr>
            </a:pPr>
            <a:r>
              <a:rPr sz="1200" b="0">
                <a:solidFill>
                  <a:srgbClr val="7A6A5E"/>
                </a:solidFill>
              </a:rPr>
              <a:t>Modos, timeouts, propuesta, aceptación, rechazo y reasignación.</a:t>
            </a:r>
          </a:p>
        </p:txBody>
      </p:sp>
      <p:sp>
        <p:nvSpPr>
          <p:cNvPr id="21" name="test-row-2">
            <a:extLst xmlns:a="http://schemas.openxmlformats.org/drawingml/2006/main">
              <a:ext uri="{FF2B5EF4-FFF2-40B4-BE49-F238E27FC236}">
                <a16:creationId xmlns:a16="http://schemas.microsoft.com/office/drawing/2014/main" id="{7E05168B-55C8-44AC-A906-6C4C5EFEC386}"/>
              </a:ext>
            </a:extLst>
          </p:cNvPr>
          <p:cNvSpPr>
            <a:spLocks xmlns:a="http://schemas.openxmlformats.org/drawingml/2006/main" noGrp="1"/>
          </p:cNvSpPr>
          <p:nvPr/>
        </p:nvSpPr>
        <p:spPr>
          <a:xfrm xmlns:a="http://schemas.openxmlformats.org/drawingml/2006/main">
            <a:off x="4095750" y="3752850"/>
            <a:ext cx="74104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CDBF"/>
            </a:solidFill>
            <a:prstDash val="solid"/>
          </a:ln>
        </p:spPr>
      </p:sp>
      <p:sp>
        <p:nvSpPr>
          <p:cNvPr id="22" name="test-mark-2">
            <a:extLst xmlns:a="http://schemas.openxmlformats.org/drawingml/2006/main">
              <a:ext uri="{FF2B5EF4-FFF2-40B4-BE49-F238E27FC236}">
                <a16:creationId xmlns:a16="http://schemas.microsoft.com/office/drawing/2014/main" id="{B23A85A0-D776-4719-A3C7-FE0F90A7592C}"/>
              </a:ext>
            </a:extLst>
          </p:cNvPr>
          <p:cNvSpPr>
            <a:spLocks xmlns:a="http://schemas.openxmlformats.org/drawingml/2006/main" noGrp="1"/>
          </p:cNvSpPr>
          <p:nvPr/>
        </p:nvSpPr>
        <p:spPr>
          <a:xfrm xmlns:a="http://schemas.openxmlformats.org/drawingml/2006/main">
            <a:off x="4267200" y="3914775"/>
            <a:ext cx="419100" cy="419100"/>
          </a:xfrm>
          <a:prstGeom xmlns:a="http://schemas.openxmlformats.org/drawingml/2006/main" prst="roundRect">
            <a:avLst>
              <a:gd name="adj" fmla="val 36364"/>
            </a:avLst>
          </a:prstGeom>
          <a:solidFill xmlns:a="http://schemas.openxmlformats.org/drawingml/2006/main">
            <a:srgbClr val="EDC55B"/>
          </a:solidFill>
          <a:ln xmlns:a="http://schemas.openxmlformats.org/drawingml/2006/main" w="0">
            <a:noFill/>
            <a:prstDash val="solid"/>
          </a:ln>
        </p:spPr>
      </p:sp>
      <p:sp>
        <p:nvSpPr>
          <p:cNvPr id="23" name="test-check-2">
            <a:extLst xmlns:a="http://schemas.openxmlformats.org/drawingml/2006/main">
              <a:ext uri="{FF2B5EF4-FFF2-40B4-BE49-F238E27FC236}">
                <a16:creationId xmlns:a16="http://schemas.microsoft.com/office/drawing/2014/main" id="{72974233-3C6F-4ED2-BE10-8E9E303A4EF8}"/>
              </a:ext>
            </a:extLst>
          </p:cNvPr>
          <p:cNvSpPr>
            <a:spLocks xmlns:a="http://schemas.openxmlformats.org/drawingml/2006/main" noGrp="1"/>
          </p:cNvSpPr>
          <p:nvPr/>
        </p:nvSpPr>
        <p:spPr>
          <a:xfrm xmlns:a="http://schemas.openxmlformats.org/drawingml/2006/main">
            <a:off x="4267200" y="38862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E2A26"/>
                </a:solidFill>
              </a:defRPr>
            </a:pPr>
            <a:r>
              <a:rPr sz="1575" b="1">
                <a:solidFill>
                  <a:srgbClr val="2E2A26"/>
                </a:solidFill>
              </a:rPr>
              <a:t>✓</a:t>
            </a:r>
          </a:p>
        </p:txBody>
      </p:sp>
      <p:sp>
        <p:nvSpPr>
          <p:cNvPr id="24" name="test-title-2">
            <a:extLst xmlns:a="http://schemas.openxmlformats.org/drawingml/2006/main">
              <a:ext uri="{FF2B5EF4-FFF2-40B4-BE49-F238E27FC236}">
                <a16:creationId xmlns:a16="http://schemas.microsoft.com/office/drawing/2014/main" id="{EE47BB71-8A16-412A-8FA3-EF5E79EC9E79}"/>
              </a:ext>
            </a:extLst>
          </p:cNvPr>
          <p:cNvSpPr>
            <a:spLocks xmlns:a="http://schemas.openxmlformats.org/drawingml/2006/main" noGrp="1"/>
          </p:cNvSpPr>
          <p:nvPr/>
        </p:nvSpPr>
        <p:spPr>
          <a:xfrm xmlns:a="http://schemas.openxmlformats.org/drawingml/2006/main">
            <a:off x="4895850" y="38290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E2A26"/>
                </a:solidFill>
              </a:defRPr>
            </a:pPr>
            <a:r>
              <a:rPr sz="1500" b="1">
                <a:solidFill>
                  <a:srgbClr val="2E2A26"/>
                </a:solidFill>
              </a:rPr>
              <a:t>Entradas y seguridad</a:t>
            </a:r>
          </a:p>
        </p:txBody>
      </p:sp>
      <p:sp>
        <p:nvSpPr>
          <p:cNvPr id="25" name="test-body-2">
            <a:extLst xmlns:a="http://schemas.openxmlformats.org/drawingml/2006/main">
              <a:ext uri="{FF2B5EF4-FFF2-40B4-BE49-F238E27FC236}">
                <a16:creationId xmlns:a16="http://schemas.microsoft.com/office/drawing/2014/main" id="{DD42799B-0C00-49F4-AC5F-0B689F28144E}"/>
              </a:ext>
            </a:extLst>
          </p:cNvPr>
          <p:cNvSpPr>
            <a:spLocks xmlns:a="http://schemas.openxmlformats.org/drawingml/2006/main" noGrp="1"/>
          </p:cNvSpPr>
          <p:nvPr/>
        </p:nvSpPr>
        <p:spPr>
          <a:xfrm xmlns:a="http://schemas.openxmlformats.org/drawingml/2006/main">
            <a:off x="4895850" y="4124325"/>
            <a:ext cx="619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7A6A5E"/>
                </a:solidFill>
              </a:defRPr>
            </a:pPr>
            <a:r>
              <a:rPr sz="1200" b="0">
                <a:solidFill>
                  <a:srgbClr val="7A6A5E"/>
                </a:solidFill>
              </a:rPr>
              <a:t>Autenticación, validaciones, permisos y privacidad de coordenadas.</a:t>
            </a:r>
          </a:p>
        </p:txBody>
      </p:sp>
      <p:sp>
        <p:nvSpPr>
          <p:cNvPr id="26" name="test-row-3">
            <a:extLst xmlns:a="http://schemas.openxmlformats.org/drawingml/2006/main">
              <a:ext uri="{FF2B5EF4-FFF2-40B4-BE49-F238E27FC236}">
                <a16:creationId xmlns:a16="http://schemas.microsoft.com/office/drawing/2014/main" id="{F32DDC8C-A852-41C2-AF94-867F831C3857}"/>
              </a:ext>
            </a:extLst>
          </p:cNvPr>
          <p:cNvSpPr>
            <a:spLocks xmlns:a="http://schemas.openxmlformats.org/drawingml/2006/main" noGrp="1"/>
          </p:cNvSpPr>
          <p:nvPr/>
        </p:nvSpPr>
        <p:spPr>
          <a:xfrm xmlns:a="http://schemas.openxmlformats.org/drawingml/2006/main">
            <a:off x="4095750" y="4657725"/>
            <a:ext cx="7410450" cy="742950"/>
          </a:xfrm>
          <a:prstGeom xmlns:a="http://schemas.openxmlformats.org/drawingml/2006/main" prst="roundRect">
            <a:avLst>
              <a:gd name="adj" fmla="val 20513"/>
            </a:avLst>
          </a:prstGeom>
          <a:solidFill xmlns:a="http://schemas.openxmlformats.org/drawingml/2006/main">
            <a:srgbClr val="FFFFFF"/>
          </a:solidFill>
          <a:ln xmlns:a="http://schemas.openxmlformats.org/drawingml/2006/main" w="9525">
            <a:solidFill>
              <a:srgbClr val="DCCDBF"/>
            </a:solidFill>
            <a:prstDash val="solid"/>
          </a:ln>
        </p:spPr>
      </p:sp>
      <p:sp>
        <p:nvSpPr>
          <p:cNvPr id="27" name="test-mark-3">
            <a:extLst xmlns:a="http://schemas.openxmlformats.org/drawingml/2006/main">
              <a:ext uri="{FF2B5EF4-FFF2-40B4-BE49-F238E27FC236}">
                <a16:creationId xmlns:a16="http://schemas.microsoft.com/office/drawing/2014/main" id="{93E906AB-1279-4F23-8C80-0F6194B308FC}"/>
              </a:ext>
            </a:extLst>
          </p:cNvPr>
          <p:cNvSpPr>
            <a:spLocks xmlns:a="http://schemas.openxmlformats.org/drawingml/2006/main" noGrp="1"/>
          </p:cNvSpPr>
          <p:nvPr/>
        </p:nvSpPr>
        <p:spPr>
          <a:xfrm xmlns:a="http://schemas.openxmlformats.org/drawingml/2006/main">
            <a:off x="4267200" y="4819650"/>
            <a:ext cx="419100" cy="419100"/>
          </a:xfrm>
          <a:prstGeom xmlns:a="http://schemas.openxmlformats.org/drawingml/2006/main" prst="roundRect">
            <a:avLst>
              <a:gd name="adj" fmla="val 36364"/>
            </a:avLst>
          </a:prstGeom>
          <a:solidFill xmlns:a="http://schemas.openxmlformats.org/drawingml/2006/main">
            <a:srgbClr val="E8CCAD"/>
          </a:solidFill>
          <a:ln xmlns:a="http://schemas.openxmlformats.org/drawingml/2006/main" w="0">
            <a:noFill/>
            <a:prstDash val="solid"/>
          </a:ln>
        </p:spPr>
      </p:sp>
      <p:sp>
        <p:nvSpPr>
          <p:cNvPr id="28" name="test-check-3">
            <a:extLst xmlns:a="http://schemas.openxmlformats.org/drawingml/2006/main">
              <a:ext uri="{FF2B5EF4-FFF2-40B4-BE49-F238E27FC236}">
                <a16:creationId xmlns:a16="http://schemas.microsoft.com/office/drawing/2014/main" id="{1A27805D-627B-4C14-95A2-D606F08FCB27}"/>
              </a:ext>
            </a:extLst>
          </p:cNvPr>
          <p:cNvSpPr>
            <a:spLocks xmlns:a="http://schemas.openxmlformats.org/drawingml/2006/main" noGrp="1"/>
          </p:cNvSpPr>
          <p:nvPr/>
        </p:nvSpPr>
        <p:spPr>
          <a:xfrm xmlns:a="http://schemas.openxmlformats.org/drawingml/2006/main">
            <a:off x="4267200" y="4791075"/>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2E2A26"/>
                </a:solidFill>
              </a:defRPr>
            </a:pPr>
            <a:r>
              <a:rPr sz="1575" b="1">
                <a:solidFill>
                  <a:srgbClr val="2E2A26"/>
                </a:solidFill>
              </a:rPr>
              <a:t>✓</a:t>
            </a:r>
          </a:p>
        </p:txBody>
      </p:sp>
      <p:sp>
        <p:nvSpPr>
          <p:cNvPr id="29" name="test-title-3">
            <a:extLst xmlns:a="http://schemas.openxmlformats.org/drawingml/2006/main">
              <a:ext uri="{FF2B5EF4-FFF2-40B4-BE49-F238E27FC236}">
                <a16:creationId xmlns:a16="http://schemas.microsoft.com/office/drawing/2014/main" id="{DE033B5A-FE0C-4988-8291-A4882054D143}"/>
              </a:ext>
            </a:extLst>
          </p:cNvPr>
          <p:cNvSpPr>
            <a:spLocks xmlns:a="http://schemas.openxmlformats.org/drawingml/2006/main" noGrp="1"/>
          </p:cNvSpPr>
          <p:nvPr/>
        </p:nvSpPr>
        <p:spPr>
          <a:xfrm xmlns:a="http://schemas.openxmlformats.org/drawingml/2006/main">
            <a:off x="4895850" y="47339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E2A26"/>
                </a:solidFill>
              </a:defRPr>
            </a:pPr>
            <a:r>
              <a:rPr sz="1500" b="1">
                <a:solidFill>
                  <a:srgbClr val="2E2A26"/>
                </a:solidFill>
              </a:rPr>
              <a:t>Reportes y métricas</a:t>
            </a:r>
          </a:p>
        </p:txBody>
      </p:sp>
      <p:sp>
        <p:nvSpPr>
          <p:cNvPr id="30" name="test-body-3">
            <a:extLst xmlns:a="http://schemas.openxmlformats.org/drawingml/2006/main">
              <a:ext uri="{FF2B5EF4-FFF2-40B4-BE49-F238E27FC236}">
                <a16:creationId xmlns:a16="http://schemas.microsoft.com/office/drawing/2014/main" id="{A07E2B38-4733-4DE7-AF4C-F87A726914C6}"/>
              </a:ext>
            </a:extLst>
          </p:cNvPr>
          <p:cNvSpPr>
            <a:spLocks xmlns:a="http://schemas.openxmlformats.org/drawingml/2006/main" noGrp="1"/>
          </p:cNvSpPr>
          <p:nvPr/>
        </p:nvSpPr>
        <p:spPr>
          <a:xfrm xmlns:a="http://schemas.openxmlformats.org/drawingml/2006/main">
            <a:off x="4895850" y="5029200"/>
            <a:ext cx="619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7A6A5E"/>
                </a:solidFill>
              </a:defRPr>
            </a:pPr>
            <a:r>
              <a:rPr sz="1200" b="0">
                <a:solidFill>
                  <a:srgbClr val="7A6A5E"/>
                </a:solidFill>
              </a:rPr>
              <a:t>Duplicados, cantidades reales, cobertura y estadísticas públicas.</a:t>
            </a:r>
          </a:p>
        </p:txBody>
      </p:sp>
      <p:sp>
        <p:nvSpPr>
          <p:cNvPr id="31" name="warning">
            <a:extLst xmlns:a="http://schemas.openxmlformats.org/drawingml/2006/main">
              <a:ext uri="{FF2B5EF4-FFF2-40B4-BE49-F238E27FC236}">
                <a16:creationId xmlns:a16="http://schemas.microsoft.com/office/drawing/2014/main" id="{30D33EF3-E031-4205-B184-6D0A2AA59EE8}"/>
              </a:ext>
            </a:extLst>
          </p:cNvPr>
          <p:cNvSpPr>
            <a:spLocks xmlns:a="http://schemas.openxmlformats.org/drawingml/2006/main" noGrp="1"/>
          </p:cNvSpPr>
          <p:nvPr/>
        </p:nvSpPr>
        <p:spPr>
          <a:xfrm xmlns:a="http://schemas.openxmlformats.org/drawingml/2006/main">
            <a:off x="4095750" y="5753100"/>
            <a:ext cx="7410450" cy="457200"/>
          </a:xfrm>
          <a:prstGeom xmlns:a="http://schemas.openxmlformats.org/drawingml/2006/main" prst="roundRect">
            <a:avLst>
              <a:gd name="adj" fmla="val 33333"/>
            </a:avLst>
          </a:prstGeom>
          <a:solidFill xmlns:a="http://schemas.openxmlformats.org/drawingml/2006/main">
            <a:srgbClr val="FFF7EF"/>
          </a:solidFill>
          <a:ln xmlns:a="http://schemas.openxmlformats.org/drawingml/2006/main" w="9525">
            <a:solidFill>
              <a:srgbClr val="F2C49D"/>
            </a:solidFill>
            <a:prstDash val="solid"/>
          </a:ln>
        </p:spPr>
      </p:sp>
      <p:sp>
        <p:nvSpPr>
          <p:cNvPr id="32" name="warning-text">
            <a:extLst xmlns:a="http://schemas.openxmlformats.org/drawingml/2006/main">
              <a:ext uri="{FF2B5EF4-FFF2-40B4-BE49-F238E27FC236}">
                <a16:creationId xmlns:a16="http://schemas.microsoft.com/office/drawing/2014/main" id="{4DD79487-0601-488A-A409-12A2C8D0BE35}"/>
              </a:ext>
            </a:extLst>
          </p:cNvPr>
          <p:cNvSpPr>
            <a:spLocks xmlns:a="http://schemas.openxmlformats.org/drawingml/2006/main" noGrp="1"/>
          </p:cNvSpPr>
          <p:nvPr/>
        </p:nvSpPr>
        <p:spPr>
          <a:xfrm xmlns:a="http://schemas.openxmlformats.org/drawingml/2006/main">
            <a:off x="4267200" y="5819775"/>
            <a:ext cx="706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D4621A"/>
                </a:solidFill>
              </a:defRPr>
            </a:pPr>
            <a:r>
              <a:rPr sz="1200" b="1">
                <a:solidFill>
                  <a:srgbClr val="D4621A"/>
                </a:solidFill>
              </a:rPr>
              <a:t>Resultado: el flujo crítico está cubierto; quedan 2 avisos de actualización de dependencias.</a:t>
            </a:r>
          </a:p>
        </p:txBody>
      </p:sp>
    </p:spTree>
    <p:extLst>
      <p:ext uri="{BB962C8B-B14F-4D97-AF65-F5344CB8AC3E}">
        <p14:creationId xmlns:p14="http://schemas.microsoft.com/office/powerpoint/2010/main" val="174549369"/>
      </p:ext>
    </p:extLst>
  </p:cSld>
</p:sld>
</file>

<file path=ppt/slides/slide8.xml><?xml version="1.0" encoding="utf-8"?>
<p:sld xmlns:p="http://schemas.openxmlformats.org/presentationml/2006/main">
  <p:cSld>
    <p:bg>
      <p:bgPr>
        <a:solidFill xmlns:a="http://schemas.openxmlformats.org/drawingml/2006/main">
          <a:srgbClr val="F5EAD8"/>
        </a:solidFill>
      </p:bgPr>
    </p:bg>
    <p:spTree>
      <p:nvGrpSpPr>
        <p:cNvPr id="1" name=""/>
        <p:cNvGrpSpPr/>
        <p:nvPr/>
      </p:nvGrpSpPr>
      <p:grpSpPr>
        <a:xfrm xmlns:a="http://schemas.openxmlformats.org/drawingml/2006/main"/>
      </p:grpSpPr>
      <p:sp>
        <p:nvSpPr>
          <p:cNvPr id="22" name="kicker">
            <a:extLst xmlns:a="http://schemas.openxmlformats.org/drawingml/2006/main">
              <a:ext uri="{FF2B5EF4-FFF2-40B4-BE49-F238E27FC236}">
                <a16:creationId xmlns:a16="http://schemas.microsoft.com/office/drawing/2014/main" id="{96D25CC7-5975-403F-A812-D053EFA90896}"/>
              </a:ext>
            </a:extLst>
          </p:cNvPr>
          <p:cNvSpPr>
            <a:spLocks xmlns:a="http://schemas.openxmlformats.org/drawingml/2006/main" noGrp="1"/>
          </p:cNvSpPr>
          <p:nvPr/>
        </p:nvSpPr>
        <p:spPr>
          <a:xfrm xmlns:a="http://schemas.openxmlformats.org/drawingml/2006/main">
            <a:off x="685800" y="4000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C802B"/>
                </a:solidFill>
              </a:defRPr>
            </a:pPr>
            <a:r>
              <a:rPr sz="1200" b="1">
                <a:solidFill>
                  <a:srgbClr val="EC802B"/>
                </a:solidFill>
              </a:rPr>
              <a:t>PASO 3 · CONFIRMACIÓN</a:t>
            </a:r>
          </a:p>
        </p:txBody>
      </p:sp>
      <p:sp>
        <p:nvSpPr>
          <p:cNvPr id="2" name="title">
            <a:extLst xmlns:a="http://schemas.openxmlformats.org/drawingml/2006/main">
              <a:ext uri="{FF2B5EF4-FFF2-40B4-BE49-F238E27FC236}">
                <a16:creationId xmlns:a16="http://schemas.microsoft.com/office/drawing/2014/main" id="{C46728AF-EB22-4847-B193-28468871D1ED}"/>
              </a:ext>
            </a:extLst>
          </p:cNvPr>
          <p:cNvSpPr>
            <a:spLocks xmlns:a="http://schemas.openxmlformats.org/drawingml/2006/main" noGrp="1"/>
          </p:cNvSpPr>
          <p:nvPr/>
        </p:nvSpPr>
        <p:spPr>
          <a:xfrm xmlns:a="http://schemas.openxmlformats.org/drawingml/2006/main">
            <a:off x="685800" y="7239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2E2A26"/>
                </a:solidFill>
              </a:defRPr>
            </a:pPr>
            <a:r>
              <a:rPr sz="2850" b="1">
                <a:solidFill>
                  <a:srgbClr val="2E2A26"/>
                </a:solidFill>
              </a:rPr>
              <a:t>El rescate comienza solo cuando el voluntario acepta</a:t>
            </a:r>
          </a:p>
        </p:txBody>
      </p:sp>
      <p:sp>
        <p:nvSpPr>
          <p:cNvPr id="3" name="page">
            <a:extLst xmlns:a="http://schemas.openxmlformats.org/drawingml/2006/main">
              <a:ext uri="{FF2B5EF4-FFF2-40B4-BE49-F238E27FC236}">
                <a16:creationId xmlns:a16="http://schemas.microsoft.com/office/drawing/2014/main" id="{29B0BFF1-D4E7-454E-8437-CC1AA84804CB}"/>
              </a:ext>
            </a:extLst>
          </p:cNvPr>
          <p:cNvSpPr>
            <a:spLocks xmlns:a="http://schemas.openxmlformats.org/drawingml/2006/main" noGrp="1"/>
          </p:cNvSpPr>
          <p:nvPr/>
        </p:nvSpPr>
        <p:spPr>
          <a:xfrm xmlns:a="http://schemas.openxmlformats.org/drawingml/2006/main">
            <a:off x="11049000" y="4572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125" b="1">
                <a:solidFill>
                  <a:srgbClr val="9B8B7E"/>
                </a:solidFill>
              </a:defRPr>
            </a:pPr>
            <a:r>
              <a:rPr sz="1125" b="1">
                <a:solidFill>
                  <a:srgbClr val="9B8B7E"/>
                </a:solidFill>
              </a:rPr>
              <a:t>08</a:t>
            </a:r>
          </a:p>
        </p:txBody>
      </p:sp>
      <p:sp>
        <p:nvSpPr>
          <p:cNvPr id="4" name="accent">
            <a:extLst xmlns:a="http://schemas.openxmlformats.org/drawingml/2006/main">
              <a:ext uri="{FF2B5EF4-FFF2-40B4-BE49-F238E27FC236}">
                <a16:creationId xmlns:a16="http://schemas.microsoft.com/office/drawing/2014/main" id="{1C1C0F6E-A6E3-4B51-9564-F0A909A5EE67}"/>
              </a:ext>
            </a:extLst>
          </p:cNvPr>
          <p:cNvSpPr>
            <a:spLocks xmlns:a="http://schemas.openxmlformats.org/drawingml/2006/main" noGrp="1"/>
          </p:cNvSpPr>
          <p:nvPr/>
        </p:nvSpPr>
        <p:spPr>
          <a:xfrm xmlns:a="http://schemas.openxmlformats.org/drawingml/2006/main">
            <a:off x="685800" y="1457325"/>
            <a:ext cx="914400" cy="47625"/>
          </a:xfrm>
          <a:prstGeom xmlns:a="http://schemas.openxmlformats.org/drawingml/2006/main" prst="rect">
            <a:avLst/>
          </a:prstGeom>
          <a:solidFill xmlns:a="http://schemas.openxmlformats.org/drawingml/2006/main">
            <a:srgbClr val="EC802B"/>
          </a:solidFill>
          <a:ln xmlns:a="http://schemas.openxmlformats.org/drawingml/2006/main" w="0">
            <a:noFill/>
            <a:prstDash val="solid"/>
          </a:ln>
        </p:spPr>
      </p:sp>
      <p:sp>
        <p:nvSpPr>
          <p:cNvPr id="5" name="proposal">
            <a:extLst xmlns:a="http://schemas.openxmlformats.org/drawingml/2006/main">
              <a:ext uri="{FF2B5EF4-FFF2-40B4-BE49-F238E27FC236}">
                <a16:creationId xmlns:a16="http://schemas.microsoft.com/office/drawing/2014/main" id="{49796B5D-A9F2-459F-9B68-59378BBFEDFB}"/>
              </a:ext>
            </a:extLst>
          </p:cNvPr>
          <p:cNvSpPr>
            <a:spLocks xmlns:a="http://schemas.openxmlformats.org/drawingml/2006/main" noGrp="1"/>
          </p:cNvSpPr>
          <p:nvPr/>
        </p:nvSpPr>
        <p:spPr>
          <a:xfrm xmlns:a="http://schemas.openxmlformats.org/drawingml/2006/main">
            <a:off x="685800" y="2114550"/>
            <a:ext cx="2952750" cy="2381250"/>
          </a:xfrm>
          <a:prstGeom xmlns:a="http://schemas.openxmlformats.org/drawingml/2006/main" prst="roundRect">
            <a:avLst>
              <a:gd name="adj" fmla="val 6400"/>
            </a:avLst>
          </a:prstGeom>
          <a:solidFill xmlns:a="http://schemas.openxmlformats.org/drawingml/2006/main">
            <a:srgbClr val="FFFFFF"/>
          </a:solidFill>
          <a:ln xmlns:a="http://schemas.openxmlformats.org/drawingml/2006/main" w="9525">
            <a:solidFill>
              <a:srgbClr val="DCCDBF"/>
            </a:solidFill>
            <a:prstDash val="solid"/>
          </a:ln>
        </p:spPr>
      </p:sp>
      <p:sp>
        <p:nvSpPr>
          <p:cNvPr id="6" name="chip-PROPUESTA">
            <a:extLst xmlns:a="http://schemas.openxmlformats.org/drawingml/2006/main">
              <a:ext uri="{FF2B5EF4-FFF2-40B4-BE49-F238E27FC236}">
                <a16:creationId xmlns:a16="http://schemas.microsoft.com/office/drawing/2014/main" id="{62871163-3D6A-4612-9F61-F46CB8CF310D}"/>
              </a:ext>
            </a:extLst>
          </p:cNvPr>
          <p:cNvSpPr>
            <a:spLocks xmlns:a="http://schemas.openxmlformats.org/drawingml/2006/main" noGrp="1"/>
          </p:cNvSpPr>
          <p:nvPr/>
        </p:nvSpPr>
        <p:spPr>
          <a:xfrm xmlns:a="http://schemas.openxmlformats.org/drawingml/2006/main">
            <a:off x="962025" y="2343150"/>
            <a:ext cx="1257300" cy="323850"/>
          </a:xfrm>
          <a:prstGeom xmlns:a="http://schemas.openxmlformats.org/drawingml/2006/main" prst="roundRect">
            <a:avLst>
              <a:gd name="adj" fmla="val 47059"/>
            </a:avLst>
          </a:prstGeom>
          <a:solidFill xmlns:a="http://schemas.openxmlformats.org/drawingml/2006/main">
            <a:srgbClr val="EDC55B"/>
          </a:solidFill>
          <a:ln xmlns:a="http://schemas.openxmlformats.org/drawingml/2006/main" w="0">
            <a:noFill/>
            <a:prstDash val="solid"/>
          </a:ln>
        </p:spPr>
      </p:sp>
      <p:sp>
        <p:nvSpPr>
          <p:cNvPr id="7" name="chip-text-PROPUESTA">
            <a:extLst xmlns:a="http://schemas.openxmlformats.org/drawingml/2006/main">
              <a:ext uri="{FF2B5EF4-FFF2-40B4-BE49-F238E27FC236}">
                <a16:creationId xmlns:a16="http://schemas.microsoft.com/office/drawing/2014/main" id="{A4A1EAFF-ECAB-46AE-80EC-D77A91785B13}"/>
              </a:ext>
            </a:extLst>
          </p:cNvPr>
          <p:cNvSpPr>
            <a:spLocks xmlns:a="http://schemas.openxmlformats.org/drawingml/2006/main" noGrp="1"/>
          </p:cNvSpPr>
          <p:nvPr/>
        </p:nvSpPr>
        <p:spPr>
          <a:xfrm xmlns:a="http://schemas.openxmlformats.org/drawingml/2006/main">
            <a:off x="1057275" y="2352675"/>
            <a:ext cx="1066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PROPUESTA</a:t>
            </a:r>
          </a:p>
        </p:txBody>
      </p:sp>
      <p:sp>
        <p:nvSpPr>
          <p:cNvPr id="8" name="proposal-title">
            <a:extLst xmlns:a="http://schemas.openxmlformats.org/drawingml/2006/main">
              <a:ext uri="{FF2B5EF4-FFF2-40B4-BE49-F238E27FC236}">
                <a16:creationId xmlns:a16="http://schemas.microsoft.com/office/drawing/2014/main" id="{D7145373-1E27-4D69-9E93-C944E7E9FABB}"/>
              </a:ext>
            </a:extLst>
          </p:cNvPr>
          <p:cNvSpPr>
            <a:spLocks xmlns:a="http://schemas.openxmlformats.org/drawingml/2006/main" noGrp="1"/>
          </p:cNvSpPr>
          <p:nvPr/>
        </p:nvSpPr>
        <p:spPr>
          <a:xfrm xmlns:a="http://schemas.openxmlformats.org/drawingml/2006/main">
            <a:off x="962025" y="288607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2E2A26"/>
                </a:solidFill>
              </a:defRPr>
            </a:pPr>
            <a:r>
              <a:rPr sz="2025" b="1">
                <a:solidFill>
                  <a:srgbClr val="2E2A26"/>
                </a:solidFill>
              </a:rPr>
              <a:t>Esperando respuesta</a:t>
            </a:r>
          </a:p>
        </p:txBody>
      </p:sp>
      <p:sp>
        <p:nvSpPr>
          <p:cNvPr id="9" name="proposal-body">
            <a:extLst xmlns:a="http://schemas.openxmlformats.org/drawingml/2006/main">
              <a:ext uri="{FF2B5EF4-FFF2-40B4-BE49-F238E27FC236}">
                <a16:creationId xmlns:a16="http://schemas.microsoft.com/office/drawing/2014/main" id="{F7997CF0-29B7-4077-B067-C8C709107222}"/>
              </a:ext>
            </a:extLst>
          </p:cNvPr>
          <p:cNvSpPr>
            <a:spLocks xmlns:a="http://schemas.openxmlformats.org/drawingml/2006/main" noGrp="1"/>
          </p:cNvSpPr>
          <p:nvPr/>
        </p:nvSpPr>
        <p:spPr>
          <a:xfrm xmlns:a="http://schemas.openxmlformats.org/drawingml/2006/main">
            <a:off x="962025" y="36480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El caso sigue asignado, pero aún no está en camino.</a:t>
            </a:r>
          </a:p>
        </p:txBody>
      </p:sp>
      <p:sp>
        <p:nvSpPr>
          <p:cNvPr id="10" name="branch">
            <a:extLst xmlns:a="http://schemas.openxmlformats.org/drawingml/2006/main">
              <a:ext uri="{FF2B5EF4-FFF2-40B4-BE49-F238E27FC236}">
                <a16:creationId xmlns:a16="http://schemas.microsoft.com/office/drawing/2014/main" id="{44EE1F6B-4F38-44B3-A470-0AC173F80501}"/>
              </a:ext>
            </a:extLst>
          </p:cNvPr>
          <p:cNvSpPr>
            <a:spLocks xmlns:a="http://schemas.openxmlformats.org/drawingml/2006/main" noGrp="1"/>
          </p:cNvSpPr>
          <p:nvPr/>
        </p:nvSpPr>
        <p:spPr>
          <a:xfrm xmlns:a="http://schemas.openxmlformats.org/drawingml/2006/main">
            <a:off x="3848100" y="2905125"/>
            <a:ext cx="47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9B8B7E"/>
                </a:solidFill>
              </a:defRPr>
            </a:pPr>
            <a:r>
              <a:rPr sz="3150" b="1">
                <a:solidFill>
                  <a:srgbClr val="9B8B7E"/>
                </a:solidFill>
              </a:rPr>
              <a:t>→</a:t>
            </a:r>
          </a:p>
        </p:txBody>
      </p:sp>
      <p:sp>
        <p:nvSpPr>
          <p:cNvPr id="11" name="accept">
            <a:extLst xmlns:a="http://schemas.openxmlformats.org/drawingml/2006/main">
              <a:ext uri="{FF2B5EF4-FFF2-40B4-BE49-F238E27FC236}">
                <a16:creationId xmlns:a16="http://schemas.microsoft.com/office/drawing/2014/main" id="{22856C59-426C-4137-8BAF-64BD25DAC9A2}"/>
              </a:ext>
            </a:extLst>
          </p:cNvPr>
          <p:cNvSpPr>
            <a:spLocks xmlns:a="http://schemas.openxmlformats.org/drawingml/2006/main" noGrp="1"/>
          </p:cNvSpPr>
          <p:nvPr/>
        </p:nvSpPr>
        <p:spPr>
          <a:xfrm xmlns:a="http://schemas.openxmlformats.org/drawingml/2006/main">
            <a:off x="4533900" y="1828800"/>
            <a:ext cx="6972300" cy="1447800"/>
          </a:xfrm>
          <a:prstGeom xmlns:a="http://schemas.openxmlformats.org/drawingml/2006/main" prst="roundRect">
            <a:avLst>
              <a:gd name="adj" fmla="val 10526"/>
            </a:avLst>
          </a:prstGeom>
          <a:solidFill xmlns:a="http://schemas.openxmlformats.org/drawingml/2006/main">
            <a:srgbClr val="E9F7F5"/>
          </a:solidFill>
          <a:ln xmlns:a="http://schemas.openxmlformats.org/drawingml/2006/main" w="9525">
            <a:solidFill>
              <a:srgbClr val="66BCB4"/>
            </a:solidFill>
            <a:prstDash val="solid"/>
          </a:ln>
        </p:spPr>
      </p:sp>
      <p:sp>
        <p:nvSpPr>
          <p:cNvPr id="12" name="chip-ACEPTA">
            <a:extLst xmlns:a="http://schemas.openxmlformats.org/drawingml/2006/main">
              <a:ext uri="{FF2B5EF4-FFF2-40B4-BE49-F238E27FC236}">
                <a16:creationId xmlns:a16="http://schemas.microsoft.com/office/drawing/2014/main" id="{BA942940-0CD9-42F3-A48D-D2DA350A4CA8}"/>
              </a:ext>
            </a:extLst>
          </p:cNvPr>
          <p:cNvSpPr>
            <a:spLocks xmlns:a="http://schemas.openxmlformats.org/drawingml/2006/main" noGrp="1"/>
          </p:cNvSpPr>
          <p:nvPr/>
        </p:nvSpPr>
        <p:spPr>
          <a:xfrm xmlns:a="http://schemas.openxmlformats.org/drawingml/2006/main">
            <a:off x="4791075" y="2057400"/>
            <a:ext cx="990600" cy="323850"/>
          </a:xfrm>
          <a:prstGeom xmlns:a="http://schemas.openxmlformats.org/drawingml/2006/main" prst="roundRect">
            <a:avLst>
              <a:gd name="adj" fmla="val 47059"/>
            </a:avLst>
          </a:prstGeom>
          <a:solidFill xmlns:a="http://schemas.openxmlformats.org/drawingml/2006/main">
            <a:srgbClr val="66BCB4"/>
          </a:solidFill>
          <a:ln xmlns:a="http://schemas.openxmlformats.org/drawingml/2006/main" w="0">
            <a:noFill/>
            <a:prstDash val="solid"/>
          </a:ln>
        </p:spPr>
      </p:sp>
      <p:sp>
        <p:nvSpPr>
          <p:cNvPr id="13" name="chip-text-ACEPTA">
            <a:extLst xmlns:a="http://schemas.openxmlformats.org/drawingml/2006/main">
              <a:ext uri="{FF2B5EF4-FFF2-40B4-BE49-F238E27FC236}">
                <a16:creationId xmlns:a16="http://schemas.microsoft.com/office/drawing/2014/main" id="{91F52928-EEC9-47E9-80AC-AC22BBC8D890}"/>
              </a:ext>
            </a:extLst>
          </p:cNvPr>
          <p:cNvSpPr>
            <a:spLocks xmlns:a="http://schemas.openxmlformats.org/drawingml/2006/main" noGrp="1"/>
          </p:cNvSpPr>
          <p:nvPr/>
        </p:nvSpPr>
        <p:spPr>
          <a:xfrm xmlns:a="http://schemas.openxmlformats.org/drawingml/2006/main">
            <a:off x="4886325" y="2066925"/>
            <a:ext cx="8001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2E2A26"/>
                </a:solidFill>
              </a:defRPr>
            </a:pPr>
            <a:r>
              <a:rPr sz="1125" b="1">
                <a:solidFill>
                  <a:srgbClr val="2E2A26"/>
                </a:solidFill>
              </a:rPr>
              <a:t>ACEPTA</a:t>
            </a:r>
          </a:p>
        </p:txBody>
      </p:sp>
      <p:sp>
        <p:nvSpPr>
          <p:cNvPr id="14" name="accept-title">
            <a:extLst xmlns:a="http://schemas.openxmlformats.org/drawingml/2006/main">
              <a:ext uri="{FF2B5EF4-FFF2-40B4-BE49-F238E27FC236}">
                <a16:creationId xmlns:a16="http://schemas.microsoft.com/office/drawing/2014/main" id="{239B2A47-97CC-4F01-BDA0-8F608B30A53A}"/>
              </a:ext>
            </a:extLst>
          </p:cNvPr>
          <p:cNvSpPr>
            <a:spLocks xmlns:a="http://schemas.openxmlformats.org/drawingml/2006/main" noGrp="1"/>
          </p:cNvSpPr>
          <p:nvPr/>
        </p:nvSpPr>
        <p:spPr>
          <a:xfrm xmlns:a="http://schemas.openxmlformats.org/drawingml/2006/main">
            <a:off x="5981700" y="2009775"/>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E2A26"/>
                </a:solidFill>
              </a:defRPr>
            </a:pPr>
            <a:r>
              <a:rPr sz="2100" b="1">
                <a:solidFill>
                  <a:srgbClr val="2E2A26"/>
                </a:solidFill>
              </a:rPr>
              <a:t>Confirmado → en camino</a:t>
            </a:r>
          </a:p>
        </p:txBody>
      </p:sp>
      <p:sp>
        <p:nvSpPr>
          <p:cNvPr id="15" name="accept-body">
            <a:extLst xmlns:a="http://schemas.openxmlformats.org/drawingml/2006/main">
              <a:ext uri="{FF2B5EF4-FFF2-40B4-BE49-F238E27FC236}">
                <a16:creationId xmlns:a16="http://schemas.microsoft.com/office/drawing/2014/main" id="{62CEC752-88AE-426B-9229-2D235F7945F9}"/>
              </a:ext>
            </a:extLst>
          </p:cNvPr>
          <p:cNvSpPr>
            <a:spLocks xmlns:a="http://schemas.openxmlformats.org/drawingml/2006/main" noGrp="1"/>
          </p:cNvSpPr>
          <p:nvPr/>
        </p:nvSpPr>
        <p:spPr>
          <a:xfrm xmlns:a="http://schemas.openxmlformats.org/drawingml/2006/main">
            <a:off x="4791075" y="2638425"/>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Se valida al voluntario asignado y se registra voluntario_confirma.</a:t>
            </a:r>
          </a:p>
        </p:txBody>
      </p:sp>
      <p:sp>
        <p:nvSpPr>
          <p:cNvPr id="16" name="reject">
            <a:extLst xmlns:a="http://schemas.openxmlformats.org/drawingml/2006/main">
              <a:ext uri="{FF2B5EF4-FFF2-40B4-BE49-F238E27FC236}">
                <a16:creationId xmlns:a16="http://schemas.microsoft.com/office/drawing/2014/main" id="{9DD6E1EE-1DBD-4261-8B67-917DCF2A060B}"/>
              </a:ext>
            </a:extLst>
          </p:cNvPr>
          <p:cNvSpPr>
            <a:spLocks xmlns:a="http://schemas.openxmlformats.org/drawingml/2006/main" noGrp="1"/>
          </p:cNvSpPr>
          <p:nvPr/>
        </p:nvSpPr>
        <p:spPr>
          <a:xfrm xmlns:a="http://schemas.openxmlformats.org/drawingml/2006/main">
            <a:off x="4533900" y="3581400"/>
            <a:ext cx="6972300" cy="1771650"/>
          </a:xfrm>
          <a:prstGeom xmlns:a="http://schemas.openxmlformats.org/drawingml/2006/main" prst="roundRect">
            <a:avLst>
              <a:gd name="adj" fmla="val 8602"/>
            </a:avLst>
          </a:prstGeom>
          <a:solidFill xmlns:a="http://schemas.openxmlformats.org/drawingml/2006/main">
            <a:srgbClr val="FFF3F0"/>
          </a:solidFill>
          <a:ln xmlns:a="http://schemas.openxmlformats.org/drawingml/2006/main" w="9525">
            <a:solidFill>
              <a:srgbClr val="E9A291"/>
            </a:solidFill>
            <a:prstDash val="solid"/>
          </a:ln>
        </p:spPr>
      </p:sp>
      <p:sp>
        <p:nvSpPr>
          <p:cNvPr id="17" name="chip-RECHAZA">
            <a:extLst xmlns:a="http://schemas.openxmlformats.org/drawingml/2006/main">
              <a:ext uri="{FF2B5EF4-FFF2-40B4-BE49-F238E27FC236}">
                <a16:creationId xmlns:a16="http://schemas.microsoft.com/office/drawing/2014/main" id="{7A2B8DE4-BDAA-47C3-9682-DE9CB99B4C9D}"/>
              </a:ext>
            </a:extLst>
          </p:cNvPr>
          <p:cNvSpPr>
            <a:spLocks xmlns:a="http://schemas.openxmlformats.org/drawingml/2006/main" noGrp="1"/>
          </p:cNvSpPr>
          <p:nvPr/>
        </p:nvSpPr>
        <p:spPr>
          <a:xfrm xmlns:a="http://schemas.openxmlformats.org/drawingml/2006/main">
            <a:off x="4791075" y="3810000"/>
            <a:ext cx="1104900" cy="323850"/>
          </a:xfrm>
          <a:prstGeom xmlns:a="http://schemas.openxmlformats.org/drawingml/2006/main" prst="roundRect">
            <a:avLst>
              <a:gd name="adj" fmla="val 47059"/>
            </a:avLst>
          </a:prstGeom>
          <a:solidFill xmlns:a="http://schemas.openxmlformats.org/drawingml/2006/main">
            <a:srgbClr val="D94025"/>
          </a:solidFill>
          <a:ln xmlns:a="http://schemas.openxmlformats.org/drawingml/2006/main" w="0">
            <a:noFill/>
            <a:prstDash val="solid"/>
          </a:ln>
        </p:spPr>
      </p:sp>
      <p:sp>
        <p:nvSpPr>
          <p:cNvPr id="18" name="chip-text-RECHAZA">
            <a:extLst xmlns:a="http://schemas.openxmlformats.org/drawingml/2006/main">
              <a:ext uri="{FF2B5EF4-FFF2-40B4-BE49-F238E27FC236}">
                <a16:creationId xmlns:a16="http://schemas.microsoft.com/office/drawing/2014/main" id="{9E047D47-C690-4764-BC55-EEC059991948}"/>
              </a:ext>
            </a:extLst>
          </p:cNvPr>
          <p:cNvSpPr>
            <a:spLocks xmlns:a="http://schemas.openxmlformats.org/drawingml/2006/main" noGrp="1"/>
          </p:cNvSpPr>
          <p:nvPr/>
        </p:nvSpPr>
        <p:spPr>
          <a:xfrm xmlns:a="http://schemas.openxmlformats.org/drawingml/2006/main">
            <a:off x="4886325" y="3819525"/>
            <a:ext cx="914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RECHAZA</a:t>
            </a:r>
          </a:p>
        </p:txBody>
      </p:sp>
      <p:sp>
        <p:nvSpPr>
          <p:cNvPr id="19" name="reject-title">
            <a:extLst xmlns:a="http://schemas.openxmlformats.org/drawingml/2006/main">
              <a:ext uri="{FF2B5EF4-FFF2-40B4-BE49-F238E27FC236}">
                <a16:creationId xmlns:a16="http://schemas.microsoft.com/office/drawing/2014/main" id="{5FBEF53D-9866-499D-9FD1-7209B7B8F91E}"/>
              </a:ext>
            </a:extLst>
          </p:cNvPr>
          <p:cNvSpPr>
            <a:spLocks xmlns:a="http://schemas.openxmlformats.org/drawingml/2006/main" noGrp="1"/>
          </p:cNvSpPr>
          <p:nvPr/>
        </p:nvSpPr>
        <p:spPr>
          <a:xfrm xmlns:a="http://schemas.openxmlformats.org/drawingml/2006/main">
            <a:off x="6076950" y="37623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1">
                <a:solidFill>
                  <a:srgbClr val="2E2A26"/>
                </a:solidFill>
              </a:defRPr>
            </a:pPr>
            <a:r>
              <a:rPr sz="1950" b="1">
                <a:solidFill>
                  <a:srgbClr val="2E2A26"/>
                </a:solidFill>
              </a:rPr>
              <a:t>Se libera la propuesta y avanza el siguiente</a:t>
            </a:r>
          </a:p>
        </p:txBody>
      </p:sp>
      <p:sp>
        <p:nvSpPr>
          <p:cNvPr id="20" name="reject-body">
            <a:extLst xmlns:a="http://schemas.openxmlformats.org/drawingml/2006/main">
              <a:ext uri="{FF2B5EF4-FFF2-40B4-BE49-F238E27FC236}">
                <a16:creationId xmlns:a16="http://schemas.microsoft.com/office/drawing/2014/main" id="{553A09F1-0D34-4384-8711-693A1280B407}"/>
              </a:ext>
            </a:extLst>
          </p:cNvPr>
          <p:cNvSpPr>
            <a:spLocks xmlns:a="http://schemas.openxmlformats.org/drawingml/2006/main" noGrp="1"/>
          </p:cNvSpPr>
          <p:nvPr/>
        </p:nvSpPr>
        <p:spPr>
          <a:xfrm xmlns:a="http://schemas.openxmlformats.org/drawingml/2006/main">
            <a:off x="4791075" y="4410075"/>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7A6A5E"/>
                </a:solidFill>
              </a:defRPr>
            </a:pPr>
            <a:r>
              <a:rPr sz="1350" b="0">
                <a:solidFill>
                  <a:srgbClr val="7A6A5E"/>
                </a:solidFill>
              </a:rPr>
              <a:t>El voluntario queda excluido de futuros rankings; el frontend detecta el rechazo cada 5 segundos y recarga candidatos.</a:t>
            </a:r>
          </a:p>
        </p:txBody>
      </p:sp>
      <p:sp>
        <p:nvSpPr>
          <p:cNvPr id="21" name="closing">
            <a:extLst xmlns:a="http://schemas.openxmlformats.org/drawingml/2006/main">
              <a:ext uri="{FF2B5EF4-FFF2-40B4-BE49-F238E27FC236}">
                <a16:creationId xmlns:a16="http://schemas.microsoft.com/office/drawing/2014/main" id="{291AA382-D9D5-40E9-800A-232089EE9836}"/>
              </a:ext>
            </a:extLst>
          </p:cNvPr>
          <p:cNvSpPr>
            <a:spLocks xmlns:a="http://schemas.openxmlformats.org/drawingml/2006/main" noGrp="1"/>
          </p:cNvSpPr>
          <p:nvPr/>
        </p:nvSpPr>
        <p:spPr>
          <a:xfrm xmlns:a="http://schemas.openxmlformats.org/drawingml/2006/main">
            <a:off x="685800" y="594360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E2A26"/>
                </a:solidFill>
              </a:defRPr>
            </a:pPr>
            <a:r>
              <a:rPr sz="1650" b="1">
                <a:solidFill>
                  <a:srgbClr val="2E2A26"/>
                </a:solidFill>
              </a:rPr>
              <a:t>PawAlert prioriza cobertura, compatibilidad y consentimiento en cada asignación.</a:t>
            </a:r>
          </a:p>
        </p:txBody>
      </p:sp>
    </p:spTree>
    <p:extLst>
      <p:ext uri="{BB962C8B-B14F-4D97-AF65-F5344CB8AC3E}">
        <p14:creationId xmlns:p14="http://schemas.microsoft.com/office/powerpoint/2010/main" val="1240456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2026-07-20T04:06:51.8700000Z</dcterms:created>
  <dcterms:modified xsi:type="dcterms:W3CDTF">2026-07-20T04:06:51.8700000Z</dcterms:modified>
</coreProperties>
</file>