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snapToGrid="0">
      <p:cViewPr varScale="1">
        <p:scale>
          <a:sx n="110" d="100"/>
          <a:sy n="110" d="100"/>
        </p:scale>
        <p:origin x="6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Objetivo: explicar el flujo completo de asignación de PawAlert. La idea central es que primero se asegura cobertura institucional, luego se rankean voluntarios compatibles y finalmente se confirma su participación antes de iniciar el rescate.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Esta diapositiva introduce el flujo. La asociación no se elige por puntuación, sino por elegibilidad y distancia. El ranking solo aparece en la etapa de voluntarios. Seleccionar un voluntario no inicia el rescate: primero debe confirmar.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crear el reporte se extraen todas las especies únicas, incluyendo animales individuales y grupos. La función encuentra_asociacion_cercana filtra asociaciones activas, verificadas, capaces de atender todas las especies, dentro de su radio y no excluidas por rechazos. La condición SQL p_tipos_animales &lt;@ a.tipos_animales::text[] significa que todas las especies requeridas deben estar contenidas en las atendidas. Entre las elegibles se ordena por distancia. Si una asociación rechaza, se repite la búsqueda excluyendo rechazos previos; si no queda cobertura, el caso pasa a sin_cobertura y se buscan contactos de emergencia por especie.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primera capa SQL considera voluntarios activos, con términos aceptados, ubicación registrada, dentro de 10 km y vinculados correctamente. También calcula capacidad total, carga actual por cantidades reales de animales, casa-hogar, especies, tamaños y disponibilidad. Después Python elimina quienes ya rechazaron, no aceptan todas las especies, ofrecen casa-hogar para más de dos animales o no tienen capacidad suficiente. La especie no suma puntos porque es una condición obligatoria.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máximo es 100. Proximidad aporta hasta 40 puntos y cae 10 por kilómetro. Compatibilidad de tamaño aporta 25 si acepta al menos uno de los tamaños presentes o si no hay dato. Disponibilidad aporta 20 si coincide el momento actual. Capacidad libre aporta hasta 15 según la proporción de espacio disponible. Los candidatos se ordenan de mayor a menor y se devuelve un máximo de tres.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modalidad manual deja la selección a la asociación. En semi-automático, el plazo depende de la condición más grave y después el sistema elige al primero. En automático, el timeout es cero y el cron propone el caso al primer candidato en su siguiente ejecución. El cron está diseñado para correr cada cinco minutos. Sin candidatos elegibles, el reporte permanece con la asociación sin voluntario.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 ofrecer el caso, staff_asignado_id guarda al voluntario, confirmacion_voluntario queda en esperando y el reporte permanece asignado. Si acepta, el backend valida identidad y estado, cambia la confirmación a confirmado, mueve el reporte a en_camino y registra el evento. Si rechaza, se limpia la asignación, se registra el rechazo y queda excluido para ese reporte. El frontend consulta cada cinco segundos, recarga el ranking y muestra el siguiente candidato disponible. Cierre: el valor del sistema está en encadenar cobertura institucional, filtros estrictos, ranking transparente y confirmación humana.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C802B"/>
        </a:solidFill>
        <a:effectLst/>
      </p:bgPr>
    </p:bg>
    <p:spTree>
      <p:nvGrpSpPr>
        <p:cNvPr id="1" name=""/>
        <p:cNvGrpSpPr/>
        <p:nvPr/>
      </p:nvGrpSpPr>
      <p:grpSpPr>
        <a:xfrm>
          <a:off x="0" y="0"/>
          <a:ext cx="0" cy="0"/>
          <a:chOff x="0" y="0"/>
          <a:chExt cx="0" cy="0"/>
        </a:xfrm>
      </p:grpSpPr>
      <p:sp>
        <p:nvSpPr>
          <p:cNvPr id="14" name="gradient-bg">
            <a:extLst>
              <a:ext uri="{FF2B5EF4-FFF2-40B4-BE49-F238E27FC236}">
                <a16:creationId xmlns:a16="http://schemas.microsoft.com/office/drawing/2014/main" id="{766A4226-070D-4D1D-AA44-F9539A7C0C1A}"/>
              </a:ext>
            </a:extLst>
          </p:cNvPr>
          <p:cNvSpPr>
            <a:spLocks noGrp="1"/>
          </p:cNvSpPr>
          <p:nvPr/>
        </p:nvSpPr>
        <p:spPr>
          <a:xfrm>
            <a:off x="0" y="0"/>
            <a:ext cx="12192000" cy="6858000"/>
          </a:xfrm>
          <a:prstGeom prst="rect">
            <a:avLst/>
          </a:prstGeom>
          <a:gradFill>
            <a:gsLst>
              <a:gs pos="0">
                <a:srgbClr val="EC802B"/>
              </a:gs>
              <a:gs pos="100000">
                <a:srgbClr val="D4621A"/>
              </a:gs>
            </a:gsLst>
            <a:lin ang="0"/>
          </a:gradFill>
          <a:ln w="0">
            <a:noFill/>
            <a:prstDash val="solid"/>
          </a:ln>
        </p:spPr>
        <p:txBody>
          <a:bodyPr/>
          <a:lstStyle/>
          <a:p>
            <a:endParaRPr lang="es-MX"/>
          </a:p>
        </p:txBody>
      </p:sp>
      <p:sp>
        <p:nvSpPr>
          <p:cNvPr id="2" name="brand">
            <a:extLst>
              <a:ext uri="{FF2B5EF4-FFF2-40B4-BE49-F238E27FC236}">
                <a16:creationId xmlns:a16="http://schemas.microsoft.com/office/drawing/2014/main" id="{28457123-1D9B-4134-B49D-57C02958B379}"/>
              </a:ext>
            </a:extLst>
          </p:cNvPr>
          <p:cNvSpPr>
            <a:spLocks noGrp="1"/>
          </p:cNvSpPr>
          <p:nvPr/>
        </p:nvSpPr>
        <p:spPr>
          <a:xfrm>
            <a:off x="685800" y="533400"/>
            <a:ext cx="2286000" cy="323850"/>
          </a:xfrm>
          <a:prstGeom prst="rect">
            <a:avLst/>
          </a:prstGeom>
          <a:noFill/>
          <a:ln w="0">
            <a:noFill/>
            <a:prstDash val="solid"/>
          </a:ln>
        </p:spPr>
        <p:txBody>
          <a:bodyPr anchor="ctr"/>
          <a:lstStyle/>
          <a:p>
            <a:pPr algn="l">
              <a:defRPr sz="1350" b="1">
                <a:solidFill>
                  <a:srgbClr val="FFFFFF"/>
                </a:solidFill>
              </a:defRPr>
            </a:pPr>
            <a:r>
              <a:rPr sz="1350" b="1">
                <a:solidFill>
                  <a:srgbClr val="FFFFFF"/>
                </a:solidFill>
              </a:rPr>
              <a:t>PAWALERT</a:t>
            </a:r>
          </a:p>
        </p:txBody>
      </p:sp>
      <p:sp>
        <p:nvSpPr>
          <p:cNvPr id="3" name="title">
            <a:extLst>
              <a:ext uri="{FF2B5EF4-FFF2-40B4-BE49-F238E27FC236}">
                <a16:creationId xmlns:a16="http://schemas.microsoft.com/office/drawing/2014/main" id="{3470EC47-25CF-49F2-8976-23E6D17F5B77}"/>
              </a:ext>
            </a:extLst>
          </p:cNvPr>
          <p:cNvSpPr>
            <a:spLocks noGrp="1"/>
          </p:cNvSpPr>
          <p:nvPr/>
        </p:nvSpPr>
        <p:spPr>
          <a:xfrm>
            <a:off x="685800" y="1638300"/>
            <a:ext cx="7524750" cy="1809750"/>
          </a:xfrm>
          <a:prstGeom prst="rect">
            <a:avLst/>
          </a:prstGeom>
          <a:noFill/>
          <a:ln w="0">
            <a:noFill/>
            <a:prstDash val="solid"/>
          </a:ln>
        </p:spPr>
        <p:txBody>
          <a:bodyPr anchor="ctr"/>
          <a:lstStyle/>
          <a:p>
            <a:pPr algn="l">
              <a:defRPr sz="4050" b="1">
                <a:solidFill>
                  <a:srgbClr val="FFFFFF"/>
                </a:solidFill>
              </a:defRPr>
            </a:pPr>
            <a:r>
              <a:rPr sz="4050" b="1" dirty="0">
                <a:solidFill>
                  <a:srgbClr val="FFFFFF"/>
                </a:solidFill>
              </a:rPr>
              <a:t>Cómo </a:t>
            </a:r>
            <a:r>
              <a:rPr sz="4050" b="1" dirty="0" err="1">
                <a:solidFill>
                  <a:srgbClr val="FFFFFF"/>
                </a:solidFill>
              </a:rPr>
              <a:t>PawAlert</a:t>
            </a:r>
            <a:r>
              <a:rPr sz="4050" b="1" dirty="0">
                <a:solidFill>
                  <a:srgbClr val="FFFFFF"/>
                </a:solidFill>
              </a:rPr>
              <a:t> </a:t>
            </a:r>
            <a:r>
              <a:rPr sz="4050" b="1" dirty="0" err="1">
                <a:solidFill>
                  <a:srgbClr val="FFFFFF"/>
                </a:solidFill>
              </a:rPr>
              <a:t>encuentra</a:t>
            </a:r>
            <a:endParaRPr sz="4050" b="1" dirty="0">
              <a:solidFill>
                <a:srgbClr val="FFFFFF"/>
              </a:solidFill>
            </a:endParaRPr>
          </a:p>
          <a:p>
            <a:pPr algn="l">
              <a:defRPr sz="4050" b="1">
                <a:solidFill>
                  <a:srgbClr val="FFFFFF"/>
                </a:solidFill>
              </a:defRPr>
            </a:pPr>
            <a:r>
              <a:rPr sz="4050" b="1" dirty="0">
                <a:solidFill>
                  <a:srgbClr val="FFFFFF"/>
                </a:solidFill>
              </a:rPr>
              <a:t>la </a:t>
            </a:r>
            <a:r>
              <a:rPr sz="4050" b="1" dirty="0" err="1">
                <a:solidFill>
                  <a:srgbClr val="FFFFFF"/>
                </a:solidFill>
              </a:rPr>
              <a:t>ayuda</a:t>
            </a:r>
            <a:r>
              <a:rPr sz="4050" b="1" dirty="0">
                <a:solidFill>
                  <a:srgbClr val="FFFFFF"/>
                </a:solidFill>
              </a:rPr>
              <a:t> </a:t>
            </a:r>
            <a:r>
              <a:rPr sz="4050" b="1" dirty="0" err="1">
                <a:solidFill>
                  <a:srgbClr val="FFFFFF"/>
                </a:solidFill>
              </a:rPr>
              <a:t>adecuada</a:t>
            </a:r>
            <a:endParaRPr sz="4050" b="1" dirty="0">
              <a:solidFill>
                <a:srgbClr val="FFFFFF"/>
              </a:solidFill>
            </a:endParaRPr>
          </a:p>
        </p:txBody>
      </p:sp>
      <p:sp>
        <p:nvSpPr>
          <p:cNvPr id="4" name="subtitle">
            <a:extLst>
              <a:ext uri="{FF2B5EF4-FFF2-40B4-BE49-F238E27FC236}">
                <a16:creationId xmlns:a16="http://schemas.microsoft.com/office/drawing/2014/main" id="{2B0FB083-113C-4536-BC9F-D2FB36B98229}"/>
              </a:ext>
            </a:extLst>
          </p:cNvPr>
          <p:cNvSpPr>
            <a:spLocks noGrp="1"/>
          </p:cNvSpPr>
          <p:nvPr/>
        </p:nvSpPr>
        <p:spPr>
          <a:xfrm>
            <a:off x="723900" y="3714750"/>
            <a:ext cx="6858000" cy="952500"/>
          </a:xfrm>
          <a:prstGeom prst="rect">
            <a:avLst/>
          </a:prstGeom>
          <a:noFill/>
          <a:ln w="0">
            <a:noFill/>
            <a:prstDash val="solid"/>
          </a:ln>
        </p:spPr>
        <p:txBody>
          <a:bodyPr anchor="ctr"/>
          <a:lstStyle/>
          <a:p>
            <a:pPr algn="l">
              <a:defRPr sz="1725" b="0">
                <a:solidFill>
                  <a:srgbClr val="FFE8D2"/>
                </a:solidFill>
              </a:defRPr>
            </a:pPr>
            <a:r>
              <a:rPr sz="1725" b="0" dirty="0">
                <a:solidFill>
                  <a:srgbClr val="FFE8D2"/>
                </a:solidFill>
              </a:rPr>
              <a:t>El matching </a:t>
            </a:r>
            <a:r>
              <a:rPr sz="1725" b="0" dirty="0" err="1">
                <a:solidFill>
                  <a:srgbClr val="FFE8D2"/>
                </a:solidFill>
              </a:rPr>
              <a:t>conecta</a:t>
            </a:r>
            <a:r>
              <a:rPr sz="1725" b="0" dirty="0">
                <a:solidFill>
                  <a:srgbClr val="FFE8D2"/>
                </a:solidFill>
              </a:rPr>
              <a:t> </a:t>
            </a:r>
            <a:r>
              <a:rPr sz="1725" b="0" dirty="0" err="1">
                <a:solidFill>
                  <a:srgbClr val="FFE8D2"/>
                </a:solidFill>
              </a:rPr>
              <a:t>cada</a:t>
            </a:r>
            <a:r>
              <a:rPr sz="1725" b="0" dirty="0">
                <a:solidFill>
                  <a:srgbClr val="FFE8D2"/>
                </a:solidFill>
              </a:rPr>
              <a:t> </a:t>
            </a:r>
            <a:r>
              <a:rPr sz="1725" b="0" dirty="0" err="1">
                <a:solidFill>
                  <a:srgbClr val="FFE8D2"/>
                </a:solidFill>
              </a:rPr>
              <a:t>rescate</a:t>
            </a:r>
            <a:r>
              <a:rPr sz="1725" b="0" dirty="0">
                <a:solidFill>
                  <a:srgbClr val="FFE8D2"/>
                </a:solidFill>
              </a:rPr>
              <a:t> con </a:t>
            </a:r>
            <a:r>
              <a:rPr sz="1725" b="0" dirty="0" err="1">
                <a:solidFill>
                  <a:srgbClr val="FFE8D2"/>
                </a:solidFill>
              </a:rPr>
              <a:t>una</a:t>
            </a:r>
            <a:r>
              <a:rPr sz="1725" b="0" dirty="0">
                <a:solidFill>
                  <a:srgbClr val="FFE8D2"/>
                </a:solidFill>
              </a:rPr>
              <a:t> </a:t>
            </a:r>
            <a:r>
              <a:rPr sz="1725" b="0" dirty="0" err="1">
                <a:solidFill>
                  <a:srgbClr val="FFE8D2"/>
                </a:solidFill>
              </a:rPr>
              <a:t>asociación</a:t>
            </a:r>
            <a:r>
              <a:rPr sz="1725" b="0" dirty="0">
                <a:solidFill>
                  <a:srgbClr val="FFE8D2"/>
                </a:solidFill>
              </a:rPr>
              <a:t> </a:t>
            </a:r>
            <a:r>
              <a:rPr sz="1725" b="0" dirty="0" err="1">
                <a:solidFill>
                  <a:srgbClr val="FFE8D2"/>
                </a:solidFill>
              </a:rPr>
              <a:t>elegible</a:t>
            </a:r>
            <a:r>
              <a:rPr sz="1725" b="0" dirty="0">
                <a:solidFill>
                  <a:srgbClr val="FFE8D2"/>
                </a:solidFill>
              </a:rPr>
              <a:t> y hasta </a:t>
            </a:r>
            <a:r>
              <a:rPr sz="1725" b="0" dirty="0" err="1">
                <a:solidFill>
                  <a:srgbClr val="FFE8D2"/>
                </a:solidFill>
              </a:rPr>
              <a:t>tres</a:t>
            </a:r>
            <a:r>
              <a:rPr sz="1725" b="0" dirty="0">
                <a:solidFill>
                  <a:srgbClr val="FFE8D2"/>
                </a:solidFill>
              </a:rPr>
              <a:t> </a:t>
            </a:r>
            <a:r>
              <a:rPr sz="1725" b="0" dirty="0" err="1">
                <a:solidFill>
                  <a:srgbClr val="FFE8D2"/>
                </a:solidFill>
              </a:rPr>
              <a:t>voluntarios</a:t>
            </a:r>
            <a:r>
              <a:rPr sz="1725" b="0" dirty="0">
                <a:solidFill>
                  <a:srgbClr val="FFE8D2"/>
                </a:solidFill>
              </a:rPr>
              <a:t> compatibles.</a:t>
            </a:r>
          </a:p>
        </p:txBody>
      </p:sp>
      <p:sp>
        <p:nvSpPr>
          <p:cNvPr id="5" name="signal">
            <a:extLst>
              <a:ext uri="{FF2B5EF4-FFF2-40B4-BE49-F238E27FC236}">
                <a16:creationId xmlns:a16="http://schemas.microsoft.com/office/drawing/2014/main" id="{ED894D57-97CC-4DEB-903C-418210A57343}"/>
              </a:ext>
            </a:extLst>
          </p:cNvPr>
          <p:cNvSpPr>
            <a:spLocks noGrp="1"/>
          </p:cNvSpPr>
          <p:nvPr/>
        </p:nvSpPr>
        <p:spPr>
          <a:xfrm>
            <a:off x="8982075" y="1257300"/>
            <a:ext cx="2095500" cy="4095750"/>
          </a:xfrm>
          <a:prstGeom prst="roundRect">
            <a:avLst>
              <a:gd name="adj" fmla="val 7273"/>
            </a:avLst>
          </a:prstGeom>
          <a:solidFill>
            <a:srgbClr val="FFFFFF"/>
          </a:solidFill>
          <a:ln w="0">
            <a:noFill/>
            <a:prstDash val="solid"/>
          </a:ln>
        </p:spPr>
        <p:txBody>
          <a:bodyPr/>
          <a:lstStyle/>
          <a:p>
            <a:endParaRPr lang="es-MX"/>
          </a:p>
        </p:txBody>
      </p:sp>
      <p:sp>
        <p:nvSpPr>
          <p:cNvPr id="6" name="paw">
            <a:extLst>
              <a:ext uri="{FF2B5EF4-FFF2-40B4-BE49-F238E27FC236}">
                <a16:creationId xmlns:a16="http://schemas.microsoft.com/office/drawing/2014/main" id="{AF9AE956-F6E6-402B-9F85-6F6BBBF16E3E}"/>
              </a:ext>
            </a:extLst>
          </p:cNvPr>
          <p:cNvSpPr>
            <a:spLocks noGrp="1"/>
          </p:cNvSpPr>
          <p:nvPr/>
        </p:nvSpPr>
        <p:spPr>
          <a:xfrm>
            <a:off x="9353550" y="1562100"/>
            <a:ext cx="1352550" cy="1104900"/>
          </a:xfrm>
          <a:prstGeom prst="rect">
            <a:avLst/>
          </a:prstGeom>
          <a:noFill/>
          <a:ln w="0">
            <a:noFill/>
            <a:prstDash val="solid"/>
          </a:ln>
        </p:spPr>
        <p:txBody>
          <a:bodyPr anchor="ctr"/>
          <a:lstStyle/>
          <a:p>
            <a:pPr algn="ctr">
              <a:defRPr sz="5100" b="1">
                <a:solidFill>
                  <a:srgbClr val="EC802B"/>
                </a:solidFill>
              </a:defRPr>
            </a:pPr>
            <a:r>
              <a:rPr sz="5100" b="1">
                <a:solidFill>
                  <a:srgbClr val="EC802B"/>
                </a:solidFill>
              </a:rPr>
              <a:t>🐾</a:t>
            </a:r>
          </a:p>
        </p:txBody>
      </p:sp>
      <p:sp>
        <p:nvSpPr>
          <p:cNvPr id="7" name="chip-ASOCIACIÓN">
            <a:extLst>
              <a:ext uri="{FF2B5EF4-FFF2-40B4-BE49-F238E27FC236}">
                <a16:creationId xmlns:a16="http://schemas.microsoft.com/office/drawing/2014/main" id="{44E4F66E-3694-4D06-BB24-877AA88849AD}"/>
              </a:ext>
            </a:extLst>
          </p:cNvPr>
          <p:cNvSpPr>
            <a:spLocks noGrp="1"/>
          </p:cNvSpPr>
          <p:nvPr/>
        </p:nvSpPr>
        <p:spPr>
          <a:xfrm>
            <a:off x="9172575" y="3105150"/>
            <a:ext cx="1714500" cy="323850"/>
          </a:xfrm>
          <a:prstGeom prst="roundRect">
            <a:avLst>
              <a:gd name="adj" fmla="val 47059"/>
            </a:avLst>
          </a:prstGeom>
          <a:solidFill>
            <a:srgbClr val="EC802B"/>
          </a:solidFill>
          <a:ln w="0">
            <a:noFill/>
            <a:prstDash val="solid"/>
          </a:ln>
        </p:spPr>
        <p:txBody>
          <a:bodyPr/>
          <a:lstStyle/>
          <a:p>
            <a:endParaRPr lang="es-MX"/>
          </a:p>
        </p:txBody>
      </p:sp>
      <p:sp>
        <p:nvSpPr>
          <p:cNvPr id="8" name="chip-text-ASOCIACIÓN">
            <a:extLst>
              <a:ext uri="{FF2B5EF4-FFF2-40B4-BE49-F238E27FC236}">
                <a16:creationId xmlns:a16="http://schemas.microsoft.com/office/drawing/2014/main" id="{3F652D92-86AC-4925-AE69-6453F894C36C}"/>
              </a:ext>
            </a:extLst>
          </p:cNvPr>
          <p:cNvSpPr>
            <a:spLocks noGrp="1"/>
          </p:cNvSpPr>
          <p:nvPr/>
        </p:nvSpPr>
        <p:spPr>
          <a:xfrm>
            <a:off x="9267825" y="3114675"/>
            <a:ext cx="1524000" cy="295275"/>
          </a:xfrm>
          <a:prstGeom prst="rect">
            <a:avLst/>
          </a:prstGeom>
          <a:noFill/>
          <a:ln w="0">
            <a:noFill/>
            <a:prstDash val="solid"/>
          </a:ln>
        </p:spPr>
        <p:txBody>
          <a:bodyPr anchor="ctr"/>
          <a:lstStyle/>
          <a:p>
            <a:pPr algn="ctr">
              <a:defRPr sz="1125" b="1">
                <a:solidFill>
                  <a:srgbClr val="FFFFFF"/>
                </a:solidFill>
              </a:defRPr>
            </a:pPr>
            <a:r>
              <a:rPr sz="1125" b="1">
                <a:solidFill>
                  <a:srgbClr val="FFFFFF"/>
                </a:solidFill>
              </a:rPr>
              <a:t>ASOCIACIÓN</a:t>
            </a:r>
          </a:p>
        </p:txBody>
      </p:sp>
      <p:sp>
        <p:nvSpPr>
          <p:cNvPr id="9" name="chip-VOLUNTARIOS">
            <a:extLst>
              <a:ext uri="{FF2B5EF4-FFF2-40B4-BE49-F238E27FC236}">
                <a16:creationId xmlns:a16="http://schemas.microsoft.com/office/drawing/2014/main" id="{23853851-138D-4143-B980-FF2C2A55C0D0}"/>
              </a:ext>
            </a:extLst>
          </p:cNvPr>
          <p:cNvSpPr>
            <a:spLocks noGrp="1"/>
          </p:cNvSpPr>
          <p:nvPr/>
        </p:nvSpPr>
        <p:spPr>
          <a:xfrm>
            <a:off x="9172575" y="3648075"/>
            <a:ext cx="1714500" cy="323850"/>
          </a:xfrm>
          <a:prstGeom prst="roundRect">
            <a:avLst>
              <a:gd name="adj" fmla="val 47059"/>
            </a:avLst>
          </a:prstGeom>
          <a:solidFill>
            <a:srgbClr val="66BCB4"/>
          </a:solidFill>
          <a:ln w="0">
            <a:noFill/>
            <a:prstDash val="solid"/>
          </a:ln>
        </p:spPr>
        <p:txBody>
          <a:bodyPr/>
          <a:lstStyle/>
          <a:p>
            <a:endParaRPr lang="es-MX"/>
          </a:p>
        </p:txBody>
      </p:sp>
      <p:sp>
        <p:nvSpPr>
          <p:cNvPr id="10" name="chip-text-VOLUNTARIOS">
            <a:extLst>
              <a:ext uri="{FF2B5EF4-FFF2-40B4-BE49-F238E27FC236}">
                <a16:creationId xmlns:a16="http://schemas.microsoft.com/office/drawing/2014/main" id="{7F8AB12D-59B0-4158-8A9B-53B98132B3E3}"/>
              </a:ext>
            </a:extLst>
          </p:cNvPr>
          <p:cNvSpPr>
            <a:spLocks noGrp="1"/>
          </p:cNvSpPr>
          <p:nvPr/>
        </p:nvSpPr>
        <p:spPr>
          <a:xfrm>
            <a:off x="9267825" y="3657600"/>
            <a:ext cx="1524000" cy="295275"/>
          </a:xfrm>
          <a:prstGeom prst="rect">
            <a:avLst/>
          </a:prstGeom>
          <a:noFill/>
          <a:ln w="0">
            <a:noFill/>
            <a:prstDash val="solid"/>
          </a:ln>
        </p:spPr>
        <p:txBody>
          <a:bodyPr anchor="ctr"/>
          <a:lstStyle/>
          <a:p>
            <a:pPr algn="ctr">
              <a:defRPr sz="1125" b="1">
                <a:solidFill>
                  <a:srgbClr val="2E2A26"/>
                </a:solidFill>
              </a:defRPr>
            </a:pPr>
            <a:r>
              <a:rPr sz="1125" b="1">
                <a:solidFill>
                  <a:srgbClr val="2E2A26"/>
                </a:solidFill>
              </a:rPr>
              <a:t>VOLUNTARIOS</a:t>
            </a:r>
          </a:p>
        </p:txBody>
      </p:sp>
      <p:sp>
        <p:nvSpPr>
          <p:cNvPr id="11" name="chip-CONFIRMACIÓN">
            <a:extLst>
              <a:ext uri="{FF2B5EF4-FFF2-40B4-BE49-F238E27FC236}">
                <a16:creationId xmlns:a16="http://schemas.microsoft.com/office/drawing/2014/main" id="{1A444331-F13F-4348-BD37-7CD4B366CF96}"/>
              </a:ext>
            </a:extLst>
          </p:cNvPr>
          <p:cNvSpPr>
            <a:spLocks noGrp="1"/>
          </p:cNvSpPr>
          <p:nvPr/>
        </p:nvSpPr>
        <p:spPr>
          <a:xfrm>
            <a:off x="9172575" y="4191000"/>
            <a:ext cx="1714500" cy="323850"/>
          </a:xfrm>
          <a:prstGeom prst="roundRect">
            <a:avLst>
              <a:gd name="adj" fmla="val 47059"/>
            </a:avLst>
          </a:prstGeom>
          <a:solidFill>
            <a:srgbClr val="EDC55B"/>
          </a:solidFill>
          <a:ln w="0">
            <a:noFill/>
            <a:prstDash val="solid"/>
          </a:ln>
        </p:spPr>
        <p:txBody>
          <a:bodyPr/>
          <a:lstStyle/>
          <a:p>
            <a:endParaRPr lang="es-MX"/>
          </a:p>
        </p:txBody>
      </p:sp>
      <p:sp>
        <p:nvSpPr>
          <p:cNvPr id="12" name="chip-text-CONFIRMACIÓN">
            <a:extLst>
              <a:ext uri="{FF2B5EF4-FFF2-40B4-BE49-F238E27FC236}">
                <a16:creationId xmlns:a16="http://schemas.microsoft.com/office/drawing/2014/main" id="{EBAEF3AE-8246-4BC4-AF2B-11BD58FC0EE2}"/>
              </a:ext>
            </a:extLst>
          </p:cNvPr>
          <p:cNvSpPr>
            <a:spLocks noGrp="1"/>
          </p:cNvSpPr>
          <p:nvPr/>
        </p:nvSpPr>
        <p:spPr>
          <a:xfrm>
            <a:off x="9267825" y="4200525"/>
            <a:ext cx="1524000" cy="295275"/>
          </a:xfrm>
          <a:prstGeom prst="rect">
            <a:avLst/>
          </a:prstGeom>
          <a:noFill/>
          <a:ln w="0">
            <a:noFill/>
            <a:prstDash val="solid"/>
          </a:ln>
        </p:spPr>
        <p:txBody>
          <a:bodyPr anchor="ctr"/>
          <a:lstStyle/>
          <a:p>
            <a:pPr algn="ctr">
              <a:defRPr sz="1125" b="1">
                <a:solidFill>
                  <a:srgbClr val="2E2A26"/>
                </a:solidFill>
              </a:defRPr>
            </a:pPr>
            <a:r>
              <a:rPr sz="1125" b="1">
                <a:solidFill>
                  <a:srgbClr val="2E2A26"/>
                </a:solidFill>
              </a:rPr>
              <a:t>CONFIRMACIÓN</a:t>
            </a:r>
          </a:p>
        </p:txBody>
      </p:sp>
      <p:sp>
        <p:nvSpPr>
          <p:cNvPr id="13" name="footer">
            <a:extLst>
              <a:ext uri="{FF2B5EF4-FFF2-40B4-BE49-F238E27FC236}">
                <a16:creationId xmlns:a16="http://schemas.microsoft.com/office/drawing/2014/main" id="{40F8AB66-58F5-4F46-836A-F69CFAE7B1FE}"/>
              </a:ext>
            </a:extLst>
          </p:cNvPr>
          <p:cNvSpPr>
            <a:spLocks noGrp="1"/>
          </p:cNvSpPr>
          <p:nvPr/>
        </p:nvSpPr>
        <p:spPr>
          <a:xfrm>
            <a:off x="685800" y="6096000"/>
            <a:ext cx="5715000" cy="285750"/>
          </a:xfrm>
          <a:prstGeom prst="rect">
            <a:avLst/>
          </a:prstGeom>
          <a:noFill/>
          <a:ln w="0">
            <a:noFill/>
            <a:prstDash val="solid"/>
          </a:ln>
        </p:spPr>
        <p:txBody>
          <a:bodyPr anchor="ctr"/>
          <a:lstStyle/>
          <a:p>
            <a:pPr algn="l">
              <a:defRPr sz="1200" b="0">
                <a:solidFill>
                  <a:srgbClr val="FFE8D2"/>
                </a:solidFill>
              </a:defRPr>
            </a:pPr>
            <a:r>
              <a:rPr sz="1200" b="0">
                <a:solidFill>
                  <a:srgbClr val="FFE8D2"/>
                </a:solidFill>
              </a:rPr>
              <a:t>Sistema de asignación para rescates de animales</a:t>
            </a:r>
          </a:p>
        </p:txBody>
      </p:sp>
    </p:spTree>
    <p:extLst>
      <p:ext uri="{BB962C8B-B14F-4D97-AF65-F5344CB8AC3E}">
        <p14:creationId xmlns:p14="http://schemas.microsoft.com/office/powerpoint/2010/main" val="1387078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EAD8"/>
        </a:solidFill>
        <a:effectLst/>
      </p:bgPr>
    </p:bg>
    <p:spTree>
      <p:nvGrpSpPr>
        <p:cNvPr id="1" name=""/>
        <p:cNvGrpSpPr/>
        <p:nvPr/>
      </p:nvGrpSpPr>
      <p:grpSpPr>
        <a:xfrm>
          <a:off x="0" y="0"/>
          <a:ext cx="0" cy="0"/>
          <a:chOff x="0" y="0"/>
          <a:chExt cx="0" cy="0"/>
        </a:xfrm>
      </p:grpSpPr>
      <p:sp>
        <p:nvSpPr>
          <p:cNvPr id="23" name="kicker">
            <a:extLst>
              <a:ext uri="{FF2B5EF4-FFF2-40B4-BE49-F238E27FC236}">
                <a16:creationId xmlns:a16="http://schemas.microsoft.com/office/drawing/2014/main" id="{892B6136-C322-4920-A662-F36D092CCA71}"/>
              </a:ext>
            </a:extLst>
          </p:cNvPr>
          <p:cNvSpPr>
            <a:spLocks noGrp="1"/>
          </p:cNvSpPr>
          <p:nvPr/>
        </p:nvSpPr>
        <p:spPr>
          <a:xfrm>
            <a:off x="685800" y="400050"/>
            <a:ext cx="7239000" cy="266700"/>
          </a:xfrm>
          <a:prstGeom prst="rect">
            <a:avLst/>
          </a:prstGeom>
          <a:noFill/>
          <a:ln w="0">
            <a:noFill/>
            <a:prstDash val="solid"/>
          </a:ln>
        </p:spPr>
        <p:txBody>
          <a:bodyPr anchor="ctr"/>
          <a:lstStyle/>
          <a:p>
            <a:pPr algn="l">
              <a:defRPr sz="1200" b="1">
                <a:solidFill>
                  <a:srgbClr val="EC802B"/>
                </a:solidFill>
              </a:defRPr>
            </a:pPr>
            <a:r>
              <a:rPr sz="1200" b="1">
                <a:solidFill>
                  <a:srgbClr val="EC802B"/>
                </a:solidFill>
              </a:rPr>
              <a:t>LA LÓGICA COMPLETA</a:t>
            </a:r>
          </a:p>
        </p:txBody>
      </p:sp>
      <p:sp>
        <p:nvSpPr>
          <p:cNvPr id="2" name="title">
            <a:extLst>
              <a:ext uri="{FF2B5EF4-FFF2-40B4-BE49-F238E27FC236}">
                <a16:creationId xmlns:a16="http://schemas.microsoft.com/office/drawing/2014/main" id="{3657B231-0738-48D3-AB54-C123958E8AF6}"/>
              </a:ext>
            </a:extLst>
          </p:cNvPr>
          <p:cNvSpPr>
            <a:spLocks noGrp="1"/>
          </p:cNvSpPr>
          <p:nvPr/>
        </p:nvSpPr>
        <p:spPr>
          <a:xfrm>
            <a:off x="685800" y="723900"/>
            <a:ext cx="10382250" cy="647700"/>
          </a:xfrm>
          <a:prstGeom prst="rect">
            <a:avLst/>
          </a:prstGeom>
          <a:noFill/>
          <a:ln w="0">
            <a:noFill/>
            <a:prstDash val="solid"/>
          </a:ln>
        </p:spPr>
        <p:txBody>
          <a:bodyPr anchor="ctr"/>
          <a:lstStyle/>
          <a:p>
            <a:pPr algn="l">
              <a:defRPr sz="2850" b="1">
                <a:solidFill>
                  <a:srgbClr val="2E2A26"/>
                </a:solidFill>
              </a:defRPr>
            </a:pPr>
            <a:r>
              <a:rPr sz="2850" b="1">
                <a:solidFill>
                  <a:srgbClr val="2E2A26"/>
                </a:solidFill>
              </a:rPr>
              <a:t>Tres decisiones convierten un reporte en un rescate en camino</a:t>
            </a:r>
          </a:p>
        </p:txBody>
      </p:sp>
      <p:sp>
        <p:nvSpPr>
          <p:cNvPr id="3" name="page">
            <a:extLst>
              <a:ext uri="{FF2B5EF4-FFF2-40B4-BE49-F238E27FC236}">
                <a16:creationId xmlns:a16="http://schemas.microsoft.com/office/drawing/2014/main" id="{0DB2AEBF-B9E0-48C4-8769-67CA7730566B}"/>
              </a:ext>
            </a:extLst>
          </p:cNvPr>
          <p:cNvSpPr>
            <a:spLocks noGrp="1"/>
          </p:cNvSpPr>
          <p:nvPr/>
        </p:nvSpPr>
        <p:spPr>
          <a:xfrm>
            <a:off x="11049000" y="457200"/>
            <a:ext cx="457200" cy="266700"/>
          </a:xfrm>
          <a:prstGeom prst="rect">
            <a:avLst/>
          </a:prstGeom>
          <a:noFill/>
          <a:ln w="0">
            <a:noFill/>
            <a:prstDash val="solid"/>
          </a:ln>
        </p:spPr>
        <p:txBody>
          <a:bodyPr anchor="ctr"/>
          <a:lstStyle/>
          <a:p>
            <a:pPr algn="r">
              <a:defRPr sz="1125" b="1">
                <a:solidFill>
                  <a:srgbClr val="9B8B7E"/>
                </a:solidFill>
              </a:defRPr>
            </a:pPr>
            <a:r>
              <a:rPr sz="1125" b="1">
                <a:solidFill>
                  <a:srgbClr val="9B8B7E"/>
                </a:solidFill>
              </a:rPr>
              <a:t>02</a:t>
            </a:r>
          </a:p>
        </p:txBody>
      </p:sp>
      <p:sp>
        <p:nvSpPr>
          <p:cNvPr id="4" name="accent">
            <a:extLst>
              <a:ext uri="{FF2B5EF4-FFF2-40B4-BE49-F238E27FC236}">
                <a16:creationId xmlns:a16="http://schemas.microsoft.com/office/drawing/2014/main" id="{943FF145-5567-486E-B566-984B51F26FE5}"/>
              </a:ext>
            </a:extLst>
          </p:cNvPr>
          <p:cNvSpPr>
            <a:spLocks noGrp="1"/>
          </p:cNvSpPr>
          <p:nvPr/>
        </p:nvSpPr>
        <p:spPr>
          <a:xfrm>
            <a:off x="685800" y="1457325"/>
            <a:ext cx="914400" cy="47625"/>
          </a:xfrm>
          <a:prstGeom prst="rect">
            <a:avLst/>
          </a:prstGeom>
          <a:solidFill>
            <a:srgbClr val="EC802B"/>
          </a:solidFill>
          <a:ln w="0">
            <a:noFill/>
            <a:prstDash val="solid"/>
          </a:ln>
        </p:spPr>
        <p:txBody>
          <a:bodyPr/>
          <a:lstStyle/>
          <a:p>
            <a:endParaRPr lang="es-MX"/>
          </a:p>
        </p:txBody>
      </p:sp>
      <p:sp>
        <p:nvSpPr>
          <p:cNvPr id="5" name="flow-card-1">
            <a:extLst>
              <a:ext uri="{FF2B5EF4-FFF2-40B4-BE49-F238E27FC236}">
                <a16:creationId xmlns:a16="http://schemas.microsoft.com/office/drawing/2014/main" id="{B4E54A12-3E0F-414F-935B-7C2D67D3A6C9}"/>
              </a:ext>
            </a:extLst>
          </p:cNvPr>
          <p:cNvSpPr>
            <a:spLocks noGrp="1"/>
          </p:cNvSpPr>
          <p:nvPr/>
        </p:nvSpPr>
        <p:spPr>
          <a:xfrm>
            <a:off x="685800" y="2305050"/>
            <a:ext cx="3124200" cy="2857500"/>
          </a:xfrm>
          <a:prstGeom prst="roundRect">
            <a:avLst>
              <a:gd name="adj" fmla="val 5333"/>
            </a:avLst>
          </a:prstGeom>
          <a:solidFill>
            <a:srgbClr val="FFFFFF"/>
          </a:solidFill>
          <a:ln w="9525">
            <a:solidFill>
              <a:srgbClr val="E2D3C3"/>
            </a:solidFill>
            <a:prstDash val="solid"/>
          </a:ln>
        </p:spPr>
        <p:txBody>
          <a:bodyPr/>
          <a:lstStyle/>
          <a:p>
            <a:endParaRPr lang="es-MX"/>
          </a:p>
        </p:txBody>
      </p:sp>
      <p:sp>
        <p:nvSpPr>
          <p:cNvPr id="6" name="flow-num-1">
            <a:extLst>
              <a:ext uri="{FF2B5EF4-FFF2-40B4-BE49-F238E27FC236}">
                <a16:creationId xmlns:a16="http://schemas.microsoft.com/office/drawing/2014/main" id="{B0F6EBC7-31FE-4FC1-ACBF-4CEE7EB93C57}"/>
              </a:ext>
            </a:extLst>
          </p:cNvPr>
          <p:cNvSpPr>
            <a:spLocks noGrp="1"/>
          </p:cNvSpPr>
          <p:nvPr/>
        </p:nvSpPr>
        <p:spPr>
          <a:xfrm>
            <a:off x="914400" y="2533650"/>
            <a:ext cx="514350" cy="514350"/>
          </a:xfrm>
          <a:prstGeom prst="roundRect">
            <a:avLst>
              <a:gd name="adj" fmla="val 29630"/>
            </a:avLst>
          </a:prstGeom>
          <a:solidFill>
            <a:srgbClr val="EC802B"/>
          </a:solidFill>
          <a:ln w="0">
            <a:noFill/>
            <a:prstDash val="solid"/>
          </a:ln>
        </p:spPr>
        <p:txBody>
          <a:bodyPr/>
          <a:lstStyle/>
          <a:p>
            <a:endParaRPr lang="es-MX"/>
          </a:p>
        </p:txBody>
      </p:sp>
      <p:sp>
        <p:nvSpPr>
          <p:cNvPr id="7" name="flow-num-text-1">
            <a:extLst>
              <a:ext uri="{FF2B5EF4-FFF2-40B4-BE49-F238E27FC236}">
                <a16:creationId xmlns:a16="http://schemas.microsoft.com/office/drawing/2014/main" id="{C656AE12-F841-439A-ABB1-3F7F26879B25}"/>
              </a:ext>
            </a:extLst>
          </p:cNvPr>
          <p:cNvSpPr>
            <a:spLocks noGrp="1"/>
          </p:cNvSpPr>
          <p:nvPr/>
        </p:nvSpPr>
        <p:spPr>
          <a:xfrm>
            <a:off x="914400" y="2533650"/>
            <a:ext cx="514350" cy="514350"/>
          </a:xfrm>
          <a:prstGeom prst="rect">
            <a:avLst/>
          </a:prstGeom>
          <a:noFill/>
          <a:ln w="0">
            <a:noFill/>
            <a:prstDash val="solid"/>
          </a:ln>
        </p:spPr>
        <p:txBody>
          <a:bodyPr anchor="ctr"/>
          <a:lstStyle/>
          <a:p>
            <a:pPr algn="ctr">
              <a:defRPr sz="1800" b="1">
                <a:solidFill>
                  <a:srgbClr val="FFFFFF"/>
                </a:solidFill>
              </a:defRPr>
            </a:pPr>
            <a:r>
              <a:rPr sz="1800" b="1">
                <a:solidFill>
                  <a:srgbClr val="FFFFFF"/>
                </a:solidFill>
              </a:rPr>
              <a:t>1</a:t>
            </a:r>
          </a:p>
        </p:txBody>
      </p:sp>
      <p:sp>
        <p:nvSpPr>
          <p:cNvPr id="8" name="flow-title-1">
            <a:extLst>
              <a:ext uri="{FF2B5EF4-FFF2-40B4-BE49-F238E27FC236}">
                <a16:creationId xmlns:a16="http://schemas.microsoft.com/office/drawing/2014/main" id="{AC60D3DD-0F70-4FFA-AA41-A13FB4FACC05}"/>
              </a:ext>
            </a:extLst>
          </p:cNvPr>
          <p:cNvSpPr>
            <a:spLocks noGrp="1"/>
          </p:cNvSpPr>
          <p:nvPr/>
        </p:nvSpPr>
        <p:spPr>
          <a:xfrm>
            <a:off x="914400" y="3219450"/>
            <a:ext cx="2667000" cy="590550"/>
          </a:xfrm>
          <a:prstGeom prst="rect">
            <a:avLst/>
          </a:prstGeom>
          <a:noFill/>
          <a:ln w="0">
            <a:noFill/>
            <a:prstDash val="solid"/>
          </a:ln>
        </p:spPr>
        <p:txBody>
          <a:bodyPr anchor="ctr"/>
          <a:lstStyle/>
          <a:p>
            <a:pPr algn="l">
              <a:defRPr sz="1950" b="1">
                <a:solidFill>
                  <a:srgbClr val="2E2A26"/>
                </a:solidFill>
              </a:defRPr>
            </a:pPr>
            <a:r>
              <a:rPr sz="1950" b="1">
                <a:solidFill>
                  <a:srgbClr val="2E2A26"/>
                </a:solidFill>
              </a:rPr>
              <a:t>Encontrar asociación</a:t>
            </a:r>
          </a:p>
        </p:txBody>
      </p:sp>
      <p:sp>
        <p:nvSpPr>
          <p:cNvPr id="9" name="flow-body-1">
            <a:extLst>
              <a:ext uri="{FF2B5EF4-FFF2-40B4-BE49-F238E27FC236}">
                <a16:creationId xmlns:a16="http://schemas.microsoft.com/office/drawing/2014/main" id="{0E32AA4F-D2B2-449A-BB1B-6483B78B75A8}"/>
              </a:ext>
            </a:extLst>
          </p:cNvPr>
          <p:cNvSpPr>
            <a:spLocks noGrp="1"/>
          </p:cNvSpPr>
          <p:nvPr/>
        </p:nvSpPr>
        <p:spPr>
          <a:xfrm>
            <a:off x="914400" y="3914775"/>
            <a:ext cx="2667000" cy="933450"/>
          </a:xfrm>
          <a:prstGeom prst="rect">
            <a:avLst/>
          </a:prstGeom>
          <a:noFill/>
          <a:ln w="0">
            <a:noFill/>
            <a:prstDash val="solid"/>
          </a:ln>
        </p:spPr>
        <p:txBody>
          <a:bodyPr anchor="ctr"/>
          <a:lstStyle/>
          <a:p>
            <a:pPr algn="l">
              <a:defRPr sz="1350" b="0">
                <a:solidFill>
                  <a:srgbClr val="7A6A5E"/>
                </a:solidFill>
              </a:defRPr>
            </a:pPr>
            <a:r>
              <a:rPr sz="1350" b="0" dirty="0">
                <a:solidFill>
                  <a:srgbClr val="7A6A5E"/>
                </a:solidFill>
              </a:rPr>
              <a:t>La </a:t>
            </a:r>
            <a:r>
              <a:rPr sz="1350" b="0" dirty="0" err="1">
                <a:solidFill>
                  <a:srgbClr val="7A6A5E"/>
                </a:solidFill>
              </a:rPr>
              <a:t>más</a:t>
            </a:r>
            <a:r>
              <a:rPr sz="1350" b="0" dirty="0">
                <a:solidFill>
                  <a:srgbClr val="7A6A5E"/>
                </a:solidFill>
              </a:rPr>
              <a:t> </a:t>
            </a:r>
            <a:r>
              <a:rPr sz="1350" b="0" dirty="0" err="1">
                <a:solidFill>
                  <a:srgbClr val="7A6A5E"/>
                </a:solidFill>
              </a:rPr>
              <a:t>cercana</a:t>
            </a:r>
            <a:r>
              <a:rPr sz="1350" b="0" dirty="0">
                <a:solidFill>
                  <a:srgbClr val="7A6A5E"/>
                </a:solidFill>
              </a:rPr>
              <a:t> </a:t>
            </a:r>
            <a:r>
              <a:rPr sz="1350" b="0" dirty="0" err="1">
                <a:solidFill>
                  <a:srgbClr val="7A6A5E"/>
                </a:solidFill>
              </a:rPr>
              <a:t>que</a:t>
            </a:r>
            <a:r>
              <a:rPr sz="1350" b="0" dirty="0">
                <a:solidFill>
                  <a:srgbClr val="7A6A5E"/>
                </a:solidFill>
              </a:rPr>
              <a:t> </a:t>
            </a:r>
            <a:r>
              <a:rPr sz="1350" b="0" dirty="0" err="1">
                <a:solidFill>
                  <a:srgbClr val="7A6A5E"/>
                </a:solidFill>
              </a:rPr>
              <a:t>cubre</a:t>
            </a:r>
            <a:r>
              <a:rPr sz="1350" b="0" dirty="0">
                <a:solidFill>
                  <a:srgbClr val="7A6A5E"/>
                </a:solidFill>
              </a:rPr>
              <a:t> </a:t>
            </a:r>
            <a:r>
              <a:rPr sz="1350" b="0" dirty="0" err="1">
                <a:solidFill>
                  <a:srgbClr val="7A6A5E"/>
                </a:solidFill>
              </a:rPr>
              <a:t>todas</a:t>
            </a:r>
            <a:r>
              <a:rPr sz="1350" b="0" dirty="0">
                <a:solidFill>
                  <a:srgbClr val="7A6A5E"/>
                </a:solidFill>
              </a:rPr>
              <a:t> las </a:t>
            </a:r>
            <a:r>
              <a:rPr sz="1350" b="0" dirty="0" err="1">
                <a:solidFill>
                  <a:srgbClr val="7A6A5E"/>
                </a:solidFill>
              </a:rPr>
              <a:t>especies</a:t>
            </a:r>
            <a:r>
              <a:rPr sz="1350" b="0" dirty="0">
                <a:solidFill>
                  <a:srgbClr val="7A6A5E"/>
                </a:solidFill>
              </a:rPr>
              <a:t> y opera </a:t>
            </a:r>
            <a:r>
              <a:rPr sz="1350" b="0" dirty="0" err="1">
                <a:solidFill>
                  <a:srgbClr val="7A6A5E"/>
                </a:solidFill>
              </a:rPr>
              <a:t>dentro</a:t>
            </a:r>
            <a:r>
              <a:rPr sz="1350" b="0" dirty="0">
                <a:solidFill>
                  <a:srgbClr val="7A6A5E"/>
                </a:solidFill>
              </a:rPr>
              <a:t> de </a:t>
            </a:r>
            <a:r>
              <a:rPr sz="1350" b="0" dirty="0" err="1">
                <a:solidFill>
                  <a:srgbClr val="7A6A5E"/>
                </a:solidFill>
              </a:rPr>
              <a:t>su</a:t>
            </a:r>
            <a:r>
              <a:rPr sz="1350" b="0" dirty="0">
                <a:solidFill>
                  <a:srgbClr val="7A6A5E"/>
                </a:solidFill>
              </a:rPr>
              <a:t> radio.</a:t>
            </a:r>
          </a:p>
        </p:txBody>
      </p:sp>
      <p:sp>
        <p:nvSpPr>
          <p:cNvPr id="10" name="flow-card-2">
            <a:extLst>
              <a:ext uri="{FF2B5EF4-FFF2-40B4-BE49-F238E27FC236}">
                <a16:creationId xmlns:a16="http://schemas.microsoft.com/office/drawing/2014/main" id="{C8967511-D120-4B89-A3CC-7A7E71127BCC}"/>
              </a:ext>
            </a:extLst>
          </p:cNvPr>
          <p:cNvSpPr>
            <a:spLocks noGrp="1"/>
          </p:cNvSpPr>
          <p:nvPr/>
        </p:nvSpPr>
        <p:spPr>
          <a:xfrm>
            <a:off x="4533900" y="2305050"/>
            <a:ext cx="3124200" cy="2857500"/>
          </a:xfrm>
          <a:prstGeom prst="roundRect">
            <a:avLst>
              <a:gd name="adj" fmla="val 5333"/>
            </a:avLst>
          </a:prstGeom>
          <a:solidFill>
            <a:srgbClr val="FFFFFF"/>
          </a:solidFill>
          <a:ln w="9525">
            <a:solidFill>
              <a:srgbClr val="E2D3C3"/>
            </a:solidFill>
            <a:prstDash val="solid"/>
          </a:ln>
        </p:spPr>
        <p:txBody>
          <a:bodyPr/>
          <a:lstStyle/>
          <a:p>
            <a:endParaRPr lang="es-MX"/>
          </a:p>
        </p:txBody>
      </p:sp>
      <p:sp>
        <p:nvSpPr>
          <p:cNvPr id="11" name="flow-num-2">
            <a:extLst>
              <a:ext uri="{FF2B5EF4-FFF2-40B4-BE49-F238E27FC236}">
                <a16:creationId xmlns:a16="http://schemas.microsoft.com/office/drawing/2014/main" id="{FCC48739-8F8C-418B-8C68-4EFA1CCD8FED}"/>
              </a:ext>
            </a:extLst>
          </p:cNvPr>
          <p:cNvSpPr>
            <a:spLocks noGrp="1"/>
          </p:cNvSpPr>
          <p:nvPr/>
        </p:nvSpPr>
        <p:spPr>
          <a:xfrm>
            <a:off x="4762500" y="2533650"/>
            <a:ext cx="514350" cy="514350"/>
          </a:xfrm>
          <a:prstGeom prst="roundRect">
            <a:avLst>
              <a:gd name="adj" fmla="val 29630"/>
            </a:avLst>
          </a:prstGeom>
          <a:solidFill>
            <a:srgbClr val="66BCB4"/>
          </a:solidFill>
          <a:ln w="0">
            <a:noFill/>
            <a:prstDash val="solid"/>
          </a:ln>
        </p:spPr>
        <p:txBody>
          <a:bodyPr/>
          <a:lstStyle/>
          <a:p>
            <a:endParaRPr lang="es-MX"/>
          </a:p>
        </p:txBody>
      </p:sp>
      <p:sp>
        <p:nvSpPr>
          <p:cNvPr id="12" name="flow-num-text-2">
            <a:extLst>
              <a:ext uri="{FF2B5EF4-FFF2-40B4-BE49-F238E27FC236}">
                <a16:creationId xmlns:a16="http://schemas.microsoft.com/office/drawing/2014/main" id="{F5A1CC9D-C332-4130-86F4-E3173771BFE7}"/>
              </a:ext>
            </a:extLst>
          </p:cNvPr>
          <p:cNvSpPr>
            <a:spLocks noGrp="1"/>
          </p:cNvSpPr>
          <p:nvPr/>
        </p:nvSpPr>
        <p:spPr>
          <a:xfrm>
            <a:off x="4762500" y="2533650"/>
            <a:ext cx="514350" cy="514350"/>
          </a:xfrm>
          <a:prstGeom prst="rect">
            <a:avLst/>
          </a:prstGeom>
          <a:noFill/>
          <a:ln w="0">
            <a:noFill/>
            <a:prstDash val="solid"/>
          </a:ln>
        </p:spPr>
        <p:txBody>
          <a:bodyPr anchor="ctr"/>
          <a:lstStyle/>
          <a:p>
            <a:pPr algn="ctr">
              <a:defRPr sz="1800" b="1">
                <a:solidFill>
                  <a:srgbClr val="FFFFFF"/>
                </a:solidFill>
              </a:defRPr>
            </a:pPr>
            <a:r>
              <a:rPr sz="1800" b="1">
                <a:solidFill>
                  <a:srgbClr val="FFFFFF"/>
                </a:solidFill>
              </a:rPr>
              <a:t>2</a:t>
            </a:r>
          </a:p>
        </p:txBody>
      </p:sp>
      <p:sp>
        <p:nvSpPr>
          <p:cNvPr id="13" name="flow-title-2">
            <a:extLst>
              <a:ext uri="{FF2B5EF4-FFF2-40B4-BE49-F238E27FC236}">
                <a16:creationId xmlns:a16="http://schemas.microsoft.com/office/drawing/2014/main" id="{66F14FCA-22EB-4E1C-BB84-C7A52D905D58}"/>
              </a:ext>
            </a:extLst>
          </p:cNvPr>
          <p:cNvSpPr>
            <a:spLocks noGrp="1"/>
          </p:cNvSpPr>
          <p:nvPr/>
        </p:nvSpPr>
        <p:spPr>
          <a:xfrm>
            <a:off x="4762500" y="3219450"/>
            <a:ext cx="2667000" cy="590550"/>
          </a:xfrm>
          <a:prstGeom prst="rect">
            <a:avLst/>
          </a:prstGeom>
          <a:noFill/>
          <a:ln w="0">
            <a:noFill/>
            <a:prstDash val="solid"/>
          </a:ln>
        </p:spPr>
        <p:txBody>
          <a:bodyPr anchor="ctr"/>
          <a:lstStyle/>
          <a:p>
            <a:pPr algn="l">
              <a:defRPr sz="1950" b="1">
                <a:solidFill>
                  <a:srgbClr val="2E2A26"/>
                </a:solidFill>
              </a:defRPr>
            </a:pPr>
            <a:r>
              <a:rPr sz="1950" b="1">
                <a:solidFill>
                  <a:srgbClr val="2E2A26"/>
                </a:solidFill>
              </a:rPr>
              <a:t>Rankear voluntarios</a:t>
            </a:r>
          </a:p>
        </p:txBody>
      </p:sp>
      <p:sp>
        <p:nvSpPr>
          <p:cNvPr id="14" name="flow-body-2">
            <a:extLst>
              <a:ext uri="{FF2B5EF4-FFF2-40B4-BE49-F238E27FC236}">
                <a16:creationId xmlns:a16="http://schemas.microsoft.com/office/drawing/2014/main" id="{4B267AB0-BCF1-4908-A362-B4681D62CA34}"/>
              </a:ext>
            </a:extLst>
          </p:cNvPr>
          <p:cNvSpPr>
            <a:spLocks noGrp="1"/>
          </p:cNvSpPr>
          <p:nvPr/>
        </p:nvSpPr>
        <p:spPr>
          <a:xfrm>
            <a:off x="4762500" y="3914775"/>
            <a:ext cx="2667000" cy="933450"/>
          </a:xfrm>
          <a:prstGeom prst="rect">
            <a:avLst/>
          </a:prstGeom>
          <a:noFill/>
          <a:ln w="0">
            <a:noFill/>
            <a:prstDash val="solid"/>
          </a:ln>
        </p:spPr>
        <p:txBody>
          <a:bodyPr anchor="ctr"/>
          <a:lstStyle/>
          <a:p>
            <a:pPr algn="l">
              <a:defRPr sz="1350" b="0">
                <a:solidFill>
                  <a:srgbClr val="7A6A5E"/>
                </a:solidFill>
              </a:defRPr>
            </a:pPr>
            <a:r>
              <a:rPr sz="1350" b="0">
                <a:solidFill>
                  <a:srgbClr val="7A6A5E"/>
                </a:solidFill>
              </a:rPr>
              <a:t>Filtros obligatorios y un score explicable producen un top 3.</a:t>
            </a:r>
          </a:p>
        </p:txBody>
      </p:sp>
      <p:sp>
        <p:nvSpPr>
          <p:cNvPr id="15" name="flow-card-3">
            <a:extLst>
              <a:ext uri="{FF2B5EF4-FFF2-40B4-BE49-F238E27FC236}">
                <a16:creationId xmlns:a16="http://schemas.microsoft.com/office/drawing/2014/main" id="{524129F3-C0A3-4A93-BFD8-27DB64181A35}"/>
              </a:ext>
            </a:extLst>
          </p:cNvPr>
          <p:cNvSpPr>
            <a:spLocks noGrp="1"/>
          </p:cNvSpPr>
          <p:nvPr/>
        </p:nvSpPr>
        <p:spPr>
          <a:xfrm>
            <a:off x="8382000" y="2305050"/>
            <a:ext cx="3124200" cy="2857500"/>
          </a:xfrm>
          <a:prstGeom prst="roundRect">
            <a:avLst>
              <a:gd name="adj" fmla="val 5333"/>
            </a:avLst>
          </a:prstGeom>
          <a:solidFill>
            <a:srgbClr val="FFFFFF"/>
          </a:solidFill>
          <a:ln w="9525">
            <a:solidFill>
              <a:srgbClr val="E2D3C3"/>
            </a:solidFill>
            <a:prstDash val="solid"/>
          </a:ln>
        </p:spPr>
        <p:txBody>
          <a:bodyPr/>
          <a:lstStyle/>
          <a:p>
            <a:endParaRPr lang="es-MX"/>
          </a:p>
        </p:txBody>
      </p:sp>
      <p:sp>
        <p:nvSpPr>
          <p:cNvPr id="16" name="flow-num-3">
            <a:extLst>
              <a:ext uri="{FF2B5EF4-FFF2-40B4-BE49-F238E27FC236}">
                <a16:creationId xmlns:a16="http://schemas.microsoft.com/office/drawing/2014/main" id="{F3FD954A-2E0A-4CE2-9463-B3E1C829D4D4}"/>
              </a:ext>
            </a:extLst>
          </p:cNvPr>
          <p:cNvSpPr>
            <a:spLocks noGrp="1"/>
          </p:cNvSpPr>
          <p:nvPr/>
        </p:nvSpPr>
        <p:spPr>
          <a:xfrm>
            <a:off x="8610600" y="2533650"/>
            <a:ext cx="514350" cy="514350"/>
          </a:xfrm>
          <a:prstGeom prst="roundRect">
            <a:avLst>
              <a:gd name="adj" fmla="val 29630"/>
            </a:avLst>
          </a:prstGeom>
          <a:solidFill>
            <a:srgbClr val="EDC55B"/>
          </a:solidFill>
          <a:ln w="0">
            <a:noFill/>
            <a:prstDash val="solid"/>
          </a:ln>
        </p:spPr>
        <p:txBody>
          <a:bodyPr/>
          <a:lstStyle/>
          <a:p>
            <a:endParaRPr lang="es-MX"/>
          </a:p>
        </p:txBody>
      </p:sp>
      <p:sp>
        <p:nvSpPr>
          <p:cNvPr id="17" name="flow-num-text-3">
            <a:extLst>
              <a:ext uri="{FF2B5EF4-FFF2-40B4-BE49-F238E27FC236}">
                <a16:creationId xmlns:a16="http://schemas.microsoft.com/office/drawing/2014/main" id="{46E89D8A-37F4-4F5B-B7EF-240F88E93054}"/>
              </a:ext>
            </a:extLst>
          </p:cNvPr>
          <p:cNvSpPr>
            <a:spLocks noGrp="1"/>
          </p:cNvSpPr>
          <p:nvPr/>
        </p:nvSpPr>
        <p:spPr>
          <a:xfrm>
            <a:off x="8610600" y="2533650"/>
            <a:ext cx="514350" cy="514350"/>
          </a:xfrm>
          <a:prstGeom prst="rect">
            <a:avLst/>
          </a:prstGeom>
          <a:noFill/>
          <a:ln w="0">
            <a:noFill/>
            <a:prstDash val="solid"/>
          </a:ln>
        </p:spPr>
        <p:txBody>
          <a:bodyPr anchor="ctr"/>
          <a:lstStyle/>
          <a:p>
            <a:pPr algn="ctr">
              <a:defRPr sz="1800" b="1">
                <a:solidFill>
                  <a:srgbClr val="2E2A26"/>
                </a:solidFill>
              </a:defRPr>
            </a:pPr>
            <a:r>
              <a:rPr sz="1800" b="1">
                <a:solidFill>
                  <a:srgbClr val="2E2A26"/>
                </a:solidFill>
              </a:rPr>
              <a:t>3</a:t>
            </a:r>
          </a:p>
        </p:txBody>
      </p:sp>
      <p:sp>
        <p:nvSpPr>
          <p:cNvPr id="18" name="flow-title-3">
            <a:extLst>
              <a:ext uri="{FF2B5EF4-FFF2-40B4-BE49-F238E27FC236}">
                <a16:creationId xmlns:a16="http://schemas.microsoft.com/office/drawing/2014/main" id="{F5F0B267-833B-426F-ADE6-A287F7CE7AD1}"/>
              </a:ext>
            </a:extLst>
          </p:cNvPr>
          <p:cNvSpPr>
            <a:spLocks noGrp="1"/>
          </p:cNvSpPr>
          <p:nvPr/>
        </p:nvSpPr>
        <p:spPr>
          <a:xfrm>
            <a:off x="8610600" y="3219450"/>
            <a:ext cx="2667000" cy="590550"/>
          </a:xfrm>
          <a:prstGeom prst="rect">
            <a:avLst/>
          </a:prstGeom>
          <a:noFill/>
          <a:ln w="0">
            <a:noFill/>
            <a:prstDash val="solid"/>
          </a:ln>
        </p:spPr>
        <p:txBody>
          <a:bodyPr anchor="ctr"/>
          <a:lstStyle/>
          <a:p>
            <a:pPr algn="l">
              <a:defRPr sz="1950" b="1">
                <a:solidFill>
                  <a:srgbClr val="2E2A26"/>
                </a:solidFill>
              </a:defRPr>
            </a:pPr>
            <a:r>
              <a:rPr sz="1950" b="1">
                <a:solidFill>
                  <a:srgbClr val="2E2A26"/>
                </a:solidFill>
              </a:rPr>
              <a:t>Confirmar apoyo</a:t>
            </a:r>
          </a:p>
        </p:txBody>
      </p:sp>
      <p:sp>
        <p:nvSpPr>
          <p:cNvPr id="19" name="flow-body-3">
            <a:extLst>
              <a:ext uri="{FF2B5EF4-FFF2-40B4-BE49-F238E27FC236}">
                <a16:creationId xmlns:a16="http://schemas.microsoft.com/office/drawing/2014/main" id="{CAFA312E-E718-41F7-8CF6-5C6A0C25BB4B}"/>
              </a:ext>
            </a:extLst>
          </p:cNvPr>
          <p:cNvSpPr>
            <a:spLocks noGrp="1"/>
          </p:cNvSpPr>
          <p:nvPr/>
        </p:nvSpPr>
        <p:spPr>
          <a:xfrm>
            <a:off x="8610600" y="3914775"/>
            <a:ext cx="2667000" cy="933450"/>
          </a:xfrm>
          <a:prstGeom prst="rect">
            <a:avLst/>
          </a:prstGeom>
          <a:noFill/>
          <a:ln w="0">
            <a:noFill/>
            <a:prstDash val="solid"/>
          </a:ln>
        </p:spPr>
        <p:txBody>
          <a:bodyPr anchor="ctr"/>
          <a:lstStyle/>
          <a:p>
            <a:pPr algn="l">
              <a:defRPr sz="1350" b="0">
                <a:solidFill>
                  <a:srgbClr val="7A6A5E"/>
                </a:solidFill>
              </a:defRPr>
            </a:pPr>
            <a:r>
              <a:rPr sz="1350" b="0">
                <a:solidFill>
                  <a:srgbClr val="7A6A5E"/>
                </a:solidFill>
              </a:rPr>
              <a:t>La propuesta solo avanza cuando el voluntario acepta el caso.</a:t>
            </a:r>
          </a:p>
        </p:txBody>
      </p:sp>
      <p:sp>
        <p:nvSpPr>
          <p:cNvPr id="20" name="arrow1">
            <a:extLst>
              <a:ext uri="{FF2B5EF4-FFF2-40B4-BE49-F238E27FC236}">
                <a16:creationId xmlns:a16="http://schemas.microsoft.com/office/drawing/2014/main" id="{96017F94-D5EE-49B6-8E13-B79419F4D328}"/>
              </a:ext>
            </a:extLst>
          </p:cNvPr>
          <p:cNvSpPr>
            <a:spLocks noGrp="1"/>
          </p:cNvSpPr>
          <p:nvPr/>
        </p:nvSpPr>
        <p:spPr>
          <a:xfrm>
            <a:off x="3905250" y="3286125"/>
            <a:ext cx="457200" cy="571500"/>
          </a:xfrm>
          <a:prstGeom prst="rect">
            <a:avLst/>
          </a:prstGeom>
          <a:noFill/>
          <a:ln w="0">
            <a:noFill/>
            <a:prstDash val="solid"/>
          </a:ln>
        </p:spPr>
        <p:txBody>
          <a:bodyPr anchor="ctr"/>
          <a:lstStyle/>
          <a:p>
            <a:pPr algn="ctr">
              <a:defRPr sz="3150" b="1">
                <a:solidFill>
                  <a:srgbClr val="9B8B7E"/>
                </a:solidFill>
              </a:defRPr>
            </a:pPr>
            <a:r>
              <a:rPr sz="3150" b="1">
                <a:solidFill>
                  <a:srgbClr val="9B8B7E"/>
                </a:solidFill>
              </a:rPr>
              <a:t>→</a:t>
            </a:r>
          </a:p>
        </p:txBody>
      </p:sp>
      <p:sp>
        <p:nvSpPr>
          <p:cNvPr id="21" name="arrow2">
            <a:extLst>
              <a:ext uri="{FF2B5EF4-FFF2-40B4-BE49-F238E27FC236}">
                <a16:creationId xmlns:a16="http://schemas.microsoft.com/office/drawing/2014/main" id="{C4B4AB34-82C7-484F-9FB5-95E53F427D8E}"/>
              </a:ext>
            </a:extLst>
          </p:cNvPr>
          <p:cNvSpPr>
            <a:spLocks noGrp="1"/>
          </p:cNvSpPr>
          <p:nvPr/>
        </p:nvSpPr>
        <p:spPr>
          <a:xfrm>
            <a:off x="7753350" y="3286125"/>
            <a:ext cx="457200" cy="571500"/>
          </a:xfrm>
          <a:prstGeom prst="rect">
            <a:avLst/>
          </a:prstGeom>
          <a:noFill/>
          <a:ln w="0">
            <a:noFill/>
            <a:prstDash val="solid"/>
          </a:ln>
        </p:spPr>
        <p:txBody>
          <a:bodyPr anchor="ctr"/>
          <a:lstStyle/>
          <a:p>
            <a:pPr algn="ctr">
              <a:defRPr sz="3150" b="1">
                <a:solidFill>
                  <a:srgbClr val="9B8B7E"/>
                </a:solidFill>
              </a:defRPr>
            </a:pPr>
            <a:r>
              <a:rPr sz="3150" b="1">
                <a:solidFill>
                  <a:srgbClr val="9B8B7E"/>
                </a:solidFill>
              </a:rPr>
              <a:t>→</a:t>
            </a:r>
          </a:p>
        </p:txBody>
      </p:sp>
      <p:sp>
        <p:nvSpPr>
          <p:cNvPr id="22" name="takeaway">
            <a:extLst>
              <a:ext uri="{FF2B5EF4-FFF2-40B4-BE49-F238E27FC236}">
                <a16:creationId xmlns:a16="http://schemas.microsoft.com/office/drawing/2014/main" id="{1542708F-EB31-4AAC-96B4-BF3424C8FB3D}"/>
              </a:ext>
            </a:extLst>
          </p:cNvPr>
          <p:cNvSpPr>
            <a:spLocks noGrp="1"/>
          </p:cNvSpPr>
          <p:nvPr/>
        </p:nvSpPr>
        <p:spPr>
          <a:xfrm>
            <a:off x="685800" y="5715000"/>
            <a:ext cx="10820400" cy="419100"/>
          </a:xfrm>
          <a:prstGeom prst="rect">
            <a:avLst/>
          </a:prstGeom>
          <a:noFill/>
          <a:ln w="0">
            <a:noFill/>
            <a:prstDash val="solid"/>
          </a:ln>
        </p:spPr>
        <p:txBody>
          <a:bodyPr anchor="ctr"/>
          <a:lstStyle/>
          <a:p>
            <a:pPr algn="ctr">
              <a:defRPr sz="1650" b="1">
                <a:solidFill>
                  <a:srgbClr val="2E2A26"/>
                </a:solidFill>
              </a:defRPr>
            </a:pPr>
            <a:r>
              <a:rPr sz="1650" b="1">
                <a:solidFill>
                  <a:srgbClr val="2E2A26"/>
                </a:solidFill>
              </a:rPr>
              <a:t>La seguridad del matching está en el orden: elegibilidad → ranking → consentimiento.</a:t>
            </a:r>
          </a:p>
        </p:txBody>
      </p:sp>
    </p:spTree>
    <p:extLst>
      <p:ext uri="{BB962C8B-B14F-4D97-AF65-F5344CB8AC3E}">
        <p14:creationId xmlns:p14="http://schemas.microsoft.com/office/powerpoint/2010/main" val="1575189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AD8"/>
        </a:solidFill>
        <a:effectLst/>
      </p:bgPr>
    </p:bg>
    <p:spTree>
      <p:nvGrpSpPr>
        <p:cNvPr id="1" name=""/>
        <p:cNvGrpSpPr/>
        <p:nvPr/>
      </p:nvGrpSpPr>
      <p:grpSpPr>
        <a:xfrm>
          <a:off x="0" y="0"/>
          <a:ext cx="0" cy="0"/>
          <a:chOff x="0" y="0"/>
          <a:chExt cx="0" cy="0"/>
        </a:xfrm>
      </p:grpSpPr>
      <p:sp>
        <p:nvSpPr>
          <p:cNvPr id="26" name="kicker">
            <a:extLst>
              <a:ext uri="{FF2B5EF4-FFF2-40B4-BE49-F238E27FC236}">
                <a16:creationId xmlns:a16="http://schemas.microsoft.com/office/drawing/2014/main" id="{D3A61F49-B3E6-484C-91E3-8CA72DAAB6DF}"/>
              </a:ext>
            </a:extLst>
          </p:cNvPr>
          <p:cNvSpPr>
            <a:spLocks noGrp="1"/>
          </p:cNvSpPr>
          <p:nvPr/>
        </p:nvSpPr>
        <p:spPr>
          <a:xfrm>
            <a:off x="685800" y="400050"/>
            <a:ext cx="7239000" cy="266700"/>
          </a:xfrm>
          <a:prstGeom prst="rect">
            <a:avLst/>
          </a:prstGeom>
          <a:noFill/>
          <a:ln w="0">
            <a:noFill/>
            <a:prstDash val="solid"/>
          </a:ln>
        </p:spPr>
        <p:txBody>
          <a:bodyPr anchor="ctr"/>
          <a:lstStyle/>
          <a:p>
            <a:pPr algn="l">
              <a:defRPr sz="1200" b="1">
                <a:solidFill>
                  <a:srgbClr val="EC802B"/>
                </a:solidFill>
              </a:defRPr>
            </a:pPr>
            <a:r>
              <a:rPr sz="1200" b="1">
                <a:solidFill>
                  <a:srgbClr val="EC802B"/>
                </a:solidFill>
              </a:rPr>
              <a:t>PASO 1 · MATCHING DE ASOCIACIÓN</a:t>
            </a:r>
          </a:p>
        </p:txBody>
      </p:sp>
      <p:sp>
        <p:nvSpPr>
          <p:cNvPr id="2" name="title">
            <a:extLst>
              <a:ext uri="{FF2B5EF4-FFF2-40B4-BE49-F238E27FC236}">
                <a16:creationId xmlns:a16="http://schemas.microsoft.com/office/drawing/2014/main" id="{1D39AAD0-49EC-4ED3-8747-6BFDAD4BEE96}"/>
              </a:ext>
            </a:extLst>
          </p:cNvPr>
          <p:cNvSpPr>
            <a:spLocks noGrp="1"/>
          </p:cNvSpPr>
          <p:nvPr/>
        </p:nvSpPr>
        <p:spPr>
          <a:xfrm>
            <a:off x="685800" y="723900"/>
            <a:ext cx="10382250" cy="647700"/>
          </a:xfrm>
          <a:prstGeom prst="rect">
            <a:avLst/>
          </a:prstGeom>
          <a:noFill/>
          <a:ln w="0">
            <a:noFill/>
            <a:prstDash val="solid"/>
          </a:ln>
        </p:spPr>
        <p:txBody>
          <a:bodyPr anchor="ctr"/>
          <a:lstStyle/>
          <a:p>
            <a:pPr algn="l">
              <a:defRPr sz="2850" b="1">
                <a:solidFill>
                  <a:srgbClr val="2E2A26"/>
                </a:solidFill>
              </a:defRPr>
            </a:pPr>
            <a:r>
              <a:rPr sz="2850" b="1" dirty="0">
                <a:solidFill>
                  <a:srgbClr val="2E2A26"/>
                </a:solidFill>
              </a:rPr>
              <a:t>La </a:t>
            </a:r>
            <a:r>
              <a:rPr sz="2850" b="1" dirty="0" err="1">
                <a:solidFill>
                  <a:srgbClr val="2E2A26"/>
                </a:solidFill>
              </a:rPr>
              <a:t>cobertura</a:t>
            </a:r>
            <a:r>
              <a:rPr sz="2850" b="1" dirty="0">
                <a:solidFill>
                  <a:srgbClr val="2E2A26"/>
                </a:solidFill>
              </a:rPr>
              <a:t> </a:t>
            </a:r>
            <a:r>
              <a:rPr sz="2850" b="1" dirty="0" err="1">
                <a:solidFill>
                  <a:srgbClr val="2E2A26"/>
                </a:solidFill>
              </a:rPr>
              <a:t>institucional</a:t>
            </a:r>
            <a:r>
              <a:rPr sz="2850" b="1" dirty="0">
                <a:solidFill>
                  <a:srgbClr val="2E2A26"/>
                </a:solidFill>
              </a:rPr>
              <a:t> se decide </a:t>
            </a:r>
            <a:r>
              <a:rPr sz="2850" b="1" dirty="0" err="1">
                <a:solidFill>
                  <a:srgbClr val="2E2A26"/>
                </a:solidFill>
              </a:rPr>
              <a:t>por</a:t>
            </a:r>
            <a:r>
              <a:rPr sz="2850" b="1" dirty="0">
                <a:solidFill>
                  <a:srgbClr val="2E2A26"/>
                </a:solidFill>
              </a:rPr>
              <a:t> </a:t>
            </a:r>
            <a:r>
              <a:rPr sz="2850" b="1" dirty="0" err="1">
                <a:solidFill>
                  <a:srgbClr val="2E2A26"/>
                </a:solidFill>
              </a:rPr>
              <a:t>reglas</a:t>
            </a:r>
            <a:r>
              <a:rPr sz="2850" b="1" dirty="0">
                <a:solidFill>
                  <a:srgbClr val="2E2A26"/>
                </a:solidFill>
              </a:rPr>
              <a:t> </a:t>
            </a:r>
            <a:r>
              <a:rPr sz="2850" b="1" dirty="0" err="1">
                <a:solidFill>
                  <a:srgbClr val="2E2A26"/>
                </a:solidFill>
              </a:rPr>
              <a:t>obligatorias</a:t>
            </a:r>
            <a:r>
              <a:rPr sz="2850" b="1" dirty="0">
                <a:solidFill>
                  <a:srgbClr val="2E2A26"/>
                </a:solidFill>
              </a:rPr>
              <a:t>, no </a:t>
            </a:r>
            <a:r>
              <a:rPr sz="2850" b="1" dirty="0" err="1">
                <a:solidFill>
                  <a:srgbClr val="2E2A26"/>
                </a:solidFill>
              </a:rPr>
              <a:t>por</a:t>
            </a:r>
            <a:r>
              <a:rPr sz="2850" b="1" dirty="0">
                <a:solidFill>
                  <a:srgbClr val="2E2A26"/>
                </a:solidFill>
              </a:rPr>
              <a:t> puntos</a:t>
            </a:r>
          </a:p>
        </p:txBody>
      </p:sp>
      <p:sp>
        <p:nvSpPr>
          <p:cNvPr id="3" name="page">
            <a:extLst>
              <a:ext uri="{FF2B5EF4-FFF2-40B4-BE49-F238E27FC236}">
                <a16:creationId xmlns:a16="http://schemas.microsoft.com/office/drawing/2014/main" id="{37C455C1-CEB3-41E7-89F5-3038F20688D8}"/>
              </a:ext>
            </a:extLst>
          </p:cNvPr>
          <p:cNvSpPr>
            <a:spLocks noGrp="1"/>
          </p:cNvSpPr>
          <p:nvPr/>
        </p:nvSpPr>
        <p:spPr>
          <a:xfrm>
            <a:off x="11049000" y="457200"/>
            <a:ext cx="457200" cy="266700"/>
          </a:xfrm>
          <a:prstGeom prst="rect">
            <a:avLst/>
          </a:prstGeom>
          <a:noFill/>
          <a:ln w="0">
            <a:noFill/>
            <a:prstDash val="solid"/>
          </a:ln>
        </p:spPr>
        <p:txBody>
          <a:bodyPr anchor="ctr"/>
          <a:lstStyle/>
          <a:p>
            <a:pPr algn="r">
              <a:defRPr sz="1125" b="1">
                <a:solidFill>
                  <a:srgbClr val="9B8B7E"/>
                </a:solidFill>
              </a:defRPr>
            </a:pPr>
            <a:r>
              <a:rPr sz="1125" b="1">
                <a:solidFill>
                  <a:srgbClr val="9B8B7E"/>
                </a:solidFill>
              </a:rPr>
              <a:t>03</a:t>
            </a:r>
          </a:p>
        </p:txBody>
      </p:sp>
      <p:sp>
        <p:nvSpPr>
          <p:cNvPr id="4" name="accent">
            <a:extLst>
              <a:ext uri="{FF2B5EF4-FFF2-40B4-BE49-F238E27FC236}">
                <a16:creationId xmlns:a16="http://schemas.microsoft.com/office/drawing/2014/main" id="{64149FE6-168C-420F-A7CC-2DF1AF24501D}"/>
              </a:ext>
            </a:extLst>
          </p:cNvPr>
          <p:cNvSpPr>
            <a:spLocks noGrp="1"/>
          </p:cNvSpPr>
          <p:nvPr/>
        </p:nvSpPr>
        <p:spPr>
          <a:xfrm>
            <a:off x="685800" y="1457325"/>
            <a:ext cx="914400" cy="47625"/>
          </a:xfrm>
          <a:prstGeom prst="rect">
            <a:avLst/>
          </a:prstGeom>
          <a:solidFill>
            <a:srgbClr val="EC802B"/>
          </a:solidFill>
          <a:ln w="0">
            <a:noFill/>
            <a:prstDash val="solid"/>
          </a:ln>
        </p:spPr>
        <p:txBody>
          <a:bodyPr/>
          <a:lstStyle/>
          <a:p>
            <a:endParaRPr lang="es-MX"/>
          </a:p>
        </p:txBody>
      </p:sp>
      <p:sp>
        <p:nvSpPr>
          <p:cNvPr id="6" name="left-title">
            <a:extLst>
              <a:ext uri="{FF2B5EF4-FFF2-40B4-BE49-F238E27FC236}">
                <a16:creationId xmlns:a16="http://schemas.microsoft.com/office/drawing/2014/main" id="{0979EAD7-3E3C-48EE-B52E-A228C028C1ED}"/>
              </a:ext>
            </a:extLst>
          </p:cNvPr>
          <p:cNvSpPr>
            <a:spLocks noGrp="1"/>
          </p:cNvSpPr>
          <p:nvPr/>
        </p:nvSpPr>
        <p:spPr>
          <a:xfrm>
            <a:off x="990600" y="2209800"/>
            <a:ext cx="4000500" cy="381000"/>
          </a:xfrm>
          <a:prstGeom prst="rect">
            <a:avLst/>
          </a:prstGeom>
          <a:noFill/>
          <a:ln w="0">
            <a:noFill/>
            <a:prstDash val="solid"/>
          </a:ln>
        </p:spPr>
        <p:txBody>
          <a:bodyPr anchor="ctr"/>
          <a:lstStyle/>
          <a:p>
            <a:pPr algn="l">
              <a:defRPr sz="1950" b="1">
                <a:solidFill>
                  <a:srgbClr val="EC802B"/>
                </a:solidFill>
              </a:defRPr>
            </a:pPr>
            <a:r>
              <a:rPr sz="1950" b="1">
                <a:solidFill>
                  <a:srgbClr val="EC802B"/>
                </a:solidFill>
              </a:rPr>
              <a:t>Debe cumplir todo</a:t>
            </a:r>
          </a:p>
        </p:txBody>
      </p:sp>
      <p:sp>
        <p:nvSpPr>
          <p:cNvPr id="7" name="check-0">
            <a:extLst>
              <a:ext uri="{FF2B5EF4-FFF2-40B4-BE49-F238E27FC236}">
                <a16:creationId xmlns:a16="http://schemas.microsoft.com/office/drawing/2014/main" id="{D70F3762-05C5-4C6F-AB04-AB8C42930C7B}"/>
              </a:ext>
            </a:extLst>
          </p:cNvPr>
          <p:cNvSpPr>
            <a:spLocks noGrp="1"/>
          </p:cNvSpPr>
          <p:nvPr/>
        </p:nvSpPr>
        <p:spPr>
          <a:xfrm>
            <a:off x="1009650" y="2857500"/>
            <a:ext cx="285750" cy="285750"/>
          </a:xfrm>
          <a:prstGeom prst="roundRect">
            <a:avLst>
              <a:gd name="adj" fmla="val 50000"/>
            </a:avLst>
          </a:prstGeom>
          <a:solidFill>
            <a:srgbClr val="EC802B"/>
          </a:solidFill>
          <a:ln w="0">
            <a:noFill/>
            <a:prstDash val="solid"/>
          </a:ln>
        </p:spPr>
        <p:txBody>
          <a:bodyPr/>
          <a:lstStyle/>
          <a:p>
            <a:endParaRPr lang="es-MX"/>
          </a:p>
        </p:txBody>
      </p:sp>
      <p:sp>
        <p:nvSpPr>
          <p:cNvPr id="8" name="check-text-0">
            <a:extLst>
              <a:ext uri="{FF2B5EF4-FFF2-40B4-BE49-F238E27FC236}">
                <a16:creationId xmlns:a16="http://schemas.microsoft.com/office/drawing/2014/main" id="{F52D9D81-5605-4E4F-AE17-BDB528A1588F}"/>
              </a:ext>
            </a:extLst>
          </p:cNvPr>
          <p:cNvSpPr>
            <a:spLocks noGrp="1"/>
          </p:cNvSpPr>
          <p:nvPr/>
        </p:nvSpPr>
        <p:spPr>
          <a:xfrm>
            <a:off x="1009650" y="2828925"/>
            <a:ext cx="285750" cy="323850"/>
          </a:xfrm>
          <a:prstGeom prst="rect">
            <a:avLst/>
          </a:prstGeom>
          <a:noFill/>
          <a:ln w="0">
            <a:noFill/>
            <a:prstDash val="solid"/>
          </a:ln>
        </p:spPr>
        <p:txBody>
          <a:bodyPr anchor="ctr"/>
          <a:lstStyle/>
          <a:p>
            <a:pPr algn="ctr">
              <a:defRPr sz="1350" b="1">
                <a:solidFill>
                  <a:srgbClr val="FFFFFF"/>
                </a:solidFill>
              </a:defRPr>
            </a:pPr>
            <a:r>
              <a:rPr sz="1350" b="1" dirty="0">
                <a:solidFill>
                  <a:srgbClr val="FFFFFF"/>
                </a:solidFill>
              </a:rPr>
              <a:t>✓</a:t>
            </a:r>
          </a:p>
        </p:txBody>
      </p:sp>
      <p:sp>
        <p:nvSpPr>
          <p:cNvPr id="9" name="rule-0">
            <a:extLst>
              <a:ext uri="{FF2B5EF4-FFF2-40B4-BE49-F238E27FC236}">
                <a16:creationId xmlns:a16="http://schemas.microsoft.com/office/drawing/2014/main" id="{71B540E5-34EE-4E47-81CA-37074B0BF095}"/>
              </a:ext>
            </a:extLst>
          </p:cNvPr>
          <p:cNvSpPr>
            <a:spLocks noGrp="1"/>
          </p:cNvSpPr>
          <p:nvPr/>
        </p:nvSpPr>
        <p:spPr>
          <a:xfrm>
            <a:off x="1457325" y="2800350"/>
            <a:ext cx="3667125" cy="400050"/>
          </a:xfrm>
          <a:prstGeom prst="rect">
            <a:avLst/>
          </a:prstGeom>
          <a:noFill/>
          <a:ln w="0">
            <a:noFill/>
            <a:prstDash val="solid"/>
          </a:ln>
        </p:spPr>
        <p:txBody>
          <a:bodyPr anchor="ctr"/>
          <a:lstStyle/>
          <a:p>
            <a:pPr algn="l">
              <a:defRPr sz="1425" b="0">
                <a:solidFill>
                  <a:srgbClr val="2E2A26"/>
                </a:solidFill>
              </a:defRPr>
            </a:pPr>
            <a:r>
              <a:rPr sz="1425" b="0" dirty="0">
                <a:solidFill>
                  <a:srgbClr val="2E2A26"/>
                </a:solidFill>
              </a:rPr>
              <a:t>Activa y </a:t>
            </a:r>
            <a:r>
              <a:rPr sz="1425" b="0" dirty="0" err="1">
                <a:solidFill>
                  <a:srgbClr val="2E2A26"/>
                </a:solidFill>
              </a:rPr>
              <a:t>verificada</a:t>
            </a:r>
            <a:endParaRPr sz="1425" b="0" dirty="0">
              <a:solidFill>
                <a:srgbClr val="2E2A26"/>
              </a:solidFill>
            </a:endParaRPr>
          </a:p>
        </p:txBody>
      </p:sp>
      <p:sp>
        <p:nvSpPr>
          <p:cNvPr id="10" name="check-1">
            <a:extLst>
              <a:ext uri="{FF2B5EF4-FFF2-40B4-BE49-F238E27FC236}">
                <a16:creationId xmlns:a16="http://schemas.microsoft.com/office/drawing/2014/main" id="{80CB6C37-E78D-4B54-9355-078DB8FBFF3C}"/>
              </a:ext>
            </a:extLst>
          </p:cNvPr>
          <p:cNvSpPr>
            <a:spLocks noGrp="1"/>
          </p:cNvSpPr>
          <p:nvPr/>
        </p:nvSpPr>
        <p:spPr>
          <a:xfrm>
            <a:off x="1009650" y="3419475"/>
            <a:ext cx="285750" cy="285750"/>
          </a:xfrm>
          <a:prstGeom prst="roundRect">
            <a:avLst>
              <a:gd name="adj" fmla="val 50000"/>
            </a:avLst>
          </a:prstGeom>
          <a:solidFill>
            <a:srgbClr val="EC802B"/>
          </a:solidFill>
          <a:ln w="0">
            <a:noFill/>
            <a:prstDash val="solid"/>
          </a:ln>
        </p:spPr>
        <p:txBody>
          <a:bodyPr/>
          <a:lstStyle/>
          <a:p>
            <a:endParaRPr lang="es-MX"/>
          </a:p>
        </p:txBody>
      </p:sp>
      <p:sp>
        <p:nvSpPr>
          <p:cNvPr id="11" name="check-text-1">
            <a:extLst>
              <a:ext uri="{FF2B5EF4-FFF2-40B4-BE49-F238E27FC236}">
                <a16:creationId xmlns:a16="http://schemas.microsoft.com/office/drawing/2014/main" id="{83D96B12-4216-4D65-9EEA-725C69F73206}"/>
              </a:ext>
            </a:extLst>
          </p:cNvPr>
          <p:cNvSpPr>
            <a:spLocks noGrp="1"/>
          </p:cNvSpPr>
          <p:nvPr/>
        </p:nvSpPr>
        <p:spPr>
          <a:xfrm>
            <a:off x="1009650" y="3390900"/>
            <a:ext cx="285750" cy="32385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a:t>
            </a:r>
          </a:p>
        </p:txBody>
      </p:sp>
      <p:sp>
        <p:nvSpPr>
          <p:cNvPr id="12" name="rule-1">
            <a:extLst>
              <a:ext uri="{FF2B5EF4-FFF2-40B4-BE49-F238E27FC236}">
                <a16:creationId xmlns:a16="http://schemas.microsoft.com/office/drawing/2014/main" id="{3154C850-6CA1-493E-82C2-0AB06E3996D0}"/>
              </a:ext>
            </a:extLst>
          </p:cNvPr>
          <p:cNvSpPr>
            <a:spLocks noGrp="1"/>
          </p:cNvSpPr>
          <p:nvPr/>
        </p:nvSpPr>
        <p:spPr>
          <a:xfrm>
            <a:off x="1457325" y="3362325"/>
            <a:ext cx="3667125" cy="400050"/>
          </a:xfrm>
          <a:prstGeom prst="rect">
            <a:avLst/>
          </a:prstGeom>
          <a:noFill/>
          <a:ln w="0">
            <a:noFill/>
            <a:prstDash val="solid"/>
          </a:ln>
        </p:spPr>
        <p:txBody>
          <a:bodyPr anchor="ctr"/>
          <a:lstStyle/>
          <a:p>
            <a:pPr algn="l">
              <a:defRPr sz="1425" b="1">
                <a:solidFill>
                  <a:srgbClr val="2E2A26"/>
                </a:solidFill>
              </a:defRPr>
            </a:pPr>
            <a:r>
              <a:rPr sz="1425" b="1" dirty="0">
                <a:solidFill>
                  <a:srgbClr val="2E2A26"/>
                </a:solidFill>
              </a:rPr>
              <a:t>Atiende </a:t>
            </a:r>
            <a:r>
              <a:rPr sz="1425" b="1" dirty="0" err="1">
                <a:solidFill>
                  <a:srgbClr val="2E2A26"/>
                </a:solidFill>
              </a:rPr>
              <a:t>todas</a:t>
            </a:r>
            <a:r>
              <a:rPr sz="1425" b="1" dirty="0">
                <a:solidFill>
                  <a:srgbClr val="2E2A26"/>
                </a:solidFill>
              </a:rPr>
              <a:t> las </a:t>
            </a:r>
            <a:r>
              <a:rPr sz="1425" b="1" dirty="0" err="1">
                <a:solidFill>
                  <a:srgbClr val="2E2A26"/>
                </a:solidFill>
              </a:rPr>
              <a:t>especies</a:t>
            </a:r>
            <a:r>
              <a:rPr sz="1425" b="1" dirty="0">
                <a:solidFill>
                  <a:srgbClr val="2E2A26"/>
                </a:solidFill>
              </a:rPr>
              <a:t> del </a:t>
            </a:r>
            <a:r>
              <a:rPr sz="1425" b="1" dirty="0" err="1">
                <a:solidFill>
                  <a:srgbClr val="2E2A26"/>
                </a:solidFill>
              </a:rPr>
              <a:t>caso</a:t>
            </a:r>
            <a:endParaRPr sz="1425" b="1" dirty="0">
              <a:solidFill>
                <a:srgbClr val="2E2A26"/>
              </a:solidFill>
            </a:endParaRPr>
          </a:p>
        </p:txBody>
      </p:sp>
      <p:sp>
        <p:nvSpPr>
          <p:cNvPr id="13" name="check-2">
            <a:extLst>
              <a:ext uri="{FF2B5EF4-FFF2-40B4-BE49-F238E27FC236}">
                <a16:creationId xmlns:a16="http://schemas.microsoft.com/office/drawing/2014/main" id="{F9C317C2-3681-4C78-85EB-B5AE3F0D4F9C}"/>
              </a:ext>
            </a:extLst>
          </p:cNvPr>
          <p:cNvSpPr>
            <a:spLocks noGrp="1"/>
          </p:cNvSpPr>
          <p:nvPr/>
        </p:nvSpPr>
        <p:spPr>
          <a:xfrm>
            <a:off x="1009650" y="3981450"/>
            <a:ext cx="285750" cy="285750"/>
          </a:xfrm>
          <a:prstGeom prst="roundRect">
            <a:avLst>
              <a:gd name="adj" fmla="val 50000"/>
            </a:avLst>
          </a:prstGeom>
          <a:solidFill>
            <a:srgbClr val="EC802B"/>
          </a:solidFill>
          <a:ln w="0">
            <a:noFill/>
            <a:prstDash val="solid"/>
          </a:ln>
        </p:spPr>
        <p:txBody>
          <a:bodyPr/>
          <a:lstStyle/>
          <a:p>
            <a:endParaRPr lang="es-MX"/>
          </a:p>
        </p:txBody>
      </p:sp>
      <p:sp>
        <p:nvSpPr>
          <p:cNvPr id="14" name="check-text-2">
            <a:extLst>
              <a:ext uri="{FF2B5EF4-FFF2-40B4-BE49-F238E27FC236}">
                <a16:creationId xmlns:a16="http://schemas.microsoft.com/office/drawing/2014/main" id="{CC5ACCF8-775F-4353-A5AF-49533C1E83B7}"/>
              </a:ext>
            </a:extLst>
          </p:cNvPr>
          <p:cNvSpPr>
            <a:spLocks noGrp="1"/>
          </p:cNvSpPr>
          <p:nvPr/>
        </p:nvSpPr>
        <p:spPr>
          <a:xfrm>
            <a:off x="1009650" y="3952875"/>
            <a:ext cx="285750" cy="32385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a:t>
            </a:r>
          </a:p>
        </p:txBody>
      </p:sp>
      <p:sp>
        <p:nvSpPr>
          <p:cNvPr id="15" name="rule-2">
            <a:extLst>
              <a:ext uri="{FF2B5EF4-FFF2-40B4-BE49-F238E27FC236}">
                <a16:creationId xmlns:a16="http://schemas.microsoft.com/office/drawing/2014/main" id="{69FD4C42-1F70-4557-83F3-62580D6BE2BF}"/>
              </a:ext>
            </a:extLst>
          </p:cNvPr>
          <p:cNvSpPr>
            <a:spLocks noGrp="1"/>
          </p:cNvSpPr>
          <p:nvPr/>
        </p:nvSpPr>
        <p:spPr>
          <a:xfrm>
            <a:off x="1457325" y="3924300"/>
            <a:ext cx="3667125" cy="400050"/>
          </a:xfrm>
          <a:prstGeom prst="rect">
            <a:avLst/>
          </a:prstGeom>
          <a:noFill/>
          <a:ln w="0">
            <a:noFill/>
            <a:prstDash val="solid"/>
          </a:ln>
        </p:spPr>
        <p:txBody>
          <a:bodyPr anchor="ctr"/>
          <a:lstStyle/>
          <a:p>
            <a:pPr algn="l">
              <a:defRPr sz="1425" b="0">
                <a:solidFill>
                  <a:srgbClr val="2E2A26"/>
                </a:solidFill>
              </a:defRPr>
            </a:pPr>
            <a:r>
              <a:rPr sz="1425" b="0" dirty="0">
                <a:solidFill>
                  <a:srgbClr val="2E2A26"/>
                </a:solidFill>
              </a:rPr>
              <a:t>El </a:t>
            </a:r>
            <a:r>
              <a:rPr sz="1425" b="0" dirty="0" err="1">
                <a:solidFill>
                  <a:srgbClr val="2E2A26"/>
                </a:solidFill>
              </a:rPr>
              <a:t>reporte</a:t>
            </a:r>
            <a:r>
              <a:rPr sz="1425" b="0" dirty="0">
                <a:solidFill>
                  <a:srgbClr val="2E2A26"/>
                </a:solidFill>
              </a:rPr>
              <a:t> </a:t>
            </a:r>
            <a:r>
              <a:rPr sz="1425" b="0" dirty="0" err="1">
                <a:solidFill>
                  <a:srgbClr val="2E2A26"/>
                </a:solidFill>
              </a:rPr>
              <a:t>cae</a:t>
            </a:r>
            <a:r>
              <a:rPr sz="1425" b="0" dirty="0">
                <a:solidFill>
                  <a:srgbClr val="2E2A26"/>
                </a:solidFill>
              </a:rPr>
              <a:t> </a:t>
            </a:r>
            <a:r>
              <a:rPr sz="1425" b="0" dirty="0" err="1">
                <a:solidFill>
                  <a:srgbClr val="2E2A26"/>
                </a:solidFill>
              </a:rPr>
              <a:t>dentro</a:t>
            </a:r>
            <a:r>
              <a:rPr sz="1425" b="0" dirty="0">
                <a:solidFill>
                  <a:srgbClr val="2E2A26"/>
                </a:solidFill>
              </a:rPr>
              <a:t> de </a:t>
            </a:r>
            <a:r>
              <a:rPr sz="1425" b="0" dirty="0" err="1">
                <a:solidFill>
                  <a:srgbClr val="2E2A26"/>
                </a:solidFill>
              </a:rPr>
              <a:t>su</a:t>
            </a:r>
            <a:r>
              <a:rPr sz="1425" b="0" dirty="0">
                <a:solidFill>
                  <a:srgbClr val="2E2A26"/>
                </a:solidFill>
              </a:rPr>
              <a:t> radio</a:t>
            </a:r>
          </a:p>
        </p:txBody>
      </p:sp>
      <p:sp>
        <p:nvSpPr>
          <p:cNvPr id="16" name="check-3">
            <a:extLst>
              <a:ext uri="{FF2B5EF4-FFF2-40B4-BE49-F238E27FC236}">
                <a16:creationId xmlns:a16="http://schemas.microsoft.com/office/drawing/2014/main" id="{6AA2596D-B63A-401D-B9BD-E42D0D611658}"/>
              </a:ext>
            </a:extLst>
          </p:cNvPr>
          <p:cNvSpPr>
            <a:spLocks noGrp="1"/>
          </p:cNvSpPr>
          <p:nvPr/>
        </p:nvSpPr>
        <p:spPr>
          <a:xfrm>
            <a:off x="1009650" y="4543425"/>
            <a:ext cx="285750" cy="285750"/>
          </a:xfrm>
          <a:prstGeom prst="roundRect">
            <a:avLst>
              <a:gd name="adj" fmla="val 50000"/>
            </a:avLst>
          </a:prstGeom>
          <a:solidFill>
            <a:srgbClr val="EC802B"/>
          </a:solidFill>
          <a:ln w="0">
            <a:noFill/>
            <a:prstDash val="solid"/>
          </a:ln>
        </p:spPr>
        <p:txBody>
          <a:bodyPr/>
          <a:lstStyle/>
          <a:p>
            <a:endParaRPr lang="es-MX"/>
          </a:p>
        </p:txBody>
      </p:sp>
      <p:sp>
        <p:nvSpPr>
          <p:cNvPr id="17" name="check-text-3">
            <a:extLst>
              <a:ext uri="{FF2B5EF4-FFF2-40B4-BE49-F238E27FC236}">
                <a16:creationId xmlns:a16="http://schemas.microsoft.com/office/drawing/2014/main" id="{0A10D72A-7FAD-4EE7-8B0E-B3837E7C2E55}"/>
              </a:ext>
            </a:extLst>
          </p:cNvPr>
          <p:cNvSpPr>
            <a:spLocks noGrp="1"/>
          </p:cNvSpPr>
          <p:nvPr/>
        </p:nvSpPr>
        <p:spPr>
          <a:xfrm>
            <a:off x="1009650" y="4514850"/>
            <a:ext cx="285750" cy="323850"/>
          </a:xfrm>
          <a:prstGeom prst="rect">
            <a:avLst/>
          </a:prstGeom>
          <a:noFill/>
          <a:ln w="0">
            <a:noFill/>
            <a:prstDash val="solid"/>
          </a:ln>
        </p:spPr>
        <p:txBody>
          <a:bodyPr anchor="ctr"/>
          <a:lstStyle/>
          <a:p>
            <a:pPr algn="ctr">
              <a:defRPr sz="1350" b="1">
                <a:solidFill>
                  <a:srgbClr val="FFFFFF"/>
                </a:solidFill>
              </a:defRPr>
            </a:pPr>
            <a:r>
              <a:rPr sz="1350" b="1">
                <a:solidFill>
                  <a:srgbClr val="FFFFFF"/>
                </a:solidFill>
              </a:rPr>
              <a:t>✓</a:t>
            </a:r>
          </a:p>
        </p:txBody>
      </p:sp>
      <p:sp>
        <p:nvSpPr>
          <p:cNvPr id="18" name="rule-3">
            <a:extLst>
              <a:ext uri="{FF2B5EF4-FFF2-40B4-BE49-F238E27FC236}">
                <a16:creationId xmlns:a16="http://schemas.microsoft.com/office/drawing/2014/main" id="{15061F73-1E42-417F-8821-EE455E1BC7F6}"/>
              </a:ext>
            </a:extLst>
          </p:cNvPr>
          <p:cNvSpPr>
            <a:spLocks noGrp="1"/>
          </p:cNvSpPr>
          <p:nvPr/>
        </p:nvSpPr>
        <p:spPr>
          <a:xfrm>
            <a:off x="1457325" y="4486275"/>
            <a:ext cx="3667125" cy="400050"/>
          </a:xfrm>
          <a:prstGeom prst="rect">
            <a:avLst/>
          </a:prstGeom>
          <a:noFill/>
          <a:ln w="0">
            <a:noFill/>
            <a:prstDash val="solid"/>
          </a:ln>
        </p:spPr>
        <p:txBody>
          <a:bodyPr anchor="ctr"/>
          <a:lstStyle/>
          <a:p>
            <a:pPr algn="l">
              <a:defRPr sz="1425" b="0">
                <a:solidFill>
                  <a:srgbClr val="2E2A26"/>
                </a:solidFill>
              </a:defRPr>
            </a:pPr>
            <a:r>
              <a:rPr sz="1425" b="0" dirty="0">
                <a:solidFill>
                  <a:srgbClr val="2E2A26"/>
                </a:solidFill>
              </a:rPr>
              <a:t>No </a:t>
            </a:r>
            <a:r>
              <a:rPr sz="1425" b="0" dirty="0" err="1">
                <a:solidFill>
                  <a:srgbClr val="2E2A26"/>
                </a:solidFill>
              </a:rPr>
              <a:t>rechazó</a:t>
            </a:r>
            <a:r>
              <a:rPr sz="1425" b="0" dirty="0">
                <a:solidFill>
                  <a:srgbClr val="2E2A26"/>
                </a:solidFill>
              </a:rPr>
              <a:t> </a:t>
            </a:r>
            <a:r>
              <a:rPr sz="1425" b="0" dirty="0" err="1">
                <a:solidFill>
                  <a:srgbClr val="2E2A26"/>
                </a:solidFill>
              </a:rPr>
              <a:t>previamente</a:t>
            </a:r>
            <a:r>
              <a:rPr sz="1425" b="0" dirty="0">
                <a:solidFill>
                  <a:srgbClr val="2E2A26"/>
                </a:solidFill>
              </a:rPr>
              <a:t> </a:t>
            </a:r>
            <a:r>
              <a:rPr sz="1425" b="0" dirty="0" err="1">
                <a:solidFill>
                  <a:srgbClr val="2E2A26"/>
                </a:solidFill>
              </a:rPr>
              <a:t>el</a:t>
            </a:r>
            <a:r>
              <a:rPr sz="1425" b="0" dirty="0">
                <a:solidFill>
                  <a:srgbClr val="2E2A26"/>
                </a:solidFill>
              </a:rPr>
              <a:t> </a:t>
            </a:r>
            <a:r>
              <a:rPr sz="1425" b="0" dirty="0" err="1">
                <a:solidFill>
                  <a:srgbClr val="2E2A26"/>
                </a:solidFill>
              </a:rPr>
              <a:t>caso</a:t>
            </a:r>
            <a:endParaRPr sz="1425" b="0" dirty="0">
              <a:solidFill>
                <a:srgbClr val="2E2A26"/>
              </a:solidFill>
            </a:endParaRPr>
          </a:p>
        </p:txBody>
      </p:sp>
      <p:sp>
        <p:nvSpPr>
          <p:cNvPr id="19" name="right-panel">
            <a:extLst>
              <a:ext uri="{FF2B5EF4-FFF2-40B4-BE49-F238E27FC236}">
                <a16:creationId xmlns:a16="http://schemas.microsoft.com/office/drawing/2014/main" id="{65ADEE4C-A14D-4C23-AC2F-270A95ABEF7B}"/>
              </a:ext>
            </a:extLst>
          </p:cNvPr>
          <p:cNvSpPr>
            <a:spLocks noGrp="1"/>
          </p:cNvSpPr>
          <p:nvPr/>
        </p:nvSpPr>
        <p:spPr>
          <a:xfrm>
            <a:off x="6096000" y="1952625"/>
            <a:ext cx="5410200" cy="3571875"/>
          </a:xfrm>
          <a:prstGeom prst="roundRect">
            <a:avLst>
              <a:gd name="adj" fmla="val 4267"/>
            </a:avLst>
          </a:prstGeom>
          <a:solidFill>
            <a:srgbClr val="FFF7EF"/>
          </a:solidFill>
          <a:ln w="9525">
            <a:solidFill>
              <a:srgbClr val="F2C49D"/>
            </a:solidFill>
            <a:prstDash val="solid"/>
          </a:ln>
        </p:spPr>
        <p:txBody>
          <a:bodyPr/>
          <a:lstStyle/>
          <a:p>
            <a:endParaRPr lang="es-MX"/>
          </a:p>
        </p:txBody>
      </p:sp>
      <p:sp>
        <p:nvSpPr>
          <p:cNvPr id="20" name="chip-SIN SCORE">
            <a:extLst>
              <a:ext uri="{FF2B5EF4-FFF2-40B4-BE49-F238E27FC236}">
                <a16:creationId xmlns:a16="http://schemas.microsoft.com/office/drawing/2014/main" id="{0A51007B-A5B8-4087-8C02-49A0A51E4886}"/>
              </a:ext>
            </a:extLst>
          </p:cNvPr>
          <p:cNvSpPr>
            <a:spLocks noGrp="1"/>
          </p:cNvSpPr>
          <p:nvPr/>
        </p:nvSpPr>
        <p:spPr>
          <a:xfrm>
            <a:off x="6400800" y="2247900"/>
            <a:ext cx="1181100" cy="323850"/>
          </a:xfrm>
          <a:prstGeom prst="roundRect">
            <a:avLst>
              <a:gd name="adj" fmla="val 47059"/>
            </a:avLst>
          </a:prstGeom>
          <a:solidFill>
            <a:srgbClr val="EC802B"/>
          </a:solidFill>
          <a:ln w="0">
            <a:noFill/>
            <a:prstDash val="solid"/>
          </a:ln>
        </p:spPr>
        <p:txBody>
          <a:bodyPr/>
          <a:lstStyle/>
          <a:p>
            <a:endParaRPr lang="es-MX"/>
          </a:p>
        </p:txBody>
      </p:sp>
      <p:sp>
        <p:nvSpPr>
          <p:cNvPr id="21" name="chip-text-SIN SCORE">
            <a:extLst>
              <a:ext uri="{FF2B5EF4-FFF2-40B4-BE49-F238E27FC236}">
                <a16:creationId xmlns:a16="http://schemas.microsoft.com/office/drawing/2014/main" id="{48F01054-3E01-41AF-8592-414CF45D9259}"/>
              </a:ext>
            </a:extLst>
          </p:cNvPr>
          <p:cNvSpPr>
            <a:spLocks noGrp="1"/>
          </p:cNvSpPr>
          <p:nvPr/>
        </p:nvSpPr>
        <p:spPr>
          <a:xfrm>
            <a:off x="6496050" y="2257425"/>
            <a:ext cx="990600" cy="295275"/>
          </a:xfrm>
          <a:prstGeom prst="rect">
            <a:avLst/>
          </a:prstGeom>
          <a:noFill/>
          <a:ln w="0">
            <a:noFill/>
            <a:prstDash val="solid"/>
          </a:ln>
        </p:spPr>
        <p:txBody>
          <a:bodyPr anchor="ctr"/>
          <a:lstStyle/>
          <a:p>
            <a:pPr algn="ctr">
              <a:defRPr sz="1125" b="1">
                <a:solidFill>
                  <a:srgbClr val="FFFFFF"/>
                </a:solidFill>
              </a:defRPr>
            </a:pPr>
            <a:r>
              <a:rPr sz="1125" b="1">
                <a:solidFill>
                  <a:srgbClr val="FFFFFF"/>
                </a:solidFill>
              </a:rPr>
              <a:t>SIN SCORE</a:t>
            </a:r>
          </a:p>
        </p:txBody>
      </p:sp>
      <p:sp>
        <p:nvSpPr>
          <p:cNvPr id="22" name="right-title">
            <a:extLst>
              <a:ext uri="{FF2B5EF4-FFF2-40B4-BE49-F238E27FC236}">
                <a16:creationId xmlns:a16="http://schemas.microsoft.com/office/drawing/2014/main" id="{1DC1AFFB-E5AF-4531-85F1-22CA3D23D5A7}"/>
              </a:ext>
            </a:extLst>
          </p:cNvPr>
          <p:cNvSpPr>
            <a:spLocks noGrp="1"/>
          </p:cNvSpPr>
          <p:nvPr/>
        </p:nvSpPr>
        <p:spPr>
          <a:xfrm>
            <a:off x="6400800" y="2790825"/>
            <a:ext cx="4524375" cy="714375"/>
          </a:xfrm>
          <a:prstGeom prst="rect">
            <a:avLst/>
          </a:prstGeom>
          <a:noFill/>
          <a:ln w="0">
            <a:noFill/>
            <a:prstDash val="solid"/>
          </a:ln>
        </p:spPr>
        <p:txBody>
          <a:bodyPr anchor="ctr"/>
          <a:lstStyle/>
          <a:p>
            <a:pPr algn="l">
              <a:defRPr sz="2250" b="1">
                <a:solidFill>
                  <a:srgbClr val="2E2A26"/>
                </a:solidFill>
              </a:defRPr>
            </a:pPr>
            <a:r>
              <a:rPr sz="2250" b="1" dirty="0">
                <a:solidFill>
                  <a:srgbClr val="2E2A26"/>
                </a:solidFill>
              </a:rPr>
              <a:t>Entre las </a:t>
            </a:r>
            <a:r>
              <a:rPr sz="2250" b="1" dirty="0" err="1">
                <a:solidFill>
                  <a:srgbClr val="2E2A26"/>
                </a:solidFill>
              </a:rPr>
              <a:t>elegibles</a:t>
            </a:r>
            <a:r>
              <a:rPr sz="2250" b="1" dirty="0">
                <a:solidFill>
                  <a:srgbClr val="2E2A26"/>
                </a:solidFill>
              </a:rPr>
              <a:t>, </a:t>
            </a:r>
            <a:r>
              <a:rPr sz="2250" b="1" dirty="0" err="1">
                <a:solidFill>
                  <a:srgbClr val="2E2A26"/>
                </a:solidFill>
              </a:rPr>
              <a:t>gana</a:t>
            </a:r>
            <a:r>
              <a:rPr sz="2250" b="1" dirty="0">
                <a:solidFill>
                  <a:srgbClr val="2E2A26"/>
                </a:solidFill>
              </a:rPr>
              <a:t> la </a:t>
            </a:r>
            <a:r>
              <a:rPr sz="2250" b="1" dirty="0" err="1">
                <a:solidFill>
                  <a:srgbClr val="2E2A26"/>
                </a:solidFill>
              </a:rPr>
              <a:t>más</a:t>
            </a:r>
            <a:r>
              <a:rPr sz="2250" b="1" dirty="0">
                <a:solidFill>
                  <a:srgbClr val="2E2A26"/>
                </a:solidFill>
              </a:rPr>
              <a:t> </a:t>
            </a:r>
            <a:r>
              <a:rPr sz="2250" b="1" dirty="0" err="1">
                <a:solidFill>
                  <a:srgbClr val="2E2A26"/>
                </a:solidFill>
              </a:rPr>
              <a:t>cercana</a:t>
            </a:r>
            <a:endParaRPr sz="2250" b="1" dirty="0">
              <a:solidFill>
                <a:srgbClr val="2E2A26"/>
              </a:solidFill>
            </a:endParaRPr>
          </a:p>
        </p:txBody>
      </p:sp>
      <p:sp>
        <p:nvSpPr>
          <p:cNvPr id="23" name="right-body">
            <a:extLst>
              <a:ext uri="{FF2B5EF4-FFF2-40B4-BE49-F238E27FC236}">
                <a16:creationId xmlns:a16="http://schemas.microsoft.com/office/drawing/2014/main" id="{0A865CBF-D491-49A5-88DB-756C75A35F15}"/>
              </a:ext>
            </a:extLst>
          </p:cNvPr>
          <p:cNvSpPr>
            <a:spLocks noGrp="1"/>
          </p:cNvSpPr>
          <p:nvPr/>
        </p:nvSpPr>
        <p:spPr>
          <a:xfrm>
            <a:off x="6400800" y="3667125"/>
            <a:ext cx="4381500" cy="876300"/>
          </a:xfrm>
          <a:prstGeom prst="rect">
            <a:avLst/>
          </a:prstGeom>
          <a:noFill/>
          <a:ln w="0">
            <a:noFill/>
            <a:prstDash val="solid"/>
          </a:ln>
        </p:spPr>
        <p:txBody>
          <a:bodyPr anchor="ctr"/>
          <a:lstStyle/>
          <a:p>
            <a:pPr algn="l">
              <a:defRPr sz="1500" b="0">
                <a:solidFill>
                  <a:srgbClr val="7A6A5E"/>
                </a:solidFill>
              </a:defRPr>
            </a:pPr>
            <a:r>
              <a:rPr sz="1500" b="0" dirty="0">
                <a:solidFill>
                  <a:srgbClr val="7A6A5E"/>
                </a:solidFill>
              </a:rPr>
              <a:t>Si </a:t>
            </a:r>
            <a:r>
              <a:rPr sz="1500" b="0" dirty="0" err="1">
                <a:solidFill>
                  <a:srgbClr val="7A6A5E"/>
                </a:solidFill>
              </a:rPr>
              <a:t>existe</a:t>
            </a:r>
            <a:r>
              <a:rPr sz="1500" b="0" dirty="0">
                <a:solidFill>
                  <a:srgbClr val="7A6A5E"/>
                </a:solidFill>
              </a:rPr>
              <a:t> </a:t>
            </a:r>
            <a:r>
              <a:rPr sz="1500" b="0" dirty="0" err="1">
                <a:solidFill>
                  <a:srgbClr val="7A6A5E"/>
                </a:solidFill>
              </a:rPr>
              <a:t>una</a:t>
            </a:r>
            <a:r>
              <a:rPr sz="1500" b="0" dirty="0">
                <a:solidFill>
                  <a:srgbClr val="7A6A5E"/>
                </a:solidFill>
              </a:rPr>
              <a:t> </a:t>
            </a:r>
            <a:r>
              <a:rPr sz="1500" b="0" dirty="0" err="1">
                <a:solidFill>
                  <a:srgbClr val="7A6A5E"/>
                </a:solidFill>
              </a:rPr>
              <a:t>asociación</a:t>
            </a:r>
            <a:r>
              <a:rPr sz="1500" b="0" dirty="0">
                <a:solidFill>
                  <a:srgbClr val="7A6A5E"/>
                </a:solidFill>
              </a:rPr>
              <a:t>, </a:t>
            </a:r>
            <a:r>
              <a:rPr sz="1500" b="0" dirty="0" err="1">
                <a:solidFill>
                  <a:srgbClr val="7A6A5E"/>
                </a:solidFill>
              </a:rPr>
              <a:t>el</a:t>
            </a:r>
            <a:r>
              <a:rPr sz="1500" b="0" dirty="0">
                <a:solidFill>
                  <a:srgbClr val="7A6A5E"/>
                </a:solidFill>
              </a:rPr>
              <a:t> </a:t>
            </a:r>
            <a:r>
              <a:rPr sz="1500" b="0" dirty="0" err="1">
                <a:solidFill>
                  <a:srgbClr val="7A6A5E"/>
                </a:solidFill>
              </a:rPr>
              <a:t>reporte</a:t>
            </a:r>
            <a:r>
              <a:rPr sz="1500" b="0" dirty="0">
                <a:solidFill>
                  <a:srgbClr val="7A6A5E"/>
                </a:solidFill>
              </a:rPr>
              <a:t> </a:t>
            </a:r>
            <a:r>
              <a:rPr sz="1500" b="0" dirty="0" err="1">
                <a:solidFill>
                  <a:srgbClr val="7A6A5E"/>
                </a:solidFill>
              </a:rPr>
              <a:t>nace</a:t>
            </a:r>
            <a:r>
              <a:rPr sz="1500" b="0" dirty="0">
                <a:solidFill>
                  <a:srgbClr val="7A6A5E"/>
                </a:solidFill>
              </a:rPr>
              <a:t> </a:t>
            </a:r>
            <a:r>
              <a:rPr sz="1500" b="0" dirty="0" err="1">
                <a:solidFill>
                  <a:srgbClr val="7A6A5E"/>
                </a:solidFill>
              </a:rPr>
              <a:t>asignado</a:t>
            </a:r>
            <a:r>
              <a:rPr sz="1500" b="0" dirty="0">
                <a:solidFill>
                  <a:srgbClr val="7A6A5E"/>
                </a:solidFill>
              </a:rPr>
              <a:t>. Si </a:t>
            </a:r>
            <a:r>
              <a:rPr sz="1500" b="0" dirty="0" err="1">
                <a:solidFill>
                  <a:srgbClr val="7A6A5E"/>
                </a:solidFill>
              </a:rPr>
              <a:t>ninguna</a:t>
            </a:r>
            <a:r>
              <a:rPr sz="1500" b="0" dirty="0">
                <a:solidFill>
                  <a:srgbClr val="7A6A5E"/>
                </a:solidFill>
              </a:rPr>
              <a:t> </a:t>
            </a:r>
            <a:r>
              <a:rPr sz="1500" b="0" dirty="0" err="1">
                <a:solidFill>
                  <a:srgbClr val="7A6A5E"/>
                </a:solidFill>
              </a:rPr>
              <a:t>cumple</a:t>
            </a:r>
            <a:r>
              <a:rPr sz="1500" b="0" dirty="0">
                <a:solidFill>
                  <a:srgbClr val="7A6A5E"/>
                </a:solidFill>
              </a:rPr>
              <a:t>, </a:t>
            </a:r>
            <a:r>
              <a:rPr sz="1500" b="0" dirty="0" err="1">
                <a:solidFill>
                  <a:srgbClr val="7A6A5E"/>
                </a:solidFill>
              </a:rPr>
              <a:t>permanece</a:t>
            </a:r>
            <a:r>
              <a:rPr sz="1500" b="0" dirty="0">
                <a:solidFill>
                  <a:srgbClr val="7A6A5E"/>
                </a:solidFill>
              </a:rPr>
              <a:t> </a:t>
            </a:r>
            <a:r>
              <a:rPr sz="1500" b="0" dirty="0" err="1">
                <a:solidFill>
                  <a:srgbClr val="7A6A5E"/>
                </a:solidFill>
              </a:rPr>
              <a:t>pendiente</a:t>
            </a:r>
            <a:r>
              <a:rPr sz="1500" b="0" dirty="0">
                <a:solidFill>
                  <a:srgbClr val="7A6A5E"/>
                </a:solidFill>
              </a:rPr>
              <a:t>.</a:t>
            </a:r>
          </a:p>
        </p:txBody>
      </p:sp>
      <p:sp>
        <p:nvSpPr>
          <p:cNvPr id="24" name="formula">
            <a:extLst>
              <a:ext uri="{FF2B5EF4-FFF2-40B4-BE49-F238E27FC236}">
                <a16:creationId xmlns:a16="http://schemas.microsoft.com/office/drawing/2014/main" id="{E46A035D-FAF4-4591-95BC-7D69D2F153CE}"/>
              </a:ext>
            </a:extLst>
          </p:cNvPr>
          <p:cNvSpPr>
            <a:spLocks noGrp="1"/>
          </p:cNvSpPr>
          <p:nvPr/>
        </p:nvSpPr>
        <p:spPr>
          <a:xfrm>
            <a:off x="6400800" y="4781550"/>
            <a:ext cx="4419600" cy="457200"/>
          </a:xfrm>
          <a:prstGeom prst="roundRect">
            <a:avLst>
              <a:gd name="adj" fmla="val 33333"/>
            </a:avLst>
          </a:prstGeom>
          <a:solidFill>
            <a:srgbClr val="F5EAD8"/>
          </a:solidFill>
          <a:ln w="0">
            <a:noFill/>
            <a:prstDash val="solid"/>
          </a:ln>
        </p:spPr>
        <p:txBody>
          <a:bodyPr/>
          <a:lstStyle/>
          <a:p>
            <a:endParaRPr lang="es-MX"/>
          </a:p>
        </p:txBody>
      </p:sp>
      <p:sp>
        <p:nvSpPr>
          <p:cNvPr id="25" name="formula-text">
            <a:extLst>
              <a:ext uri="{FF2B5EF4-FFF2-40B4-BE49-F238E27FC236}">
                <a16:creationId xmlns:a16="http://schemas.microsoft.com/office/drawing/2014/main" id="{7A92FD12-B665-496D-8FAA-1F40ED8E6D08}"/>
              </a:ext>
            </a:extLst>
          </p:cNvPr>
          <p:cNvSpPr>
            <a:spLocks noGrp="1"/>
          </p:cNvSpPr>
          <p:nvPr/>
        </p:nvSpPr>
        <p:spPr>
          <a:xfrm>
            <a:off x="6553200" y="4838700"/>
            <a:ext cx="4114800" cy="323850"/>
          </a:xfrm>
          <a:prstGeom prst="rect">
            <a:avLst/>
          </a:prstGeom>
          <a:noFill/>
          <a:ln w="0">
            <a:noFill/>
            <a:prstDash val="solid"/>
          </a:ln>
        </p:spPr>
        <p:txBody>
          <a:bodyPr anchor="ctr"/>
          <a:lstStyle/>
          <a:p>
            <a:pPr algn="ctr">
              <a:defRPr sz="1275" b="1">
                <a:solidFill>
                  <a:srgbClr val="2E2A26"/>
                </a:solidFill>
              </a:defRPr>
            </a:pPr>
            <a:r>
              <a:rPr sz="1275" b="1" dirty="0" err="1">
                <a:solidFill>
                  <a:srgbClr val="2E2A26"/>
                </a:solidFill>
              </a:rPr>
              <a:t>todas</a:t>
            </a:r>
            <a:r>
              <a:rPr sz="1275" b="1" dirty="0">
                <a:solidFill>
                  <a:srgbClr val="2E2A26"/>
                </a:solidFill>
              </a:rPr>
              <a:t> las </a:t>
            </a:r>
            <a:r>
              <a:rPr sz="1275" b="1" dirty="0" err="1">
                <a:solidFill>
                  <a:srgbClr val="2E2A26"/>
                </a:solidFill>
              </a:rPr>
              <a:t>especies</a:t>
            </a:r>
            <a:r>
              <a:rPr sz="1275" b="1" dirty="0">
                <a:solidFill>
                  <a:srgbClr val="2E2A26"/>
                </a:solidFill>
              </a:rPr>
              <a:t> </a:t>
            </a:r>
            <a:r>
              <a:rPr sz="1275" b="1" dirty="0" err="1">
                <a:solidFill>
                  <a:srgbClr val="2E2A26"/>
                </a:solidFill>
              </a:rPr>
              <a:t>requeridas</a:t>
            </a:r>
            <a:r>
              <a:rPr sz="1275" b="1" dirty="0">
                <a:solidFill>
                  <a:srgbClr val="2E2A26"/>
                </a:solidFill>
              </a:rPr>
              <a:t> ⊆ </a:t>
            </a:r>
            <a:r>
              <a:rPr sz="1275" b="1" dirty="0" err="1">
                <a:solidFill>
                  <a:srgbClr val="2E2A26"/>
                </a:solidFill>
              </a:rPr>
              <a:t>especies</a:t>
            </a:r>
            <a:r>
              <a:rPr sz="1275" b="1" dirty="0">
                <a:solidFill>
                  <a:srgbClr val="2E2A26"/>
                </a:solidFill>
              </a:rPr>
              <a:t> </a:t>
            </a:r>
            <a:r>
              <a:rPr sz="1275" b="1" dirty="0" err="1">
                <a:solidFill>
                  <a:srgbClr val="2E2A26"/>
                </a:solidFill>
              </a:rPr>
              <a:t>atendidas</a:t>
            </a:r>
            <a:endParaRPr sz="1275" b="1" dirty="0">
              <a:solidFill>
                <a:srgbClr val="2E2A26"/>
              </a:solidFill>
            </a:endParaRPr>
          </a:p>
        </p:txBody>
      </p:sp>
    </p:spTree>
    <p:extLst>
      <p:ext uri="{BB962C8B-B14F-4D97-AF65-F5344CB8AC3E}">
        <p14:creationId xmlns:p14="http://schemas.microsoft.com/office/powerpoint/2010/main" val="1695310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EAD8"/>
        </a:solidFill>
        <a:effectLst/>
      </p:bgPr>
    </p:bg>
    <p:spTree>
      <p:nvGrpSpPr>
        <p:cNvPr id="1" name=""/>
        <p:cNvGrpSpPr/>
        <p:nvPr/>
      </p:nvGrpSpPr>
      <p:grpSpPr>
        <a:xfrm>
          <a:off x="0" y="0"/>
          <a:ext cx="0" cy="0"/>
          <a:chOff x="0" y="0"/>
          <a:chExt cx="0" cy="0"/>
        </a:xfrm>
      </p:grpSpPr>
      <p:sp>
        <p:nvSpPr>
          <p:cNvPr id="24" name="kicker">
            <a:extLst>
              <a:ext uri="{FF2B5EF4-FFF2-40B4-BE49-F238E27FC236}">
                <a16:creationId xmlns:a16="http://schemas.microsoft.com/office/drawing/2014/main" id="{D626318E-E565-4B6F-916C-09409D266C76}"/>
              </a:ext>
            </a:extLst>
          </p:cNvPr>
          <p:cNvSpPr>
            <a:spLocks noGrp="1"/>
          </p:cNvSpPr>
          <p:nvPr/>
        </p:nvSpPr>
        <p:spPr>
          <a:xfrm>
            <a:off x="685800" y="400050"/>
            <a:ext cx="7239000" cy="266700"/>
          </a:xfrm>
          <a:prstGeom prst="rect">
            <a:avLst/>
          </a:prstGeom>
          <a:noFill/>
          <a:ln w="0">
            <a:noFill/>
            <a:prstDash val="solid"/>
          </a:ln>
        </p:spPr>
        <p:txBody>
          <a:bodyPr anchor="ctr"/>
          <a:lstStyle/>
          <a:p>
            <a:pPr algn="l">
              <a:defRPr sz="1200" b="1">
                <a:solidFill>
                  <a:srgbClr val="EC802B"/>
                </a:solidFill>
              </a:defRPr>
            </a:pPr>
            <a:r>
              <a:rPr sz="1200" b="1">
                <a:solidFill>
                  <a:srgbClr val="EC802B"/>
                </a:solidFill>
              </a:rPr>
              <a:t>PASO 2 · FILTROS DUROS</a:t>
            </a:r>
          </a:p>
        </p:txBody>
      </p:sp>
      <p:sp>
        <p:nvSpPr>
          <p:cNvPr id="2" name="title">
            <a:extLst>
              <a:ext uri="{FF2B5EF4-FFF2-40B4-BE49-F238E27FC236}">
                <a16:creationId xmlns:a16="http://schemas.microsoft.com/office/drawing/2014/main" id="{73F15ECA-D100-456F-AF98-97E405B8F648}"/>
              </a:ext>
            </a:extLst>
          </p:cNvPr>
          <p:cNvSpPr>
            <a:spLocks noGrp="1"/>
          </p:cNvSpPr>
          <p:nvPr/>
        </p:nvSpPr>
        <p:spPr>
          <a:xfrm>
            <a:off x="685800" y="723900"/>
            <a:ext cx="10382250" cy="647700"/>
          </a:xfrm>
          <a:prstGeom prst="rect">
            <a:avLst/>
          </a:prstGeom>
          <a:noFill/>
          <a:ln w="0">
            <a:noFill/>
            <a:prstDash val="solid"/>
          </a:ln>
        </p:spPr>
        <p:txBody>
          <a:bodyPr anchor="ctr"/>
          <a:lstStyle/>
          <a:p>
            <a:pPr algn="l">
              <a:defRPr sz="2850" b="1">
                <a:solidFill>
                  <a:srgbClr val="2E2A26"/>
                </a:solidFill>
              </a:defRPr>
            </a:pPr>
            <a:r>
              <a:rPr sz="2850" b="1" dirty="0">
                <a:solidFill>
                  <a:srgbClr val="2E2A26"/>
                </a:solidFill>
              </a:rPr>
              <a:t>Solo </a:t>
            </a:r>
            <a:r>
              <a:rPr sz="2850" b="1" dirty="0" err="1">
                <a:solidFill>
                  <a:srgbClr val="2E2A26"/>
                </a:solidFill>
              </a:rPr>
              <a:t>los</a:t>
            </a:r>
            <a:r>
              <a:rPr sz="2850" b="1" dirty="0">
                <a:solidFill>
                  <a:srgbClr val="2E2A26"/>
                </a:solidFill>
              </a:rPr>
              <a:t> </a:t>
            </a:r>
            <a:r>
              <a:rPr sz="2850" b="1" dirty="0" err="1">
                <a:solidFill>
                  <a:srgbClr val="2E2A26"/>
                </a:solidFill>
              </a:rPr>
              <a:t>voluntarios</a:t>
            </a:r>
            <a:r>
              <a:rPr sz="2850" b="1" dirty="0">
                <a:solidFill>
                  <a:srgbClr val="2E2A26"/>
                </a:solidFill>
              </a:rPr>
              <a:t> </a:t>
            </a:r>
            <a:r>
              <a:rPr sz="2850" b="1" dirty="0" err="1">
                <a:solidFill>
                  <a:srgbClr val="2E2A26"/>
                </a:solidFill>
              </a:rPr>
              <a:t>realmente</a:t>
            </a:r>
            <a:r>
              <a:rPr sz="2850" b="1" dirty="0">
                <a:solidFill>
                  <a:srgbClr val="2E2A26"/>
                </a:solidFill>
              </a:rPr>
              <a:t> viables </a:t>
            </a:r>
            <a:r>
              <a:rPr sz="2850" b="1" dirty="0" err="1">
                <a:solidFill>
                  <a:srgbClr val="2E2A26"/>
                </a:solidFill>
              </a:rPr>
              <a:t>llegan</a:t>
            </a:r>
            <a:r>
              <a:rPr sz="2850" b="1" dirty="0">
                <a:solidFill>
                  <a:srgbClr val="2E2A26"/>
                </a:solidFill>
              </a:rPr>
              <a:t> al ranking</a:t>
            </a:r>
          </a:p>
        </p:txBody>
      </p:sp>
      <p:sp>
        <p:nvSpPr>
          <p:cNvPr id="3" name="page">
            <a:extLst>
              <a:ext uri="{FF2B5EF4-FFF2-40B4-BE49-F238E27FC236}">
                <a16:creationId xmlns:a16="http://schemas.microsoft.com/office/drawing/2014/main" id="{49622972-83AA-4F07-A3FA-CDFAE4B6EF2F}"/>
              </a:ext>
            </a:extLst>
          </p:cNvPr>
          <p:cNvSpPr>
            <a:spLocks noGrp="1"/>
          </p:cNvSpPr>
          <p:nvPr/>
        </p:nvSpPr>
        <p:spPr>
          <a:xfrm>
            <a:off x="11049000" y="457200"/>
            <a:ext cx="457200" cy="266700"/>
          </a:xfrm>
          <a:prstGeom prst="rect">
            <a:avLst/>
          </a:prstGeom>
          <a:noFill/>
          <a:ln w="0">
            <a:noFill/>
            <a:prstDash val="solid"/>
          </a:ln>
        </p:spPr>
        <p:txBody>
          <a:bodyPr anchor="ctr"/>
          <a:lstStyle/>
          <a:p>
            <a:pPr algn="r">
              <a:defRPr sz="1125" b="1">
                <a:solidFill>
                  <a:srgbClr val="9B8B7E"/>
                </a:solidFill>
              </a:defRPr>
            </a:pPr>
            <a:r>
              <a:rPr sz="1125" b="1">
                <a:solidFill>
                  <a:srgbClr val="9B8B7E"/>
                </a:solidFill>
              </a:rPr>
              <a:t>04</a:t>
            </a:r>
          </a:p>
        </p:txBody>
      </p:sp>
      <p:sp>
        <p:nvSpPr>
          <p:cNvPr id="4" name="accent">
            <a:extLst>
              <a:ext uri="{FF2B5EF4-FFF2-40B4-BE49-F238E27FC236}">
                <a16:creationId xmlns:a16="http://schemas.microsoft.com/office/drawing/2014/main" id="{8662F570-AA29-4CB2-B13A-DA28B2D7D9B0}"/>
              </a:ext>
            </a:extLst>
          </p:cNvPr>
          <p:cNvSpPr>
            <a:spLocks noGrp="1"/>
          </p:cNvSpPr>
          <p:nvPr/>
        </p:nvSpPr>
        <p:spPr>
          <a:xfrm>
            <a:off x="685800" y="1457325"/>
            <a:ext cx="914400" cy="47625"/>
          </a:xfrm>
          <a:prstGeom prst="rect">
            <a:avLst/>
          </a:prstGeom>
          <a:solidFill>
            <a:srgbClr val="EC802B"/>
          </a:solidFill>
          <a:ln w="0">
            <a:noFill/>
            <a:prstDash val="solid"/>
          </a:ln>
        </p:spPr>
        <p:txBody>
          <a:bodyPr/>
          <a:lstStyle/>
          <a:p>
            <a:endParaRPr lang="es-MX"/>
          </a:p>
        </p:txBody>
      </p:sp>
      <p:sp>
        <p:nvSpPr>
          <p:cNvPr id="5" name="filter-0">
            <a:extLst>
              <a:ext uri="{FF2B5EF4-FFF2-40B4-BE49-F238E27FC236}">
                <a16:creationId xmlns:a16="http://schemas.microsoft.com/office/drawing/2014/main" id="{429D54FD-A461-4E19-840F-0EBA7CFC21B8}"/>
              </a:ext>
            </a:extLst>
          </p:cNvPr>
          <p:cNvSpPr>
            <a:spLocks noGrp="1"/>
          </p:cNvSpPr>
          <p:nvPr/>
        </p:nvSpPr>
        <p:spPr>
          <a:xfrm>
            <a:off x="685800" y="1943100"/>
            <a:ext cx="5105400" cy="1409700"/>
          </a:xfrm>
          <a:prstGeom prst="roundRect">
            <a:avLst>
              <a:gd name="adj" fmla="val 10811"/>
            </a:avLst>
          </a:prstGeom>
          <a:solidFill>
            <a:srgbClr val="FFFFFF"/>
          </a:solidFill>
          <a:ln w="9525">
            <a:solidFill>
              <a:srgbClr val="DCCDBF"/>
            </a:solidFill>
            <a:prstDash val="solid"/>
          </a:ln>
        </p:spPr>
        <p:txBody>
          <a:bodyPr/>
          <a:lstStyle/>
          <a:p>
            <a:endParaRPr lang="es-MX"/>
          </a:p>
        </p:txBody>
      </p:sp>
      <p:sp>
        <p:nvSpPr>
          <p:cNvPr id="6" name="num-0">
            <a:extLst>
              <a:ext uri="{FF2B5EF4-FFF2-40B4-BE49-F238E27FC236}">
                <a16:creationId xmlns:a16="http://schemas.microsoft.com/office/drawing/2014/main" id="{7BEE802D-9C28-4754-A9D0-F1B705EDF9B7}"/>
              </a:ext>
            </a:extLst>
          </p:cNvPr>
          <p:cNvSpPr>
            <a:spLocks noGrp="1"/>
          </p:cNvSpPr>
          <p:nvPr/>
        </p:nvSpPr>
        <p:spPr>
          <a:xfrm>
            <a:off x="914400" y="2152650"/>
            <a:ext cx="552450" cy="381000"/>
          </a:xfrm>
          <a:prstGeom prst="rect">
            <a:avLst/>
          </a:prstGeom>
          <a:noFill/>
          <a:ln w="0">
            <a:noFill/>
            <a:prstDash val="solid"/>
          </a:ln>
        </p:spPr>
        <p:txBody>
          <a:bodyPr anchor="ctr"/>
          <a:lstStyle/>
          <a:p>
            <a:pPr algn="l">
              <a:defRPr sz="1800" b="1">
                <a:solidFill>
                  <a:srgbClr val="66BCB4"/>
                </a:solidFill>
              </a:defRPr>
            </a:pPr>
            <a:r>
              <a:rPr sz="1800" b="1">
                <a:solidFill>
                  <a:srgbClr val="66BCB4"/>
                </a:solidFill>
              </a:rPr>
              <a:t>01</a:t>
            </a:r>
          </a:p>
        </p:txBody>
      </p:sp>
      <p:sp>
        <p:nvSpPr>
          <p:cNvPr id="7" name="ft-0">
            <a:extLst>
              <a:ext uri="{FF2B5EF4-FFF2-40B4-BE49-F238E27FC236}">
                <a16:creationId xmlns:a16="http://schemas.microsoft.com/office/drawing/2014/main" id="{8D283751-566E-40C7-8BE0-35E4B30F8977}"/>
              </a:ext>
            </a:extLst>
          </p:cNvPr>
          <p:cNvSpPr>
            <a:spLocks noGrp="1"/>
          </p:cNvSpPr>
          <p:nvPr/>
        </p:nvSpPr>
        <p:spPr>
          <a:xfrm>
            <a:off x="1619250" y="2114550"/>
            <a:ext cx="3714750" cy="400050"/>
          </a:xfrm>
          <a:prstGeom prst="rect">
            <a:avLst/>
          </a:prstGeom>
          <a:noFill/>
          <a:ln w="0">
            <a:noFill/>
            <a:prstDash val="solid"/>
          </a:ln>
        </p:spPr>
        <p:txBody>
          <a:bodyPr anchor="ctr"/>
          <a:lstStyle/>
          <a:p>
            <a:pPr algn="l">
              <a:defRPr sz="1800" b="1">
                <a:solidFill>
                  <a:srgbClr val="2E2A26"/>
                </a:solidFill>
              </a:defRPr>
            </a:pPr>
            <a:r>
              <a:rPr sz="1800" b="1">
                <a:solidFill>
                  <a:srgbClr val="2E2A26"/>
                </a:solidFill>
              </a:rPr>
              <a:t>Estado habilitado</a:t>
            </a:r>
          </a:p>
        </p:txBody>
      </p:sp>
      <p:sp>
        <p:nvSpPr>
          <p:cNvPr id="8" name="fb-0">
            <a:extLst>
              <a:ext uri="{FF2B5EF4-FFF2-40B4-BE49-F238E27FC236}">
                <a16:creationId xmlns:a16="http://schemas.microsoft.com/office/drawing/2014/main" id="{B54721BF-A799-4B6D-A260-3ADA25EAC6D2}"/>
              </a:ext>
            </a:extLst>
          </p:cNvPr>
          <p:cNvSpPr>
            <a:spLocks noGrp="1"/>
          </p:cNvSpPr>
          <p:nvPr/>
        </p:nvSpPr>
        <p:spPr>
          <a:xfrm>
            <a:off x="1619250" y="2590800"/>
            <a:ext cx="3667125" cy="533400"/>
          </a:xfrm>
          <a:prstGeom prst="rect">
            <a:avLst/>
          </a:prstGeom>
          <a:noFill/>
          <a:ln w="0">
            <a:noFill/>
            <a:prstDash val="solid"/>
          </a:ln>
        </p:spPr>
        <p:txBody>
          <a:bodyPr anchor="ctr"/>
          <a:lstStyle/>
          <a:p>
            <a:pPr algn="l">
              <a:defRPr sz="1275" b="0">
                <a:solidFill>
                  <a:srgbClr val="7A6A5E"/>
                </a:solidFill>
              </a:defRPr>
            </a:pPr>
            <a:r>
              <a:rPr sz="1275" b="0" dirty="0" err="1">
                <a:solidFill>
                  <a:srgbClr val="7A6A5E"/>
                </a:solidFill>
              </a:rPr>
              <a:t>Activo</a:t>
            </a:r>
            <a:r>
              <a:rPr sz="1275" b="0" dirty="0">
                <a:solidFill>
                  <a:srgbClr val="7A6A5E"/>
                </a:solidFill>
              </a:rPr>
              <a:t> </a:t>
            </a:r>
            <a:r>
              <a:rPr sz="1275" b="0" dirty="0" err="1">
                <a:solidFill>
                  <a:srgbClr val="7A6A5E"/>
                </a:solidFill>
              </a:rPr>
              <a:t>nivel</a:t>
            </a:r>
            <a:r>
              <a:rPr sz="1275" b="0" dirty="0">
                <a:solidFill>
                  <a:srgbClr val="7A6A5E"/>
                </a:solidFill>
              </a:rPr>
              <a:t> 1 o 2 y </a:t>
            </a:r>
            <a:r>
              <a:rPr sz="1275" b="0" dirty="0" err="1">
                <a:solidFill>
                  <a:srgbClr val="7A6A5E"/>
                </a:solidFill>
              </a:rPr>
              <a:t>términos</a:t>
            </a:r>
            <a:r>
              <a:rPr sz="1275" b="0" dirty="0">
                <a:solidFill>
                  <a:srgbClr val="7A6A5E"/>
                </a:solidFill>
              </a:rPr>
              <a:t> </a:t>
            </a:r>
            <a:r>
              <a:rPr sz="1275" b="0" dirty="0" err="1">
                <a:solidFill>
                  <a:srgbClr val="7A6A5E"/>
                </a:solidFill>
              </a:rPr>
              <a:t>aceptados</a:t>
            </a:r>
            <a:r>
              <a:rPr sz="1275" b="0" dirty="0">
                <a:solidFill>
                  <a:srgbClr val="7A6A5E"/>
                </a:solidFill>
              </a:rPr>
              <a:t>.</a:t>
            </a:r>
          </a:p>
        </p:txBody>
      </p:sp>
      <p:sp>
        <p:nvSpPr>
          <p:cNvPr id="9" name="filter-1">
            <a:extLst>
              <a:ext uri="{FF2B5EF4-FFF2-40B4-BE49-F238E27FC236}">
                <a16:creationId xmlns:a16="http://schemas.microsoft.com/office/drawing/2014/main" id="{E0744618-1346-4589-826F-7E751EBB28CB}"/>
              </a:ext>
            </a:extLst>
          </p:cNvPr>
          <p:cNvSpPr>
            <a:spLocks noGrp="1"/>
          </p:cNvSpPr>
          <p:nvPr/>
        </p:nvSpPr>
        <p:spPr>
          <a:xfrm>
            <a:off x="6096000" y="1943100"/>
            <a:ext cx="5105400" cy="1409700"/>
          </a:xfrm>
          <a:prstGeom prst="roundRect">
            <a:avLst>
              <a:gd name="adj" fmla="val 10811"/>
            </a:avLst>
          </a:prstGeom>
          <a:solidFill>
            <a:srgbClr val="FFFFFF"/>
          </a:solidFill>
          <a:ln w="9525">
            <a:solidFill>
              <a:srgbClr val="DCCDBF"/>
            </a:solidFill>
            <a:prstDash val="solid"/>
          </a:ln>
        </p:spPr>
        <p:txBody>
          <a:bodyPr/>
          <a:lstStyle/>
          <a:p>
            <a:endParaRPr lang="es-MX"/>
          </a:p>
        </p:txBody>
      </p:sp>
      <p:sp>
        <p:nvSpPr>
          <p:cNvPr id="10" name="num-1">
            <a:extLst>
              <a:ext uri="{FF2B5EF4-FFF2-40B4-BE49-F238E27FC236}">
                <a16:creationId xmlns:a16="http://schemas.microsoft.com/office/drawing/2014/main" id="{FD48EDBA-D8AE-4656-8D6D-09B21F6574C8}"/>
              </a:ext>
            </a:extLst>
          </p:cNvPr>
          <p:cNvSpPr>
            <a:spLocks noGrp="1"/>
          </p:cNvSpPr>
          <p:nvPr/>
        </p:nvSpPr>
        <p:spPr>
          <a:xfrm>
            <a:off x="6324600" y="2152650"/>
            <a:ext cx="552450" cy="381000"/>
          </a:xfrm>
          <a:prstGeom prst="rect">
            <a:avLst/>
          </a:prstGeom>
          <a:noFill/>
          <a:ln w="0">
            <a:noFill/>
            <a:prstDash val="solid"/>
          </a:ln>
        </p:spPr>
        <p:txBody>
          <a:bodyPr anchor="ctr"/>
          <a:lstStyle/>
          <a:p>
            <a:pPr algn="l">
              <a:defRPr sz="1800" b="1">
                <a:solidFill>
                  <a:srgbClr val="66BCB4"/>
                </a:solidFill>
              </a:defRPr>
            </a:pPr>
            <a:r>
              <a:rPr sz="1800" b="1">
                <a:solidFill>
                  <a:srgbClr val="66BCB4"/>
                </a:solidFill>
              </a:rPr>
              <a:t>02</a:t>
            </a:r>
          </a:p>
        </p:txBody>
      </p:sp>
      <p:sp>
        <p:nvSpPr>
          <p:cNvPr id="11" name="ft-1">
            <a:extLst>
              <a:ext uri="{FF2B5EF4-FFF2-40B4-BE49-F238E27FC236}">
                <a16:creationId xmlns:a16="http://schemas.microsoft.com/office/drawing/2014/main" id="{46B28DED-691B-4E1B-B59F-BF8448D6F360}"/>
              </a:ext>
            </a:extLst>
          </p:cNvPr>
          <p:cNvSpPr>
            <a:spLocks noGrp="1"/>
          </p:cNvSpPr>
          <p:nvPr/>
        </p:nvSpPr>
        <p:spPr>
          <a:xfrm>
            <a:off x="7029450" y="2114550"/>
            <a:ext cx="3714750" cy="400050"/>
          </a:xfrm>
          <a:prstGeom prst="rect">
            <a:avLst/>
          </a:prstGeom>
          <a:noFill/>
          <a:ln w="0">
            <a:noFill/>
            <a:prstDash val="solid"/>
          </a:ln>
        </p:spPr>
        <p:txBody>
          <a:bodyPr anchor="ctr"/>
          <a:lstStyle/>
          <a:p>
            <a:pPr algn="l">
              <a:defRPr sz="1800" b="1">
                <a:solidFill>
                  <a:srgbClr val="2E2A26"/>
                </a:solidFill>
              </a:defRPr>
            </a:pPr>
            <a:r>
              <a:rPr sz="1800" b="1">
                <a:solidFill>
                  <a:srgbClr val="2E2A26"/>
                </a:solidFill>
              </a:rPr>
              <a:t>Ubicación y vínculo</a:t>
            </a:r>
          </a:p>
        </p:txBody>
      </p:sp>
      <p:sp>
        <p:nvSpPr>
          <p:cNvPr id="12" name="fb-1">
            <a:extLst>
              <a:ext uri="{FF2B5EF4-FFF2-40B4-BE49-F238E27FC236}">
                <a16:creationId xmlns:a16="http://schemas.microsoft.com/office/drawing/2014/main" id="{F686BB4E-6D4D-47C7-9AE4-8089516E6ADC}"/>
              </a:ext>
            </a:extLst>
          </p:cNvPr>
          <p:cNvSpPr>
            <a:spLocks noGrp="1"/>
          </p:cNvSpPr>
          <p:nvPr/>
        </p:nvSpPr>
        <p:spPr>
          <a:xfrm>
            <a:off x="7029450" y="2590800"/>
            <a:ext cx="3667125" cy="533400"/>
          </a:xfrm>
          <a:prstGeom prst="rect">
            <a:avLst/>
          </a:prstGeom>
          <a:noFill/>
          <a:ln w="0">
            <a:noFill/>
            <a:prstDash val="solid"/>
          </a:ln>
        </p:spPr>
        <p:txBody>
          <a:bodyPr anchor="ctr"/>
          <a:lstStyle/>
          <a:p>
            <a:pPr algn="l">
              <a:defRPr sz="1275" b="0">
                <a:solidFill>
                  <a:srgbClr val="7A6A5E"/>
                </a:solidFill>
              </a:defRPr>
            </a:pPr>
            <a:r>
              <a:rPr sz="1275" b="0" dirty="0">
                <a:solidFill>
                  <a:srgbClr val="7A6A5E"/>
                </a:solidFill>
              </a:rPr>
              <a:t>A </a:t>
            </a:r>
            <a:r>
              <a:rPr sz="1275" b="0" dirty="0" err="1">
                <a:solidFill>
                  <a:srgbClr val="7A6A5E"/>
                </a:solidFill>
              </a:rPr>
              <a:t>máximo</a:t>
            </a:r>
            <a:r>
              <a:rPr sz="1275" b="0" dirty="0">
                <a:solidFill>
                  <a:srgbClr val="7A6A5E"/>
                </a:solidFill>
              </a:rPr>
              <a:t> 10 km; </a:t>
            </a:r>
            <a:r>
              <a:rPr sz="1275" b="0" dirty="0" err="1">
                <a:solidFill>
                  <a:srgbClr val="7A6A5E"/>
                </a:solidFill>
              </a:rPr>
              <a:t>interno</a:t>
            </a:r>
            <a:r>
              <a:rPr sz="1275" b="0" dirty="0">
                <a:solidFill>
                  <a:srgbClr val="7A6A5E"/>
                </a:solidFill>
              </a:rPr>
              <a:t> de la </a:t>
            </a:r>
            <a:r>
              <a:rPr sz="1275" b="0" dirty="0" err="1">
                <a:solidFill>
                  <a:srgbClr val="7A6A5E"/>
                </a:solidFill>
              </a:rPr>
              <a:t>asociación</a:t>
            </a:r>
            <a:r>
              <a:rPr sz="1275" b="0" dirty="0">
                <a:solidFill>
                  <a:srgbClr val="7A6A5E"/>
                </a:solidFill>
              </a:rPr>
              <a:t> o </a:t>
            </a:r>
            <a:r>
              <a:rPr sz="1275" b="0" dirty="0" err="1">
                <a:solidFill>
                  <a:srgbClr val="7A6A5E"/>
                </a:solidFill>
              </a:rPr>
              <a:t>externo</a:t>
            </a:r>
            <a:r>
              <a:rPr sz="1275" b="0" dirty="0">
                <a:solidFill>
                  <a:srgbClr val="7A6A5E"/>
                </a:solidFill>
              </a:rPr>
              <a:t>.</a:t>
            </a:r>
          </a:p>
        </p:txBody>
      </p:sp>
      <p:sp>
        <p:nvSpPr>
          <p:cNvPr id="13" name="filter-2">
            <a:extLst>
              <a:ext uri="{FF2B5EF4-FFF2-40B4-BE49-F238E27FC236}">
                <a16:creationId xmlns:a16="http://schemas.microsoft.com/office/drawing/2014/main" id="{086D3E10-252A-43F5-8E3A-9BA162F68AE3}"/>
              </a:ext>
            </a:extLst>
          </p:cNvPr>
          <p:cNvSpPr>
            <a:spLocks noGrp="1"/>
          </p:cNvSpPr>
          <p:nvPr/>
        </p:nvSpPr>
        <p:spPr>
          <a:xfrm>
            <a:off x="685800" y="3695700"/>
            <a:ext cx="5105400" cy="1409700"/>
          </a:xfrm>
          <a:prstGeom prst="roundRect">
            <a:avLst>
              <a:gd name="adj" fmla="val 10811"/>
            </a:avLst>
          </a:prstGeom>
          <a:solidFill>
            <a:srgbClr val="FFFFFF"/>
          </a:solidFill>
          <a:ln w="9525">
            <a:solidFill>
              <a:srgbClr val="DCCDBF"/>
            </a:solidFill>
            <a:prstDash val="solid"/>
          </a:ln>
        </p:spPr>
        <p:txBody>
          <a:bodyPr/>
          <a:lstStyle/>
          <a:p>
            <a:endParaRPr lang="es-MX"/>
          </a:p>
        </p:txBody>
      </p:sp>
      <p:sp>
        <p:nvSpPr>
          <p:cNvPr id="14" name="num-2">
            <a:extLst>
              <a:ext uri="{FF2B5EF4-FFF2-40B4-BE49-F238E27FC236}">
                <a16:creationId xmlns:a16="http://schemas.microsoft.com/office/drawing/2014/main" id="{EBA96969-3E5A-4D6D-9FF6-D65B13AF8F59}"/>
              </a:ext>
            </a:extLst>
          </p:cNvPr>
          <p:cNvSpPr>
            <a:spLocks noGrp="1"/>
          </p:cNvSpPr>
          <p:nvPr/>
        </p:nvSpPr>
        <p:spPr>
          <a:xfrm>
            <a:off x="914400" y="3905250"/>
            <a:ext cx="552450" cy="381000"/>
          </a:xfrm>
          <a:prstGeom prst="rect">
            <a:avLst/>
          </a:prstGeom>
          <a:noFill/>
          <a:ln w="0">
            <a:noFill/>
            <a:prstDash val="solid"/>
          </a:ln>
        </p:spPr>
        <p:txBody>
          <a:bodyPr anchor="ctr"/>
          <a:lstStyle/>
          <a:p>
            <a:pPr algn="l">
              <a:defRPr sz="1800" b="1">
                <a:solidFill>
                  <a:srgbClr val="66BCB4"/>
                </a:solidFill>
              </a:defRPr>
            </a:pPr>
            <a:r>
              <a:rPr sz="1800" b="1">
                <a:solidFill>
                  <a:srgbClr val="66BCB4"/>
                </a:solidFill>
              </a:rPr>
              <a:t>03</a:t>
            </a:r>
          </a:p>
        </p:txBody>
      </p:sp>
      <p:sp>
        <p:nvSpPr>
          <p:cNvPr id="15" name="ft-2">
            <a:extLst>
              <a:ext uri="{FF2B5EF4-FFF2-40B4-BE49-F238E27FC236}">
                <a16:creationId xmlns:a16="http://schemas.microsoft.com/office/drawing/2014/main" id="{3987930D-C313-454D-BF5F-11FF83782993}"/>
              </a:ext>
            </a:extLst>
          </p:cNvPr>
          <p:cNvSpPr>
            <a:spLocks noGrp="1"/>
          </p:cNvSpPr>
          <p:nvPr/>
        </p:nvSpPr>
        <p:spPr>
          <a:xfrm>
            <a:off x="1619250" y="3867150"/>
            <a:ext cx="3714750" cy="400050"/>
          </a:xfrm>
          <a:prstGeom prst="rect">
            <a:avLst/>
          </a:prstGeom>
          <a:noFill/>
          <a:ln w="0">
            <a:noFill/>
            <a:prstDash val="solid"/>
          </a:ln>
        </p:spPr>
        <p:txBody>
          <a:bodyPr anchor="ctr"/>
          <a:lstStyle/>
          <a:p>
            <a:pPr algn="l">
              <a:defRPr sz="1800" b="1">
                <a:solidFill>
                  <a:srgbClr val="2E2A26"/>
                </a:solidFill>
              </a:defRPr>
            </a:pPr>
            <a:r>
              <a:rPr sz="1800" b="1">
                <a:solidFill>
                  <a:srgbClr val="2E2A26"/>
                </a:solidFill>
              </a:rPr>
              <a:t>Compatibilidad total</a:t>
            </a:r>
          </a:p>
        </p:txBody>
      </p:sp>
      <p:sp>
        <p:nvSpPr>
          <p:cNvPr id="16" name="fb-2">
            <a:extLst>
              <a:ext uri="{FF2B5EF4-FFF2-40B4-BE49-F238E27FC236}">
                <a16:creationId xmlns:a16="http://schemas.microsoft.com/office/drawing/2014/main" id="{BF2EE8FF-376F-4DD8-A4DC-D7C6CD293DF9}"/>
              </a:ext>
            </a:extLst>
          </p:cNvPr>
          <p:cNvSpPr>
            <a:spLocks noGrp="1"/>
          </p:cNvSpPr>
          <p:nvPr/>
        </p:nvSpPr>
        <p:spPr>
          <a:xfrm>
            <a:off x="1619250" y="4343400"/>
            <a:ext cx="3667125" cy="533400"/>
          </a:xfrm>
          <a:prstGeom prst="rect">
            <a:avLst/>
          </a:prstGeom>
          <a:noFill/>
          <a:ln w="0">
            <a:noFill/>
            <a:prstDash val="solid"/>
          </a:ln>
        </p:spPr>
        <p:txBody>
          <a:bodyPr anchor="ctr"/>
          <a:lstStyle/>
          <a:p>
            <a:pPr algn="l">
              <a:defRPr sz="1275" b="0">
                <a:solidFill>
                  <a:srgbClr val="7A6A5E"/>
                </a:solidFill>
              </a:defRPr>
            </a:pPr>
            <a:r>
              <a:rPr sz="1275" b="0" dirty="0" err="1">
                <a:solidFill>
                  <a:srgbClr val="7A6A5E"/>
                </a:solidFill>
              </a:rPr>
              <a:t>Acepta</a:t>
            </a:r>
            <a:r>
              <a:rPr sz="1275" b="0" dirty="0">
                <a:solidFill>
                  <a:srgbClr val="7A6A5E"/>
                </a:solidFill>
              </a:rPr>
              <a:t> </a:t>
            </a:r>
            <a:r>
              <a:rPr sz="1275" b="0" dirty="0" err="1">
                <a:solidFill>
                  <a:srgbClr val="7A6A5E"/>
                </a:solidFill>
              </a:rPr>
              <a:t>todas</a:t>
            </a:r>
            <a:r>
              <a:rPr sz="1275" b="0" dirty="0">
                <a:solidFill>
                  <a:srgbClr val="7A6A5E"/>
                </a:solidFill>
              </a:rPr>
              <a:t> las </a:t>
            </a:r>
            <a:r>
              <a:rPr sz="1275" b="0" dirty="0" err="1">
                <a:solidFill>
                  <a:srgbClr val="7A6A5E"/>
                </a:solidFill>
              </a:rPr>
              <a:t>especies</a:t>
            </a:r>
            <a:r>
              <a:rPr sz="1275" b="0" dirty="0">
                <a:solidFill>
                  <a:srgbClr val="7A6A5E"/>
                </a:solidFill>
              </a:rPr>
              <a:t> y no </a:t>
            </a:r>
            <a:r>
              <a:rPr sz="1275" b="0" dirty="0" err="1">
                <a:solidFill>
                  <a:srgbClr val="7A6A5E"/>
                </a:solidFill>
              </a:rPr>
              <a:t>rechazó</a:t>
            </a:r>
            <a:r>
              <a:rPr sz="1275" b="0" dirty="0">
                <a:solidFill>
                  <a:srgbClr val="7A6A5E"/>
                </a:solidFill>
              </a:rPr>
              <a:t> </a:t>
            </a:r>
            <a:r>
              <a:rPr sz="1275" b="0" dirty="0" err="1">
                <a:solidFill>
                  <a:srgbClr val="7A6A5E"/>
                </a:solidFill>
              </a:rPr>
              <a:t>el</a:t>
            </a:r>
            <a:r>
              <a:rPr sz="1275" b="0" dirty="0">
                <a:solidFill>
                  <a:srgbClr val="7A6A5E"/>
                </a:solidFill>
              </a:rPr>
              <a:t> </a:t>
            </a:r>
            <a:r>
              <a:rPr sz="1275" b="0" dirty="0" err="1">
                <a:solidFill>
                  <a:srgbClr val="7A6A5E"/>
                </a:solidFill>
              </a:rPr>
              <a:t>caso</a:t>
            </a:r>
            <a:r>
              <a:rPr sz="1275" b="0" dirty="0">
                <a:solidFill>
                  <a:srgbClr val="7A6A5E"/>
                </a:solidFill>
              </a:rPr>
              <a:t>.</a:t>
            </a:r>
          </a:p>
        </p:txBody>
      </p:sp>
      <p:sp>
        <p:nvSpPr>
          <p:cNvPr id="17" name="filter-3">
            <a:extLst>
              <a:ext uri="{FF2B5EF4-FFF2-40B4-BE49-F238E27FC236}">
                <a16:creationId xmlns:a16="http://schemas.microsoft.com/office/drawing/2014/main" id="{CAEDE22B-7B28-4BE3-9B69-6C94660C4044}"/>
              </a:ext>
            </a:extLst>
          </p:cNvPr>
          <p:cNvSpPr>
            <a:spLocks noGrp="1"/>
          </p:cNvSpPr>
          <p:nvPr/>
        </p:nvSpPr>
        <p:spPr>
          <a:xfrm>
            <a:off x="6096000" y="3695700"/>
            <a:ext cx="5105400" cy="1409700"/>
          </a:xfrm>
          <a:prstGeom prst="roundRect">
            <a:avLst>
              <a:gd name="adj" fmla="val 10811"/>
            </a:avLst>
          </a:prstGeom>
          <a:solidFill>
            <a:srgbClr val="FFFFFF"/>
          </a:solidFill>
          <a:ln w="9525">
            <a:solidFill>
              <a:srgbClr val="DCCDBF"/>
            </a:solidFill>
            <a:prstDash val="solid"/>
          </a:ln>
        </p:spPr>
        <p:txBody>
          <a:bodyPr/>
          <a:lstStyle/>
          <a:p>
            <a:endParaRPr lang="es-MX"/>
          </a:p>
        </p:txBody>
      </p:sp>
      <p:sp>
        <p:nvSpPr>
          <p:cNvPr id="18" name="num-3">
            <a:extLst>
              <a:ext uri="{FF2B5EF4-FFF2-40B4-BE49-F238E27FC236}">
                <a16:creationId xmlns:a16="http://schemas.microsoft.com/office/drawing/2014/main" id="{30B229F9-2A5A-42F4-B90B-44A6BD22649A}"/>
              </a:ext>
            </a:extLst>
          </p:cNvPr>
          <p:cNvSpPr>
            <a:spLocks noGrp="1"/>
          </p:cNvSpPr>
          <p:nvPr/>
        </p:nvSpPr>
        <p:spPr>
          <a:xfrm>
            <a:off x="6324600" y="3905250"/>
            <a:ext cx="552450" cy="381000"/>
          </a:xfrm>
          <a:prstGeom prst="rect">
            <a:avLst/>
          </a:prstGeom>
          <a:noFill/>
          <a:ln w="0">
            <a:noFill/>
            <a:prstDash val="solid"/>
          </a:ln>
        </p:spPr>
        <p:txBody>
          <a:bodyPr anchor="ctr"/>
          <a:lstStyle/>
          <a:p>
            <a:pPr algn="l">
              <a:defRPr sz="1800" b="1">
                <a:solidFill>
                  <a:srgbClr val="66BCB4"/>
                </a:solidFill>
              </a:defRPr>
            </a:pPr>
            <a:r>
              <a:rPr sz="1800" b="1">
                <a:solidFill>
                  <a:srgbClr val="66BCB4"/>
                </a:solidFill>
              </a:rPr>
              <a:t>04</a:t>
            </a:r>
          </a:p>
        </p:txBody>
      </p:sp>
      <p:sp>
        <p:nvSpPr>
          <p:cNvPr id="19" name="ft-3">
            <a:extLst>
              <a:ext uri="{FF2B5EF4-FFF2-40B4-BE49-F238E27FC236}">
                <a16:creationId xmlns:a16="http://schemas.microsoft.com/office/drawing/2014/main" id="{98037228-C6A0-4151-AAB8-0DD7D2684FF2}"/>
              </a:ext>
            </a:extLst>
          </p:cNvPr>
          <p:cNvSpPr>
            <a:spLocks noGrp="1"/>
          </p:cNvSpPr>
          <p:nvPr/>
        </p:nvSpPr>
        <p:spPr>
          <a:xfrm>
            <a:off x="7029450" y="3867150"/>
            <a:ext cx="3714750" cy="400050"/>
          </a:xfrm>
          <a:prstGeom prst="rect">
            <a:avLst/>
          </a:prstGeom>
          <a:noFill/>
          <a:ln w="0">
            <a:noFill/>
            <a:prstDash val="solid"/>
          </a:ln>
        </p:spPr>
        <p:txBody>
          <a:bodyPr anchor="ctr"/>
          <a:lstStyle/>
          <a:p>
            <a:pPr algn="l">
              <a:defRPr sz="1800" b="1">
                <a:solidFill>
                  <a:srgbClr val="2E2A26"/>
                </a:solidFill>
              </a:defRPr>
            </a:pPr>
            <a:r>
              <a:rPr sz="1800" b="1">
                <a:solidFill>
                  <a:srgbClr val="2E2A26"/>
                </a:solidFill>
              </a:rPr>
              <a:t>Capacidad suficiente</a:t>
            </a:r>
          </a:p>
        </p:txBody>
      </p:sp>
      <p:sp>
        <p:nvSpPr>
          <p:cNvPr id="20" name="fb-3">
            <a:extLst>
              <a:ext uri="{FF2B5EF4-FFF2-40B4-BE49-F238E27FC236}">
                <a16:creationId xmlns:a16="http://schemas.microsoft.com/office/drawing/2014/main" id="{2238874E-22E5-4370-86D3-02F5D8975B04}"/>
              </a:ext>
            </a:extLst>
          </p:cNvPr>
          <p:cNvSpPr>
            <a:spLocks noGrp="1"/>
          </p:cNvSpPr>
          <p:nvPr/>
        </p:nvSpPr>
        <p:spPr>
          <a:xfrm>
            <a:off x="7029450" y="4343400"/>
            <a:ext cx="3667125" cy="533400"/>
          </a:xfrm>
          <a:prstGeom prst="rect">
            <a:avLst/>
          </a:prstGeom>
          <a:noFill/>
          <a:ln w="0">
            <a:noFill/>
            <a:prstDash val="solid"/>
          </a:ln>
        </p:spPr>
        <p:txBody>
          <a:bodyPr anchor="ctr"/>
          <a:lstStyle/>
          <a:p>
            <a:pPr algn="l">
              <a:defRPr sz="1275" b="0">
                <a:solidFill>
                  <a:srgbClr val="7A6A5E"/>
                </a:solidFill>
              </a:defRPr>
            </a:pPr>
            <a:r>
              <a:rPr sz="1275" b="0" dirty="0">
                <a:solidFill>
                  <a:srgbClr val="7A6A5E"/>
                </a:solidFill>
              </a:rPr>
              <a:t>Espacio libre para la </a:t>
            </a:r>
            <a:r>
              <a:rPr sz="1275" b="0" dirty="0" err="1">
                <a:solidFill>
                  <a:srgbClr val="7A6A5E"/>
                </a:solidFill>
              </a:rPr>
              <a:t>cantidad</a:t>
            </a:r>
            <a:r>
              <a:rPr sz="1275" b="0" dirty="0">
                <a:solidFill>
                  <a:srgbClr val="7A6A5E"/>
                </a:solidFill>
              </a:rPr>
              <a:t> real de </a:t>
            </a:r>
            <a:r>
              <a:rPr sz="1275" b="0" dirty="0" err="1">
                <a:solidFill>
                  <a:srgbClr val="7A6A5E"/>
                </a:solidFill>
              </a:rPr>
              <a:t>animales</a:t>
            </a:r>
            <a:r>
              <a:rPr sz="1275" b="0" dirty="0">
                <a:solidFill>
                  <a:srgbClr val="7A6A5E"/>
                </a:solidFill>
              </a:rPr>
              <a:t>.</a:t>
            </a:r>
          </a:p>
        </p:txBody>
      </p:sp>
      <p:sp>
        <p:nvSpPr>
          <p:cNvPr id="21" name="chip-REGLA ESPECIAL">
            <a:extLst>
              <a:ext uri="{FF2B5EF4-FFF2-40B4-BE49-F238E27FC236}">
                <a16:creationId xmlns:a16="http://schemas.microsoft.com/office/drawing/2014/main" id="{80845F3D-DA76-467D-91C1-A6CE3B40593C}"/>
              </a:ext>
            </a:extLst>
          </p:cNvPr>
          <p:cNvSpPr>
            <a:spLocks noGrp="1"/>
          </p:cNvSpPr>
          <p:nvPr/>
        </p:nvSpPr>
        <p:spPr>
          <a:xfrm>
            <a:off x="685800" y="5638800"/>
            <a:ext cx="1619250" cy="323850"/>
          </a:xfrm>
          <a:prstGeom prst="roundRect">
            <a:avLst>
              <a:gd name="adj" fmla="val 47059"/>
            </a:avLst>
          </a:prstGeom>
          <a:solidFill>
            <a:srgbClr val="EDC55B"/>
          </a:solidFill>
          <a:ln w="0">
            <a:noFill/>
            <a:prstDash val="solid"/>
          </a:ln>
        </p:spPr>
        <p:txBody>
          <a:bodyPr/>
          <a:lstStyle/>
          <a:p>
            <a:endParaRPr lang="es-MX"/>
          </a:p>
        </p:txBody>
      </p:sp>
      <p:sp>
        <p:nvSpPr>
          <p:cNvPr id="22" name="chip-text-REGLA ESPECIAL">
            <a:extLst>
              <a:ext uri="{FF2B5EF4-FFF2-40B4-BE49-F238E27FC236}">
                <a16:creationId xmlns:a16="http://schemas.microsoft.com/office/drawing/2014/main" id="{322CC117-1220-4B09-8840-2ED5F343B0DD}"/>
              </a:ext>
            </a:extLst>
          </p:cNvPr>
          <p:cNvSpPr>
            <a:spLocks noGrp="1"/>
          </p:cNvSpPr>
          <p:nvPr/>
        </p:nvSpPr>
        <p:spPr>
          <a:xfrm>
            <a:off x="781050" y="5648325"/>
            <a:ext cx="1428750" cy="295275"/>
          </a:xfrm>
          <a:prstGeom prst="rect">
            <a:avLst/>
          </a:prstGeom>
          <a:noFill/>
          <a:ln w="0">
            <a:noFill/>
            <a:prstDash val="solid"/>
          </a:ln>
        </p:spPr>
        <p:txBody>
          <a:bodyPr anchor="ctr"/>
          <a:lstStyle/>
          <a:p>
            <a:pPr algn="ctr">
              <a:defRPr sz="1125" b="1">
                <a:solidFill>
                  <a:srgbClr val="2E2A26"/>
                </a:solidFill>
              </a:defRPr>
            </a:pPr>
            <a:r>
              <a:rPr sz="1125" b="1">
                <a:solidFill>
                  <a:srgbClr val="2E2A26"/>
                </a:solidFill>
              </a:rPr>
              <a:t>REGLA ESPECIAL</a:t>
            </a:r>
          </a:p>
        </p:txBody>
      </p:sp>
      <p:sp>
        <p:nvSpPr>
          <p:cNvPr id="23" name="special">
            <a:extLst>
              <a:ext uri="{FF2B5EF4-FFF2-40B4-BE49-F238E27FC236}">
                <a16:creationId xmlns:a16="http://schemas.microsoft.com/office/drawing/2014/main" id="{10A06513-F7EA-4947-B0EC-CE13AD13AA9B}"/>
              </a:ext>
            </a:extLst>
          </p:cNvPr>
          <p:cNvSpPr>
            <a:spLocks noGrp="1"/>
          </p:cNvSpPr>
          <p:nvPr/>
        </p:nvSpPr>
        <p:spPr>
          <a:xfrm>
            <a:off x="2457450" y="5629275"/>
            <a:ext cx="7143750" cy="342900"/>
          </a:xfrm>
          <a:prstGeom prst="rect">
            <a:avLst/>
          </a:prstGeom>
          <a:noFill/>
          <a:ln w="0">
            <a:noFill/>
            <a:prstDash val="solid"/>
          </a:ln>
        </p:spPr>
        <p:txBody>
          <a:bodyPr anchor="ctr"/>
          <a:lstStyle/>
          <a:p>
            <a:pPr algn="l">
              <a:defRPr sz="1350" b="1">
                <a:solidFill>
                  <a:srgbClr val="2E2A26"/>
                </a:solidFill>
              </a:defRPr>
            </a:pPr>
            <a:r>
              <a:rPr sz="1350" b="1" dirty="0">
                <a:solidFill>
                  <a:srgbClr val="2E2A26"/>
                </a:solidFill>
              </a:rPr>
              <a:t>Si </a:t>
            </a:r>
            <a:r>
              <a:rPr sz="1350" b="1" dirty="0" err="1">
                <a:solidFill>
                  <a:srgbClr val="2E2A26"/>
                </a:solidFill>
              </a:rPr>
              <a:t>ofrece</a:t>
            </a:r>
            <a:r>
              <a:rPr sz="1350" b="1" dirty="0">
                <a:solidFill>
                  <a:srgbClr val="2E2A26"/>
                </a:solidFill>
              </a:rPr>
              <a:t> casa-</a:t>
            </a:r>
            <a:r>
              <a:rPr sz="1350" b="1" dirty="0" err="1">
                <a:solidFill>
                  <a:srgbClr val="2E2A26"/>
                </a:solidFill>
              </a:rPr>
              <a:t>hogar</a:t>
            </a:r>
            <a:r>
              <a:rPr sz="1350" b="1" dirty="0">
                <a:solidFill>
                  <a:srgbClr val="2E2A26"/>
                </a:solidFill>
              </a:rPr>
              <a:t>, </a:t>
            </a:r>
            <a:r>
              <a:rPr sz="1350" b="1" dirty="0" err="1">
                <a:solidFill>
                  <a:srgbClr val="2E2A26"/>
                </a:solidFill>
              </a:rPr>
              <a:t>el</a:t>
            </a:r>
            <a:r>
              <a:rPr sz="1350" b="1" dirty="0">
                <a:solidFill>
                  <a:srgbClr val="2E2A26"/>
                </a:solidFill>
              </a:rPr>
              <a:t> </a:t>
            </a:r>
            <a:r>
              <a:rPr sz="1350" b="1" dirty="0" err="1">
                <a:solidFill>
                  <a:srgbClr val="2E2A26"/>
                </a:solidFill>
              </a:rPr>
              <a:t>caso</a:t>
            </a:r>
            <a:r>
              <a:rPr sz="1350" b="1" dirty="0">
                <a:solidFill>
                  <a:srgbClr val="2E2A26"/>
                </a:solidFill>
              </a:rPr>
              <a:t> no </a:t>
            </a:r>
            <a:r>
              <a:rPr sz="1350" b="1" dirty="0" err="1">
                <a:solidFill>
                  <a:srgbClr val="2E2A26"/>
                </a:solidFill>
              </a:rPr>
              <a:t>puede</a:t>
            </a:r>
            <a:r>
              <a:rPr sz="1350" b="1" dirty="0">
                <a:solidFill>
                  <a:srgbClr val="2E2A26"/>
                </a:solidFill>
              </a:rPr>
              <a:t> </a:t>
            </a:r>
            <a:r>
              <a:rPr sz="1350" b="1" dirty="0" err="1">
                <a:solidFill>
                  <a:srgbClr val="2E2A26"/>
                </a:solidFill>
              </a:rPr>
              <a:t>superar</a:t>
            </a:r>
            <a:r>
              <a:rPr sz="1350" b="1" dirty="0">
                <a:solidFill>
                  <a:srgbClr val="2E2A26"/>
                </a:solidFill>
              </a:rPr>
              <a:t> dos </a:t>
            </a:r>
            <a:r>
              <a:rPr sz="1350" b="1" dirty="0" err="1">
                <a:solidFill>
                  <a:srgbClr val="2E2A26"/>
                </a:solidFill>
              </a:rPr>
              <a:t>animales</a:t>
            </a:r>
            <a:r>
              <a:rPr sz="1350" b="1" dirty="0">
                <a:solidFill>
                  <a:srgbClr val="2E2A26"/>
                </a:solidFill>
              </a:rPr>
              <a:t>.</a:t>
            </a:r>
          </a:p>
        </p:txBody>
      </p:sp>
    </p:spTree>
    <p:extLst>
      <p:ext uri="{BB962C8B-B14F-4D97-AF65-F5344CB8AC3E}">
        <p14:creationId xmlns:p14="http://schemas.microsoft.com/office/powerpoint/2010/main" val="401630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AD8"/>
        </a:solidFill>
        <a:effectLst/>
      </p:bgPr>
    </p:bg>
    <p:spTree>
      <p:nvGrpSpPr>
        <p:cNvPr id="1" name=""/>
        <p:cNvGrpSpPr/>
        <p:nvPr/>
      </p:nvGrpSpPr>
      <p:grpSpPr>
        <a:xfrm>
          <a:off x="0" y="0"/>
          <a:ext cx="0" cy="0"/>
          <a:chOff x="0" y="0"/>
          <a:chExt cx="0" cy="0"/>
        </a:xfrm>
      </p:grpSpPr>
      <p:sp>
        <p:nvSpPr>
          <p:cNvPr id="32" name="kicker">
            <a:extLst>
              <a:ext uri="{FF2B5EF4-FFF2-40B4-BE49-F238E27FC236}">
                <a16:creationId xmlns:a16="http://schemas.microsoft.com/office/drawing/2014/main" id="{7F2E3F4B-3F17-4E16-9778-48B98F28B110}"/>
              </a:ext>
            </a:extLst>
          </p:cNvPr>
          <p:cNvSpPr>
            <a:spLocks noGrp="1"/>
          </p:cNvSpPr>
          <p:nvPr/>
        </p:nvSpPr>
        <p:spPr>
          <a:xfrm>
            <a:off x="685800" y="400050"/>
            <a:ext cx="7239000" cy="266700"/>
          </a:xfrm>
          <a:prstGeom prst="rect">
            <a:avLst/>
          </a:prstGeom>
          <a:noFill/>
          <a:ln w="0">
            <a:noFill/>
            <a:prstDash val="solid"/>
          </a:ln>
        </p:spPr>
        <p:txBody>
          <a:bodyPr anchor="ctr"/>
          <a:lstStyle/>
          <a:p>
            <a:pPr algn="l">
              <a:defRPr sz="1200" b="1">
                <a:solidFill>
                  <a:srgbClr val="EC802B"/>
                </a:solidFill>
              </a:defRPr>
            </a:pPr>
            <a:r>
              <a:rPr sz="1200" b="1">
                <a:solidFill>
                  <a:srgbClr val="EC802B"/>
                </a:solidFill>
              </a:rPr>
              <a:t>PASO 2 · PUNTUACIÓN</a:t>
            </a:r>
          </a:p>
        </p:txBody>
      </p:sp>
      <p:sp>
        <p:nvSpPr>
          <p:cNvPr id="2" name="title">
            <a:extLst>
              <a:ext uri="{FF2B5EF4-FFF2-40B4-BE49-F238E27FC236}">
                <a16:creationId xmlns:a16="http://schemas.microsoft.com/office/drawing/2014/main" id="{25E07057-6F4A-4C02-825D-45D3896285BA}"/>
              </a:ext>
            </a:extLst>
          </p:cNvPr>
          <p:cNvSpPr>
            <a:spLocks noGrp="1"/>
          </p:cNvSpPr>
          <p:nvPr/>
        </p:nvSpPr>
        <p:spPr>
          <a:xfrm>
            <a:off x="685800" y="723900"/>
            <a:ext cx="10382250" cy="647700"/>
          </a:xfrm>
          <a:prstGeom prst="rect">
            <a:avLst/>
          </a:prstGeom>
          <a:noFill/>
          <a:ln w="0">
            <a:noFill/>
            <a:prstDash val="solid"/>
          </a:ln>
        </p:spPr>
        <p:txBody>
          <a:bodyPr anchor="ctr"/>
          <a:lstStyle/>
          <a:p>
            <a:pPr algn="l">
              <a:defRPr sz="2850" b="1">
                <a:solidFill>
                  <a:srgbClr val="2E2A26"/>
                </a:solidFill>
              </a:defRPr>
            </a:pPr>
            <a:r>
              <a:rPr sz="2850" b="1" dirty="0">
                <a:solidFill>
                  <a:srgbClr val="2E2A26"/>
                </a:solidFill>
              </a:rPr>
              <a:t>El top 3 </a:t>
            </a:r>
            <a:r>
              <a:rPr sz="2850" b="1" dirty="0" err="1">
                <a:solidFill>
                  <a:srgbClr val="2E2A26"/>
                </a:solidFill>
              </a:rPr>
              <a:t>combina</a:t>
            </a:r>
            <a:r>
              <a:rPr sz="2850" b="1" dirty="0">
                <a:solidFill>
                  <a:srgbClr val="2E2A26"/>
                </a:solidFill>
              </a:rPr>
              <a:t> </a:t>
            </a:r>
            <a:r>
              <a:rPr sz="2850" b="1" dirty="0" err="1">
                <a:solidFill>
                  <a:srgbClr val="2E2A26"/>
                </a:solidFill>
              </a:rPr>
              <a:t>cercanía</a:t>
            </a:r>
            <a:r>
              <a:rPr sz="2850" b="1" dirty="0">
                <a:solidFill>
                  <a:srgbClr val="2E2A26"/>
                </a:solidFill>
              </a:rPr>
              <a:t>, </a:t>
            </a:r>
            <a:r>
              <a:rPr sz="2850" b="1" dirty="0" err="1">
                <a:solidFill>
                  <a:srgbClr val="2E2A26"/>
                </a:solidFill>
              </a:rPr>
              <a:t>tamaño</a:t>
            </a:r>
            <a:r>
              <a:rPr sz="2850" b="1" dirty="0">
                <a:solidFill>
                  <a:srgbClr val="2E2A26"/>
                </a:solidFill>
              </a:rPr>
              <a:t>, </a:t>
            </a:r>
            <a:r>
              <a:rPr sz="2850" b="1" dirty="0" err="1">
                <a:solidFill>
                  <a:srgbClr val="2E2A26"/>
                </a:solidFill>
              </a:rPr>
              <a:t>disponibilidad</a:t>
            </a:r>
            <a:r>
              <a:rPr sz="2850" b="1" dirty="0">
                <a:solidFill>
                  <a:srgbClr val="2E2A26"/>
                </a:solidFill>
              </a:rPr>
              <a:t> y </a:t>
            </a:r>
            <a:r>
              <a:rPr sz="2850" b="1" dirty="0" err="1">
                <a:solidFill>
                  <a:srgbClr val="2E2A26"/>
                </a:solidFill>
              </a:rPr>
              <a:t>capacidad</a:t>
            </a:r>
            <a:endParaRPr sz="2850" b="1" dirty="0">
              <a:solidFill>
                <a:srgbClr val="2E2A26"/>
              </a:solidFill>
            </a:endParaRPr>
          </a:p>
        </p:txBody>
      </p:sp>
      <p:sp>
        <p:nvSpPr>
          <p:cNvPr id="3" name="page">
            <a:extLst>
              <a:ext uri="{FF2B5EF4-FFF2-40B4-BE49-F238E27FC236}">
                <a16:creationId xmlns:a16="http://schemas.microsoft.com/office/drawing/2014/main" id="{6F5B0EF5-D9E9-4EF7-957F-FAA97DEC2A79}"/>
              </a:ext>
            </a:extLst>
          </p:cNvPr>
          <p:cNvSpPr>
            <a:spLocks noGrp="1"/>
          </p:cNvSpPr>
          <p:nvPr/>
        </p:nvSpPr>
        <p:spPr>
          <a:xfrm>
            <a:off x="11049000" y="457200"/>
            <a:ext cx="457200" cy="266700"/>
          </a:xfrm>
          <a:prstGeom prst="rect">
            <a:avLst/>
          </a:prstGeom>
          <a:noFill/>
          <a:ln w="0">
            <a:noFill/>
            <a:prstDash val="solid"/>
          </a:ln>
        </p:spPr>
        <p:txBody>
          <a:bodyPr anchor="ctr"/>
          <a:lstStyle/>
          <a:p>
            <a:pPr algn="r">
              <a:defRPr sz="1125" b="1">
                <a:solidFill>
                  <a:srgbClr val="9B8B7E"/>
                </a:solidFill>
              </a:defRPr>
            </a:pPr>
            <a:r>
              <a:rPr sz="1125" b="1">
                <a:solidFill>
                  <a:srgbClr val="9B8B7E"/>
                </a:solidFill>
              </a:rPr>
              <a:t>05</a:t>
            </a:r>
          </a:p>
        </p:txBody>
      </p:sp>
      <p:sp>
        <p:nvSpPr>
          <p:cNvPr id="4" name="accent">
            <a:extLst>
              <a:ext uri="{FF2B5EF4-FFF2-40B4-BE49-F238E27FC236}">
                <a16:creationId xmlns:a16="http://schemas.microsoft.com/office/drawing/2014/main" id="{983E664F-E2FF-4DC9-A796-5B22649E0F23}"/>
              </a:ext>
            </a:extLst>
          </p:cNvPr>
          <p:cNvSpPr>
            <a:spLocks noGrp="1"/>
          </p:cNvSpPr>
          <p:nvPr/>
        </p:nvSpPr>
        <p:spPr>
          <a:xfrm>
            <a:off x="685800" y="1457325"/>
            <a:ext cx="914400" cy="47625"/>
          </a:xfrm>
          <a:prstGeom prst="rect">
            <a:avLst/>
          </a:prstGeom>
          <a:solidFill>
            <a:srgbClr val="EC802B"/>
          </a:solidFill>
          <a:ln w="0">
            <a:noFill/>
            <a:prstDash val="solid"/>
          </a:ln>
        </p:spPr>
        <p:txBody>
          <a:bodyPr/>
          <a:lstStyle/>
          <a:p>
            <a:endParaRPr lang="es-MX"/>
          </a:p>
        </p:txBody>
      </p:sp>
      <p:sp>
        <p:nvSpPr>
          <p:cNvPr id="5" name="score-row-0">
            <a:extLst>
              <a:ext uri="{FF2B5EF4-FFF2-40B4-BE49-F238E27FC236}">
                <a16:creationId xmlns:a16="http://schemas.microsoft.com/office/drawing/2014/main" id="{38A60208-27AB-4BF7-B1E6-29DD2E10E516}"/>
              </a:ext>
            </a:extLst>
          </p:cNvPr>
          <p:cNvSpPr>
            <a:spLocks noGrp="1"/>
          </p:cNvSpPr>
          <p:nvPr/>
        </p:nvSpPr>
        <p:spPr>
          <a:xfrm>
            <a:off x="685800" y="1924050"/>
            <a:ext cx="10820400" cy="685800"/>
          </a:xfrm>
          <a:prstGeom prst="roundRect">
            <a:avLst>
              <a:gd name="adj" fmla="val 22222"/>
            </a:avLst>
          </a:prstGeom>
          <a:solidFill>
            <a:srgbClr val="FFFFFF"/>
          </a:solidFill>
          <a:ln w="9525">
            <a:solidFill>
              <a:srgbClr val="DED0C2"/>
            </a:solidFill>
            <a:prstDash val="solid"/>
          </a:ln>
        </p:spPr>
        <p:txBody>
          <a:bodyPr/>
          <a:lstStyle/>
          <a:p>
            <a:endParaRPr lang="es-MX"/>
          </a:p>
        </p:txBody>
      </p:sp>
      <p:sp>
        <p:nvSpPr>
          <p:cNvPr id="6" name="score-badge-0">
            <a:extLst>
              <a:ext uri="{FF2B5EF4-FFF2-40B4-BE49-F238E27FC236}">
                <a16:creationId xmlns:a16="http://schemas.microsoft.com/office/drawing/2014/main" id="{58DC3E4A-7036-456B-A9A6-249724C4E355}"/>
              </a:ext>
            </a:extLst>
          </p:cNvPr>
          <p:cNvSpPr>
            <a:spLocks noGrp="1"/>
          </p:cNvSpPr>
          <p:nvPr/>
        </p:nvSpPr>
        <p:spPr>
          <a:xfrm>
            <a:off x="838200" y="2019300"/>
            <a:ext cx="666750" cy="495300"/>
          </a:xfrm>
          <a:prstGeom prst="roundRect">
            <a:avLst>
              <a:gd name="adj" fmla="val 30769"/>
            </a:avLst>
          </a:prstGeom>
          <a:solidFill>
            <a:srgbClr val="EC802B"/>
          </a:solidFill>
          <a:ln w="0">
            <a:noFill/>
            <a:prstDash val="solid"/>
          </a:ln>
        </p:spPr>
        <p:txBody>
          <a:bodyPr/>
          <a:lstStyle/>
          <a:p>
            <a:endParaRPr lang="es-MX"/>
          </a:p>
        </p:txBody>
      </p:sp>
      <p:sp>
        <p:nvSpPr>
          <p:cNvPr id="7" name="score-val-0">
            <a:extLst>
              <a:ext uri="{FF2B5EF4-FFF2-40B4-BE49-F238E27FC236}">
                <a16:creationId xmlns:a16="http://schemas.microsoft.com/office/drawing/2014/main" id="{C0842833-8506-4C52-BA62-47FC9BA20977}"/>
              </a:ext>
            </a:extLst>
          </p:cNvPr>
          <p:cNvSpPr>
            <a:spLocks noGrp="1"/>
          </p:cNvSpPr>
          <p:nvPr/>
        </p:nvSpPr>
        <p:spPr>
          <a:xfrm>
            <a:off x="838200" y="2019300"/>
            <a:ext cx="666750" cy="495300"/>
          </a:xfrm>
          <a:prstGeom prst="rect">
            <a:avLst/>
          </a:prstGeom>
          <a:noFill/>
          <a:ln w="0">
            <a:noFill/>
            <a:prstDash val="solid"/>
          </a:ln>
        </p:spPr>
        <p:txBody>
          <a:bodyPr anchor="ctr"/>
          <a:lstStyle/>
          <a:p>
            <a:pPr algn="ctr">
              <a:defRPr sz="1875" b="1">
                <a:solidFill>
                  <a:srgbClr val="FFFFFF"/>
                </a:solidFill>
              </a:defRPr>
            </a:pPr>
            <a:r>
              <a:rPr sz="1875" b="1">
                <a:solidFill>
                  <a:srgbClr val="FFFFFF"/>
                </a:solidFill>
              </a:rPr>
              <a:t>40</a:t>
            </a:r>
          </a:p>
        </p:txBody>
      </p:sp>
      <p:sp>
        <p:nvSpPr>
          <p:cNvPr id="8" name="score-name-0">
            <a:extLst>
              <a:ext uri="{FF2B5EF4-FFF2-40B4-BE49-F238E27FC236}">
                <a16:creationId xmlns:a16="http://schemas.microsoft.com/office/drawing/2014/main" id="{FA86AB95-8F77-40C9-A6D4-DB7E3187ACD3}"/>
              </a:ext>
            </a:extLst>
          </p:cNvPr>
          <p:cNvSpPr>
            <a:spLocks noGrp="1"/>
          </p:cNvSpPr>
          <p:nvPr/>
        </p:nvSpPr>
        <p:spPr>
          <a:xfrm>
            <a:off x="1733550" y="2019300"/>
            <a:ext cx="2286000" cy="495300"/>
          </a:xfrm>
          <a:prstGeom prst="rect">
            <a:avLst/>
          </a:prstGeom>
          <a:noFill/>
          <a:ln w="0">
            <a:noFill/>
            <a:prstDash val="solid"/>
          </a:ln>
        </p:spPr>
        <p:txBody>
          <a:bodyPr anchor="ctr"/>
          <a:lstStyle/>
          <a:p>
            <a:pPr algn="l">
              <a:defRPr sz="1650" b="1">
                <a:solidFill>
                  <a:srgbClr val="2E2A26"/>
                </a:solidFill>
              </a:defRPr>
            </a:pPr>
            <a:r>
              <a:rPr sz="1650" b="1">
                <a:solidFill>
                  <a:srgbClr val="2E2A26"/>
                </a:solidFill>
              </a:rPr>
              <a:t>Proximidad</a:t>
            </a:r>
          </a:p>
        </p:txBody>
      </p:sp>
      <p:sp>
        <p:nvSpPr>
          <p:cNvPr id="9" name="score-desc-0">
            <a:extLst>
              <a:ext uri="{FF2B5EF4-FFF2-40B4-BE49-F238E27FC236}">
                <a16:creationId xmlns:a16="http://schemas.microsoft.com/office/drawing/2014/main" id="{F76154E0-3068-42F3-9C9A-ED5B8CDEEE2D}"/>
              </a:ext>
            </a:extLst>
          </p:cNvPr>
          <p:cNvSpPr>
            <a:spLocks noGrp="1"/>
          </p:cNvSpPr>
          <p:nvPr/>
        </p:nvSpPr>
        <p:spPr>
          <a:xfrm>
            <a:off x="4095750" y="2028825"/>
            <a:ext cx="5619750" cy="476250"/>
          </a:xfrm>
          <a:prstGeom prst="rect">
            <a:avLst/>
          </a:prstGeom>
          <a:noFill/>
          <a:ln w="0">
            <a:noFill/>
            <a:prstDash val="solid"/>
          </a:ln>
        </p:spPr>
        <p:txBody>
          <a:bodyPr anchor="ctr"/>
          <a:lstStyle/>
          <a:p>
            <a:pPr algn="l">
              <a:defRPr sz="1275" b="0">
                <a:solidFill>
                  <a:srgbClr val="7A6A5E"/>
                </a:solidFill>
              </a:defRPr>
            </a:pPr>
            <a:r>
              <a:rPr sz="1275" b="0">
                <a:solidFill>
                  <a:srgbClr val="7A6A5E"/>
                </a:solidFill>
              </a:rPr>
              <a:t>De 40 puntos a 0 km hasta 0 a 10 km</a:t>
            </a:r>
          </a:p>
        </p:txBody>
      </p:sp>
      <p:sp>
        <p:nvSpPr>
          <p:cNvPr id="10" name="score-pct-0">
            <a:extLst>
              <a:ext uri="{FF2B5EF4-FFF2-40B4-BE49-F238E27FC236}">
                <a16:creationId xmlns:a16="http://schemas.microsoft.com/office/drawing/2014/main" id="{A8995C3A-165E-4407-B1BF-949369DEF344}"/>
              </a:ext>
            </a:extLst>
          </p:cNvPr>
          <p:cNvSpPr>
            <a:spLocks noGrp="1"/>
          </p:cNvSpPr>
          <p:nvPr/>
        </p:nvSpPr>
        <p:spPr>
          <a:xfrm>
            <a:off x="10144125" y="2019300"/>
            <a:ext cx="1047750" cy="495300"/>
          </a:xfrm>
          <a:prstGeom prst="rect">
            <a:avLst/>
          </a:prstGeom>
          <a:noFill/>
          <a:ln w="0">
            <a:noFill/>
            <a:prstDash val="solid"/>
          </a:ln>
        </p:spPr>
        <p:txBody>
          <a:bodyPr anchor="ctr"/>
          <a:lstStyle/>
          <a:p>
            <a:pPr algn="r">
              <a:defRPr sz="1500" b="1">
                <a:solidFill>
                  <a:srgbClr val="2E2A26"/>
                </a:solidFill>
              </a:defRPr>
            </a:pPr>
            <a:r>
              <a:rPr sz="1500" b="1">
                <a:solidFill>
                  <a:srgbClr val="2E2A26"/>
                </a:solidFill>
              </a:rPr>
              <a:t>40%</a:t>
            </a:r>
          </a:p>
        </p:txBody>
      </p:sp>
      <p:sp>
        <p:nvSpPr>
          <p:cNvPr id="11" name="score-row-1">
            <a:extLst>
              <a:ext uri="{FF2B5EF4-FFF2-40B4-BE49-F238E27FC236}">
                <a16:creationId xmlns:a16="http://schemas.microsoft.com/office/drawing/2014/main" id="{119CE6CB-725E-44D1-8F4A-4BDEA6D0BBAB}"/>
              </a:ext>
            </a:extLst>
          </p:cNvPr>
          <p:cNvSpPr>
            <a:spLocks noGrp="1"/>
          </p:cNvSpPr>
          <p:nvPr/>
        </p:nvSpPr>
        <p:spPr>
          <a:xfrm>
            <a:off x="685800" y="2790825"/>
            <a:ext cx="10820400" cy="685800"/>
          </a:xfrm>
          <a:prstGeom prst="roundRect">
            <a:avLst>
              <a:gd name="adj" fmla="val 22222"/>
            </a:avLst>
          </a:prstGeom>
          <a:solidFill>
            <a:srgbClr val="FFFFFF"/>
          </a:solidFill>
          <a:ln w="9525">
            <a:solidFill>
              <a:srgbClr val="DED0C2"/>
            </a:solidFill>
            <a:prstDash val="solid"/>
          </a:ln>
        </p:spPr>
        <p:txBody>
          <a:bodyPr/>
          <a:lstStyle/>
          <a:p>
            <a:endParaRPr lang="es-MX"/>
          </a:p>
        </p:txBody>
      </p:sp>
      <p:sp>
        <p:nvSpPr>
          <p:cNvPr id="12" name="score-badge-1">
            <a:extLst>
              <a:ext uri="{FF2B5EF4-FFF2-40B4-BE49-F238E27FC236}">
                <a16:creationId xmlns:a16="http://schemas.microsoft.com/office/drawing/2014/main" id="{B7BB99CE-95BC-449D-A15F-B4E6CAA8A6D2}"/>
              </a:ext>
            </a:extLst>
          </p:cNvPr>
          <p:cNvSpPr>
            <a:spLocks noGrp="1"/>
          </p:cNvSpPr>
          <p:nvPr/>
        </p:nvSpPr>
        <p:spPr>
          <a:xfrm>
            <a:off x="838200" y="2886075"/>
            <a:ext cx="666750" cy="495300"/>
          </a:xfrm>
          <a:prstGeom prst="roundRect">
            <a:avLst>
              <a:gd name="adj" fmla="val 30769"/>
            </a:avLst>
          </a:prstGeom>
          <a:solidFill>
            <a:srgbClr val="66BCB4"/>
          </a:solidFill>
          <a:ln w="0">
            <a:noFill/>
            <a:prstDash val="solid"/>
          </a:ln>
        </p:spPr>
        <p:txBody>
          <a:bodyPr/>
          <a:lstStyle/>
          <a:p>
            <a:endParaRPr lang="es-MX"/>
          </a:p>
        </p:txBody>
      </p:sp>
      <p:sp>
        <p:nvSpPr>
          <p:cNvPr id="13" name="score-val-1">
            <a:extLst>
              <a:ext uri="{FF2B5EF4-FFF2-40B4-BE49-F238E27FC236}">
                <a16:creationId xmlns:a16="http://schemas.microsoft.com/office/drawing/2014/main" id="{B186F2F9-7DEA-4B80-BBDD-81ADA8D10454}"/>
              </a:ext>
            </a:extLst>
          </p:cNvPr>
          <p:cNvSpPr>
            <a:spLocks noGrp="1"/>
          </p:cNvSpPr>
          <p:nvPr/>
        </p:nvSpPr>
        <p:spPr>
          <a:xfrm>
            <a:off x="838200" y="2886075"/>
            <a:ext cx="666750" cy="495300"/>
          </a:xfrm>
          <a:prstGeom prst="rect">
            <a:avLst/>
          </a:prstGeom>
          <a:noFill/>
          <a:ln w="0">
            <a:noFill/>
            <a:prstDash val="solid"/>
          </a:ln>
        </p:spPr>
        <p:txBody>
          <a:bodyPr anchor="ctr"/>
          <a:lstStyle/>
          <a:p>
            <a:pPr algn="ctr">
              <a:defRPr sz="1875" b="1">
                <a:solidFill>
                  <a:srgbClr val="2E2A26"/>
                </a:solidFill>
              </a:defRPr>
            </a:pPr>
            <a:r>
              <a:rPr sz="1875" b="1">
                <a:solidFill>
                  <a:srgbClr val="2E2A26"/>
                </a:solidFill>
              </a:rPr>
              <a:t>25</a:t>
            </a:r>
          </a:p>
        </p:txBody>
      </p:sp>
      <p:sp>
        <p:nvSpPr>
          <p:cNvPr id="14" name="score-name-1">
            <a:extLst>
              <a:ext uri="{FF2B5EF4-FFF2-40B4-BE49-F238E27FC236}">
                <a16:creationId xmlns:a16="http://schemas.microsoft.com/office/drawing/2014/main" id="{CDADF3DA-5666-4BD9-8A5A-980B5D96EE48}"/>
              </a:ext>
            </a:extLst>
          </p:cNvPr>
          <p:cNvSpPr>
            <a:spLocks noGrp="1"/>
          </p:cNvSpPr>
          <p:nvPr/>
        </p:nvSpPr>
        <p:spPr>
          <a:xfrm>
            <a:off x="1733550" y="2886075"/>
            <a:ext cx="2286000" cy="495300"/>
          </a:xfrm>
          <a:prstGeom prst="rect">
            <a:avLst/>
          </a:prstGeom>
          <a:noFill/>
          <a:ln w="0">
            <a:noFill/>
            <a:prstDash val="solid"/>
          </a:ln>
        </p:spPr>
        <p:txBody>
          <a:bodyPr anchor="ctr"/>
          <a:lstStyle/>
          <a:p>
            <a:pPr algn="l">
              <a:defRPr sz="1650" b="1">
                <a:solidFill>
                  <a:srgbClr val="2E2A26"/>
                </a:solidFill>
              </a:defRPr>
            </a:pPr>
            <a:r>
              <a:rPr sz="1650" b="1">
                <a:solidFill>
                  <a:srgbClr val="2E2A26"/>
                </a:solidFill>
              </a:rPr>
              <a:t>Tamaño</a:t>
            </a:r>
          </a:p>
        </p:txBody>
      </p:sp>
      <p:sp>
        <p:nvSpPr>
          <p:cNvPr id="15" name="score-desc-1">
            <a:extLst>
              <a:ext uri="{FF2B5EF4-FFF2-40B4-BE49-F238E27FC236}">
                <a16:creationId xmlns:a16="http://schemas.microsoft.com/office/drawing/2014/main" id="{6DB87539-9FFB-406C-8106-2BDCBAC87D39}"/>
              </a:ext>
            </a:extLst>
          </p:cNvPr>
          <p:cNvSpPr>
            <a:spLocks noGrp="1"/>
          </p:cNvSpPr>
          <p:nvPr/>
        </p:nvSpPr>
        <p:spPr>
          <a:xfrm>
            <a:off x="4095750" y="2895600"/>
            <a:ext cx="5619750" cy="476250"/>
          </a:xfrm>
          <a:prstGeom prst="rect">
            <a:avLst/>
          </a:prstGeom>
          <a:noFill/>
          <a:ln w="0">
            <a:noFill/>
            <a:prstDash val="solid"/>
          </a:ln>
        </p:spPr>
        <p:txBody>
          <a:bodyPr anchor="ctr"/>
          <a:lstStyle/>
          <a:p>
            <a:pPr algn="l">
              <a:defRPr sz="1275" b="0">
                <a:solidFill>
                  <a:srgbClr val="7A6A5E"/>
                </a:solidFill>
              </a:defRPr>
            </a:pPr>
            <a:r>
              <a:rPr sz="1275" b="0">
                <a:solidFill>
                  <a:srgbClr val="7A6A5E"/>
                </a:solidFill>
              </a:rPr>
              <a:t>Compatible con al menos un tamaño —o sin dato—</a:t>
            </a:r>
          </a:p>
        </p:txBody>
      </p:sp>
      <p:sp>
        <p:nvSpPr>
          <p:cNvPr id="16" name="score-pct-1">
            <a:extLst>
              <a:ext uri="{FF2B5EF4-FFF2-40B4-BE49-F238E27FC236}">
                <a16:creationId xmlns:a16="http://schemas.microsoft.com/office/drawing/2014/main" id="{C146481D-3309-4225-B1A5-1055106C7614}"/>
              </a:ext>
            </a:extLst>
          </p:cNvPr>
          <p:cNvSpPr>
            <a:spLocks noGrp="1"/>
          </p:cNvSpPr>
          <p:nvPr/>
        </p:nvSpPr>
        <p:spPr>
          <a:xfrm>
            <a:off x="10144125" y="2886075"/>
            <a:ext cx="1047750" cy="495300"/>
          </a:xfrm>
          <a:prstGeom prst="rect">
            <a:avLst/>
          </a:prstGeom>
          <a:noFill/>
          <a:ln w="0">
            <a:noFill/>
            <a:prstDash val="solid"/>
          </a:ln>
        </p:spPr>
        <p:txBody>
          <a:bodyPr anchor="ctr"/>
          <a:lstStyle/>
          <a:p>
            <a:pPr algn="r">
              <a:defRPr sz="1500" b="1">
                <a:solidFill>
                  <a:srgbClr val="2E2A26"/>
                </a:solidFill>
              </a:defRPr>
            </a:pPr>
            <a:r>
              <a:rPr sz="1500" b="1">
                <a:solidFill>
                  <a:srgbClr val="2E2A26"/>
                </a:solidFill>
              </a:rPr>
              <a:t>25%</a:t>
            </a:r>
          </a:p>
        </p:txBody>
      </p:sp>
      <p:sp>
        <p:nvSpPr>
          <p:cNvPr id="17" name="score-row-2">
            <a:extLst>
              <a:ext uri="{FF2B5EF4-FFF2-40B4-BE49-F238E27FC236}">
                <a16:creationId xmlns:a16="http://schemas.microsoft.com/office/drawing/2014/main" id="{286659B3-B7FF-41E3-AC25-F7FC32272E5F}"/>
              </a:ext>
            </a:extLst>
          </p:cNvPr>
          <p:cNvSpPr>
            <a:spLocks noGrp="1"/>
          </p:cNvSpPr>
          <p:nvPr/>
        </p:nvSpPr>
        <p:spPr>
          <a:xfrm>
            <a:off x="685800" y="3657600"/>
            <a:ext cx="10820400" cy="685800"/>
          </a:xfrm>
          <a:prstGeom prst="roundRect">
            <a:avLst>
              <a:gd name="adj" fmla="val 22222"/>
            </a:avLst>
          </a:prstGeom>
          <a:solidFill>
            <a:srgbClr val="FFFFFF"/>
          </a:solidFill>
          <a:ln w="9525">
            <a:solidFill>
              <a:srgbClr val="DED0C2"/>
            </a:solidFill>
            <a:prstDash val="solid"/>
          </a:ln>
        </p:spPr>
        <p:txBody>
          <a:bodyPr/>
          <a:lstStyle/>
          <a:p>
            <a:endParaRPr lang="es-MX"/>
          </a:p>
        </p:txBody>
      </p:sp>
      <p:sp>
        <p:nvSpPr>
          <p:cNvPr id="18" name="score-badge-2">
            <a:extLst>
              <a:ext uri="{FF2B5EF4-FFF2-40B4-BE49-F238E27FC236}">
                <a16:creationId xmlns:a16="http://schemas.microsoft.com/office/drawing/2014/main" id="{A347721C-7020-4A35-B516-045109F329B2}"/>
              </a:ext>
            </a:extLst>
          </p:cNvPr>
          <p:cNvSpPr>
            <a:spLocks noGrp="1"/>
          </p:cNvSpPr>
          <p:nvPr/>
        </p:nvSpPr>
        <p:spPr>
          <a:xfrm>
            <a:off x="838200" y="3752850"/>
            <a:ext cx="666750" cy="495300"/>
          </a:xfrm>
          <a:prstGeom prst="roundRect">
            <a:avLst>
              <a:gd name="adj" fmla="val 30769"/>
            </a:avLst>
          </a:prstGeom>
          <a:solidFill>
            <a:srgbClr val="EDC55B"/>
          </a:solidFill>
          <a:ln w="0">
            <a:noFill/>
            <a:prstDash val="solid"/>
          </a:ln>
        </p:spPr>
        <p:txBody>
          <a:bodyPr/>
          <a:lstStyle/>
          <a:p>
            <a:endParaRPr lang="es-MX"/>
          </a:p>
        </p:txBody>
      </p:sp>
      <p:sp>
        <p:nvSpPr>
          <p:cNvPr id="19" name="score-val-2">
            <a:extLst>
              <a:ext uri="{FF2B5EF4-FFF2-40B4-BE49-F238E27FC236}">
                <a16:creationId xmlns:a16="http://schemas.microsoft.com/office/drawing/2014/main" id="{2376F2B3-823C-489D-B921-42E2CCBC20F1}"/>
              </a:ext>
            </a:extLst>
          </p:cNvPr>
          <p:cNvSpPr>
            <a:spLocks noGrp="1"/>
          </p:cNvSpPr>
          <p:nvPr/>
        </p:nvSpPr>
        <p:spPr>
          <a:xfrm>
            <a:off x="838200" y="3752850"/>
            <a:ext cx="666750" cy="495300"/>
          </a:xfrm>
          <a:prstGeom prst="rect">
            <a:avLst/>
          </a:prstGeom>
          <a:noFill/>
          <a:ln w="0">
            <a:noFill/>
            <a:prstDash val="solid"/>
          </a:ln>
        </p:spPr>
        <p:txBody>
          <a:bodyPr anchor="ctr"/>
          <a:lstStyle/>
          <a:p>
            <a:pPr algn="ctr">
              <a:defRPr sz="1875" b="1">
                <a:solidFill>
                  <a:srgbClr val="2E2A26"/>
                </a:solidFill>
              </a:defRPr>
            </a:pPr>
            <a:r>
              <a:rPr sz="1875" b="1">
                <a:solidFill>
                  <a:srgbClr val="2E2A26"/>
                </a:solidFill>
              </a:rPr>
              <a:t>20</a:t>
            </a:r>
          </a:p>
        </p:txBody>
      </p:sp>
      <p:sp>
        <p:nvSpPr>
          <p:cNvPr id="20" name="score-name-2">
            <a:extLst>
              <a:ext uri="{FF2B5EF4-FFF2-40B4-BE49-F238E27FC236}">
                <a16:creationId xmlns:a16="http://schemas.microsoft.com/office/drawing/2014/main" id="{3BE3F889-B130-4085-A367-07CC7A6346B0}"/>
              </a:ext>
            </a:extLst>
          </p:cNvPr>
          <p:cNvSpPr>
            <a:spLocks noGrp="1"/>
          </p:cNvSpPr>
          <p:nvPr/>
        </p:nvSpPr>
        <p:spPr>
          <a:xfrm>
            <a:off x="1733550" y="3752850"/>
            <a:ext cx="2286000" cy="495300"/>
          </a:xfrm>
          <a:prstGeom prst="rect">
            <a:avLst/>
          </a:prstGeom>
          <a:noFill/>
          <a:ln w="0">
            <a:noFill/>
            <a:prstDash val="solid"/>
          </a:ln>
        </p:spPr>
        <p:txBody>
          <a:bodyPr anchor="ctr"/>
          <a:lstStyle/>
          <a:p>
            <a:pPr algn="l">
              <a:defRPr sz="1650" b="1">
                <a:solidFill>
                  <a:srgbClr val="2E2A26"/>
                </a:solidFill>
              </a:defRPr>
            </a:pPr>
            <a:r>
              <a:rPr sz="1650" b="1">
                <a:solidFill>
                  <a:srgbClr val="2E2A26"/>
                </a:solidFill>
              </a:rPr>
              <a:t>Disponibilidad</a:t>
            </a:r>
          </a:p>
        </p:txBody>
      </p:sp>
      <p:sp>
        <p:nvSpPr>
          <p:cNvPr id="21" name="score-desc-2">
            <a:extLst>
              <a:ext uri="{FF2B5EF4-FFF2-40B4-BE49-F238E27FC236}">
                <a16:creationId xmlns:a16="http://schemas.microsoft.com/office/drawing/2014/main" id="{E715455C-0257-4ABB-A0CD-B28E6EDA0043}"/>
              </a:ext>
            </a:extLst>
          </p:cNvPr>
          <p:cNvSpPr>
            <a:spLocks noGrp="1"/>
          </p:cNvSpPr>
          <p:nvPr/>
        </p:nvSpPr>
        <p:spPr>
          <a:xfrm>
            <a:off x="4095750" y="3762375"/>
            <a:ext cx="5619750" cy="476250"/>
          </a:xfrm>
          <a:prstGeom prst="rect">
            <a:avLst/>
          </a:prstGeom>
          <a:noFill/>
          <a:ln w="0">
            <a:noFill/>
            <a:prstDash val="solid"/>
          </a:ln>
        </p:spPr>
        <p:txBody>
          <a:bodyPr anchor="ctr"/>
          <a:lstStyle/>
          <a:p>
            <a:pPr algn="l">
              <a:defRPr sz="1275" b="0">
                <a:solidFill>
                  <a:srgbClr val="7A6A5E"/>
                </a:solidFill>
              </a:defRPr>
            </a:pPr>
            <a:r>
              <a:rPr sz="1275" b="0">
                <a:solidFill>
                  <a:srgbClr val="7A6A5E"/>
                </a:solidFill>
              </a:rPr>
              <a:t>Coincide con el día y horario actuales</a:t>
            </a:r>
          </a:p>
        </p:txBody>
      </p:sp>
      <p:sp>
        <p:nvSpPr>
          <p:cNvPr id="22" name="score-pct-2">
            <a:extLst>
              <a:ext uri="{FF2B5EF4-FFF2-40B4-BE49-F238E27FC236}">
                <a16:creationId xmlns:a16="http://schemas.microsoft.com/office/drawing/2014/main" id="{0D220CB4-357A-4600-8EC1-4C82B8F76D7C}"/>
              </a:ext>
            </a:extLst>
          </p:cNvPr>
          <p:cNvSpPr>
            <a:spLocks noGrp="1"/>
          </p:cNvSpPr>
          <p:nvPr/>
        </p:nvSpPr>
        <p:spPr>
          <a:xfrm>
            <a:off x="10144125" y="3752850"/>
            <a:ext cx="1047750" cy="495300"/>
          </a:xfrm>
          <a:prstGeom prst="rect">
            <a:avLst/>
          </a:prstGeom>
          <a:noFill/>
          <a:ln w="0">
            <a:noFill/>
            <a:prstDash val="solid"/>
          </a:ln>
        </p:spPr>
        <p:txBody>
          <a:bodyPr anchor="ctr"/>
          <a:lstStyle/>
          <a:p>
            <a:pPr algn="r">
              <a:defRPr sz="1500" b="1">
                <a:solidFill>
                  <a:srgbClr val="2E2A26"/>
                </a:solidFill>
              </a:defRPr>
            </a:pPr>
            <a:r>
              <a:rPr sz="1500" b="1">
                <a:solidFill>
                  <a:srgbClr val="2E2A26"/>
                </a:solidFill>
              </a:rPr>
              <a:t>20%</a:t>
            </a:r>
          </a:p>
        </p:txBody>
      </p:sp>
      <p:sp>
        <p:nvSpPr>
          <p:cNvPr id="23" name="score-row-3">
            <a:extLst>
              <a:ext uri="{FF2B5EF4-FFF2-40B4-BE49-F238E27FC236}">
                <a16:creationId xmlns:a16="http://schemas.microsoft.com/office/drawing/2014/main" id="{6B58BAD5-E055-4C01-A935-120B8A9457F6}"/>
              </a:ext>
            </a:extLst>
          </p:cNvPr>
          <p:cNvSpPr>
            <a:spLocks noGrp="1"/>
          </p:cNvSpPr>
          <p:nvPr/>
        </p:nvSpPr>
        <p:spPr>
          <a:xfrm>
            <a:off x="685800" y="4524375"/>
            <a:ext cx="10820400" cy="685800"/>
          </a:xfrm>
          <a:prstGeom prst="roundRect">
            <a:avLst>
              <a:gd name="adj" fmla="val 22222"/>
            </a:avLst>
          </a:prstGeom>
          <a:solidFill>
            <a:srgbClr val="FFFFFF"/>
          </a:solidFill>
          <a:ln w="9525">
            <a:solidFill>
              <a:srgbClr val="DED0C2"/>
            </a:solidFill>
            <a:prstDash val="solid"/>
          </a:ln>
        </p:spPr>
        <p:txBody>
          <a:bodyPr/>
          <a:lstStyle/>
          <a:p>
            <a:endParaRPr lang="es-MX"/>
          </a:p>
        </p:txBody>
      </p:sp>
      <p:sp>
        <p:nvSpPr>
          <p:cNvPr id="24" name="score-badge-3">
            <a:extLst>
              <a:ext uri="{FF2B5EF4-FFF2-40B4-BE49-F238E27FC236}">
                <a16:creationId xmlns:a16="http://schemas.microsoft.com/office/drawing/2014/main" id="{C7DA63B6-1F14-4D62-BB26-EB6BF78B9135}"/>
              </a:ext>
            </a:extLst>
          </p:cNvPr>
          <p:cNvSpPr>
            <a:spLocks noGrp="1"/>
          </p:cNvSpPr>
          <p:nvPr/>
        </p:nvSpPr>
        <p:spPr>
          <a:xfrm>
            <a:off x="838200" y="4619625"/>
            <a:ext cx="666750" cy="495300"/>
          </a:xfrm>
          <a:prstGeom prst="roundRect">
            <a:avLst>
              <a:gd name="adj" fmla="val 30769"/>
            </a:avLst>
          </a:prstGeom>
          <a:solidFill>
            <a:srgbClr val="E8CCAD"/>
          </a:solidFill>
          <a:ln w="0">
            <a:noFill/>
            <a:prstDash val="solid"/>
          </a:ln>
        </p:spPr>
        <p:txBody>
          <a:bodyPr/>
          <a:lstStyle/>
          <a:p>
            <a:endParaRPr lang="es-MX"/>
          </a:p>
        </p:txBody>
      </p:sp>
      <p:sp>
        <p:nvSpPr>
          <p:cNvPr id="25" name="score-val-3">
            <a:extLst>
              <a:ext uri="{FF2B5EF4-FFF2-40B4-BE49-F238E27FC236}">
                <a16:creationId xmlns:a16="http://schemas.microsoft.com/office/drawing/2014/main" id="{C661063D-A4BE-439C-84EE-5C19B23FF389}"/>
              </a:ext>
            </a:extLst>
          </p:cNvPr>
          <p:cNvSpPr>
            <a:spLocks noGrp="1"/>
          </p:cNvSpPr>
          <p:nvPr/>
        </p:nvSpPr>
        <p:spPr>
          <a:xfrm>
            <a:off x="838200" y="4619625"/>
            <a:ext cx="666750" cy="495300"/>
          </a:xfrm>
          <a:prstGeom prst="rect">
            <a:avLst/>
          </a:prstGeom>
          <a:noFill/>
          <a:ln w="0">
            <a:noFill/>
            <a:prstDash val="solid"/>
          </a:ln>
        </p:spPr>
        <p:txBody>
          <a:bodyPr anchor="ctr"/>
          <a:lstStyle/>
          <a:p>
            <a:pPr algn="ctr">
              <a:defRPr sz="1875" b="1">
                <a:solidFill>
                  <a:srgbClr val="2E2A26"/>
                </a:solidFill>
              </a:defRPr>
            </a:pPr>
            <a:r>
              <a:rPr sz="1875" b="1">
                <a:solidFill>
                  <a:srgbClr val="2E2A26"/>
                </a:solidFill>
              </a:rPr>
              <a:t>15</a:t>
            </a:r>
          </a:p>
        </p:txBody>
      </p:sp>
      <p:sp>
        <p:nvSpPr>
          <p:cNvPr id="26" name="score-name-3">
            <a:extLst>
              <a:ext uri="{FF2B5EF4-FFF2-40B4-BE49-F238E27FC236}">
                <a16:creationId xmlns:a16="http://schemas.microsoft.com/office/drawing/2014/main" id="{ECBCE073-677A-4074-A307-1588FF27C093}"/>
              </a:ext>
            </a:extLst>
          </p:cNvPr>
          <p:cNvSpPr>
            <a:spLocks noGrp="1"/>
          </p:cNvSpPr>
          <p:nvPr/>
        </p:nvSpPr>
        <p:spPr>
          <a:xfrm>
            <a:off x="1733550" y="4619625"/>
            <a:ext cx="2286000" cy="495300"/>
          </a:xfrm>
          <a:prstGeom prst="rect">
            <a:avLst/>
          </a:prstGeom>
          <a:noFill/>
          <a:ln w="0">
            <a:noFill/>
            <a:prstDash val="solid"/>
          </a:ln>
        </p:spPr>
        <p:txBody>
          <a:bodyPr anchor="ctr"/>
          <a:lstStyle/>
          <a:p>
            <a:pPr algn="l">
              <a:defRPr sz="1650" b="1">
                <a:solidFill>
                  <a:srgbClr val="2E2A26"/>
                </a:solidFill>
              </a:defRPr>
            </a:pPr>
            <a:r>
              <a:rPr sz="1650" b="1">
                <a:solidFill>
                  <a:srgbClr val="2E2A26"/>
                </a:solidFill>
              </a:rPr>
              <a:t>Capacidad libre</a:t>
            </a:r>
          </a:p>
        </p:txBody>
      </p:sp>
      <p:sp>
        <p:nvSpPr>
          <p:cNvPr id="27" name="score-desc-3">
            <a:extLst>
              <a:ext uri="{FF2B5EF4-FFF2-40B4-BE49-F238E27FC236}">
                <a16:creationId xmlns:a16="http://schemas.microsoft.com/office/drawing/2014/main" id="{70EA7620-EBDC-44E2-AC95-04DF7959CE9B}"/>
              </a:ext>
            </a:extLst>
          </p:cNvPr>
          <p:cNvSpPr>
            <a:spLocks noGrp="1"/>
          </p:cNvSpPr>
          <p:nvPr/>
        </p:nvSpPr>
        <p:spPr>
          <a:xfrm>
            <a:off x="4095750" y="4629150"/>
            <a:ext cx="5619750" cy="476250"/>
          </a:xfrm>
          <a:prstGeom prst="rect">
            <a:avLst/>
          </a:prstGeom>
          <a:noFill/>
          <a:ln w="0">
            <a:noFill/>
            <a:prstDash val="solid"/>
          </a:ln>
        </p:spPr>
        <p:txBody>
          <a:bodyPr anchor="ctr"/>
          <a:lstStyle/>
          <a:p>
            <a:pPr algn="l">
              <a:defRPr sz="1275" b="0">
                <a:solidFill>
                  <a:srgbClr val="7A6A5E"/>
                </a:solidFill>
              </a:defRPr>
            </a:pPr>
            <a:r>
              <a:rPr sz="1275" b="0">
                <a:solidFill>
                  <a:srgbClr val="7A6A5E"/>
                </a:solidFill>
              </a:rPr>
              <a:t>Proporción disponible sobre capacidad total</a:t>
            </a:r>
          </a:p>
        </p:txBody>
      </p:sp>
      <p:sp>
        <p:nvSpPr>
          <p:cNvPr id="28" name="score-pct-3">
            <a:extLst>
              <a:ext uri="{FF2B5EF4-FFF2-40B4-BE49-F238E27FC236}">
                <a16:creationId xmlns:a16="http://schemas.microsoft.com/office/drawing/2014/main" id="{BBBAE112-2C81-44A0-B0F2-012D8A53BEC7}"/>
              </a:ext>
            </a:extLst>
          </p:cNvPr>
          <p:cNvSpPr>
            <a:spLocks noGrp="1"/>
          </p:cNvSpPr>
          <p:nvPr/>
        </p:nvSpPr>
        <p:spPr>
          <a:xfrm>
            <a:off x="10144125" y="4619625"/>
            <a:ext cx="1047750" cy="495300"/>
          </a:xfrm>
          <a:prstGeom prst="rect">
            <a:avLst/>
          </a:prstGeom>
          <a:noFill/>
          <a:ln w="0">
            <a:noFill/>
            <a:prstDash val="solid"/>
          </a:ln>
        </p:spPr>
        <p:txBody>
          <a:bodyPr anchor="ctr"/>
          <a:lstStyle/>
          <a:p>
            <a:pPr algn="r">
              <a:defRPr sz="1500" b="1">
                <a:solidFill>
                  <a:srgbClr val="2E2A26"/>
                </a:solidFill>
              </a:defRPr>
            </a:pPr>
            <a:r>
              <a:rPr sz="1500" b="1">
                <a:solidFill>
                  <a:srgbClr val="2E2A26"/>
                </a:solidFill>
              </a:rPr>
              <a:t>15%</a:t>
            </a:r>
          </a:p>
        </p:txBody>
      </p:sp>
      <p:sp>
        <p:nvSpPr>
          <p:cNvPr id="29" name="equation">
            <a:extLst>
              <a:ext uri="{FF2B5EF4-FFF2-40B4-BE49-F238E27FC236}">
                <a16:creationId xmlns:a16="http://schemas.microsoft.com/office/drawing/2014/main" id="{EE72B535-BD27-4068-B19B-1587EBA90E41}"/>
              </a:ext>
            </a:extLst>
          </p:cNvPr>
          <p:cNvSpPr>
            <a:spLocks noGrp="1"/>
          </p:cNvSpPr>
          <p:nvPr/>
        </p:nvSpPr>
        <p:spPr>
          <a:xfrm>
            <a:off x="685800" y="5581650"/>
            <a:ext cx="10820400" cy="342900"/>
          </a:xfrm>
          <a:prstGeom prst="rect">
            <a:avLst/>
          </a:prstGeom>
          <a:noFill/>
          <a:ln w="0">
            <a:noFill/>
            <a:prstDash val="solid"/>
          </a:ln>
        </p:spPr>
        <p:txBody>
          <a:bodyPr anchor="ctr"/>
          <a:lstStyle/>
          <a:p>
            <a:pPr algn="ctr">
              <a:defRPr sz="1575" b="1">
                <a:solidFill>
                  <a:srgbClr val="2E2A26"/>
                </a:solidFill>
              </a:defRPr>
            </a:pPr>
            <a:r>
              <a:rPr sz="1575" b="1" dirty="0">
                <a:solidFill>
                  <a:srgbClr val="2E2A26"/>
                </a:solidFill>
              </a:rPr>
              <a:t>score total = </a:t>
            </a:r>
            <a:r>
              <a:rPr sz="1575" b="1" dirty="0" err="1">
                <a:solidFill>
                  <a:srgbClr val="2E2A26"/>
                </a:solidFill>
              </a:rPr>
              <a:t>proximidad</a:t>
            </a:r>
            <a:r>
              <a:rPr sz="1575" b="1" dirty="0">
                <a:solidFill>
                  <a:srgbClr val="2E2A26"/>
                </a:solidFill>
              </a:rPr>
              <a:t> + </a:t>
            </a:r>
            <a:r>
              <a:rPr sz="1575" b="1" dirty="0" err="1">
                <a:solidFill>
                  <a:srgbClr val="2E2A26"/>
                </a:solidFill>
              </a:rPr>
              <a:t>tamaño</a:t>
            </a:r>
            <a:r>
              <a:rPr sz="1575" b="1" dirty="0">
                <a:solidFill>
                  <a:srgbClr val="2E2A26"/>
                </a:solidFill>
              </a:rPr>
              <a:t> + </a:t>
            </a:r>
            <a:r>
              <a:rPr sz="1575" b="1" dirty="0" err="1">
                <a:solidFill>
                  <a:srgbClr val="2E2A26"/>
                </a:solidFill>
              </a:rPr>
              <a:t>disponibilidad</a:t>
            </a:r>
            <a:r>
              <a:rPr sz="1575" b="1" dirty="0">
                <a:solidFill>
                  <a:srgbClr val="2E2A26"/>
                </a:solidFill>
              </a:rPr>
              <a:t> + </a:t>
            </a:r>
            <a:r>
              <a:rPr sz="1575" b="1" dirty="0" err="1">
                <a:solidFill>
                  <a:srgbClr val="2E2A26"/>
                </a:solidFill>
              </a:rPr>
              <a:t>capacidad</a:t>
            </a:r>
            <a:r>
              <a:rPr sz="1575" b="1" dirty="0">
                <a:solidFill>
                  <a:srgbClr val="2E2A26"/>
                </a:solidFill>
              </a:rPr>
              <a:t> libre</a:t>
            </a:r>
          </a:p>
        </p:txBody>
      </p:sp>
      <p:sp>
        <p:nvSpPr>
          <p:cNvPr id="30" name="chip-TOP 3">
            <a:extLst>
              <a:ext uri="{FF2B5EF4-FFF2-40B4-BE49-F238E27FC236}">
                <a16:creationId xmlns:a16="http://schemas.microsoft.com/office/drawing/2014/main" id="{93AA57B8-FA9F-4CBF-B422-CFAD3A7031FD}"/>
              </a:ext>
            </a:extLst>
          </p:cNvPr>
          <p:cNvSpPr>
            <a:spLocks noGrp="1"/>
          </p:cNvSpPr>
          <p:nvPr/>
        </p:nvSpPr>
        <p:spPr>
          <a:xfrm>
            <a:off x="5095875" y="6048375"/>
            <a:ext cx="1047750" cy="323850"/>
          </a:xfrm>
          <a:prstGeom prst="roundRect">
            <a:avLst>
              <a:gd name="adj" fmla="val 47059"/>
            </a:avLst>
          </a:prstGeom>
          <a:solidFill>
            <a:srgbClr val="66BCB4"/>
          </a:solidFill>
          <a:ln w="0">
            <a:noFill/>
            <a:prstDash val="solid"/>
          </a:ln>
        </p:spPr>
        <p:txBody>
          <a:bodyPr/>
          <a:lstStyle/>
          <a:p>
            <a:endParaRPr lang="es-MX"/>
          </a:p>
        </p:txBody>
      </p:sp>
      <p:sp>
        <p:nvSpPr>
          <p:cNvPr id="31" name="chip-text-TOP 3">
            <a:extLst>
              <a:ext uri="{FF2B5EF4-FFF2-40B4-BE49-F238E27FC236}">
                <a16:creationId xmlns:a16="http://schemas.microsoft.com/office/drawing/2014/main" id="{34669D20-FA75-42C3-B39E-C1B76AEA5B77}"/>
              </a:ext>
            </a:extLst>
          </p:cNvPr>
          <p:cNvSpPr>
            <a:spLocks noGrp="1"/>
          </p:cNvSpPr>
          <p:nvPr/>
        </p:nvSpPr>
        <p:spPr>
          <a:xfrm>
            <a:off x="5191125" y="6057900"/>
            <a:ext cx="857250" cy="295275"/>
          </a:xfrm>
          <a:prstGeom prst="rect">
            <a:avLst/>
          </a:prstGeom>
          <a:noFill/>
          <a:ln w="0">
            <a:noFill/>
            <a:prstDash val="solid"/>
          </a:ln>
        </p:spPr>
        <p:txBody>
          <a:bodyPr anchor="ctr"/>
          <a:lstStyle/>
          <a:p>
            <a:pPr algn="ctr">
              <a:defRPr sz="1125" b="1">
                <a:solidFill>
                  <a:srgbClr val="2E2A26"/>
                </a:solidFill>
              </a:defRPr>
            </a:pPr>
            <a:r>
              <a:rPr sz="1125" b="1">
                <a:solidFill>
                  <a:srgbClr val="2E2A26"/>
                </a:solidFill>
              </a:rPr>
              <a:t>TOP 3</a:t>
            </a:r>
          </a:p>
        </p:txBody>
      </p:sp>
    </p:spTree>
    <p:extLst>
      <p:ext uri="{BB962C8B-B14F-4D97-AF65-F5344CB8AC3E}">
        <p14:creationId xmlns:p14="http://schemas.microsoft.com/office/powerpoint/2010/main" val="1867411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AD8"/>
        </a:solidFill>
        <a:effectLst/>
      </p:bgPr>
    </p:bg>
    <p:spTree>
      <p:nvGrpSpPr>
        <p:cNvPr id="1" name=""/>
        <p:cNvGrpSpPr/>
        <p:nvPr/>
      </p:nvGrpSpPr>
      <p:grpSpPr>
        <a:xfrm>
          <a:off x="0" y="0"/>
          <a:ext cx="0" cy="0"/>
          <a:chOff x="0" y="0"/>
          <a:chExt cx="0" cy="0"/>
        </a:xfrm>
      </p:grpSpPr>
      <p:sp>
        <p:nvSpPr>
          <p:cNvPr id="22" name="kicker">
            <a:extLst>
              <a:ext uri="{FF2B5EF4-FFF2-40B4-BE49-F238E27FC236}">
                <a16:creationId xmlns:a16="http://schemas.microsoft.com/office/drawing/2014/main" id="{A44F6D3C-097B-48E4-8EF2-A01DD25E569F}"/>
              </a:ext>
            </a:extLst>
          </p:cNvPr>
          <p:cNvSpPr>
            <a:spLocks noGrp="1"/>
          </p:cNvSpPr>
          <p:nvPr/>
        </p:nvSpPr>
        <p:spPr>
          <a:xfrm>
            <a:off x="685800" y="400050"/>
            <a:ext cx="7239000" cy="266700"/>
          </a:xfrm>
          <a:prstGeom prst="rect">
            <a:avLst/>
          </a:prstGeom>
          <a:noFill/>
          <a:ln w="0">
            <a:noFill/>
            <a:prstDash val="solid"/>
          </a:ln>
        </p:spPr>
        <p:txBody>
          <a:bodyPr anchor="ctr"/>
          <a:lstStyle/>
          <a:p>
            <a:pPr algn="l">
              <a:defRPr sz="1200" b="1">
                <a:solidFill>
                  <a:srgbClr val="EC802B"/>
                </a:solidFill>
              </a:defRPr>
            </a:pPr>
            <a:r>
              <a:rPr sz="1200" b="1">
                <a:solidFill>
                  <a:srgbClr val="EC802B"/>
                </a:solidFill>
              </a:rPr>
              <a:t>PASO 2 · MODALIDAD</a:t>
            </a:r>
          </a:p>
        </p:txBody>
      </p:sp>
      <p:sp>
        <p:nvSpPr>
          <p:cNvPr id="2" name="title">
            <a:extLst>
              <a:ext uri="{FF2B5EF4-FFF2-40B4-BE49-F238E27FC236}">
                <a16:creationId xmlns:a16="http://schemas.microsoft.com/office/drawing/2014/main" id="{B92DA07D-D8F7-4769-BAF7-31EC5EE22E17}"/>
              </a:ext>
            </a:extLst>
          </p:cNvPr>
          <p:cNvSpPr>
            <a:spLocks noGrp="1"/>
          </p:cNvSpPr>
          <p:nvPr/>
        </p:nvSpPr>
        <p:spPr>
          <a:xfrm>
            <a:off x="685800" y="723900"/>
            <a:ext cx="10382250" cy="647700"/>
          </a:xfrm>
          <a:prstGeom prst="rect">
            <a:avLst/>
          </a:prstGeom>
          <a:noFill/>
          <a:ln w="0">
            <a:noFill/>
            <a:prstDash val="solid"/>
          </a:ln>
        </p:spPr>
        <p:txBody>
          <a:bodyPr anchor="ctr"/>
          <a:lstStyle/>
          <a:p>
            <a:pPr algn="l">
              <a:defRPr sz="2850" b="1">
                <a:solidFill>
                  <a:srgbClr val="2E2A26"/>
                </a:solidFill>
              </a:defRPr>
            </a:pPr>
            <a:r>
              <a:rPr sz="2850" b="1" dirty="0">
                <a:solidFill>
                  <a:srgbClr val="2E2A26"/>
                </a:solidFill>
              </a:rPr>
              <a:t>La </a:t>
            </a:r>
            <a:r>
              <a:rPr sz="2850" b="1" dirty="0" err="1">
                <a:solidFill>
                  <a:srgbClr val="2E2A26"/>
                </a:solidFill>
              </a:rPr>
              <a:t>asociación</a:t>
            </a:r>
            <a:r>
              <a:rPr sz="2850" b="1" dirty="0">
                <a:solidFill>
                  <a:srgbClr val="2E2A26"/>
                </a:solidFill>
              </a:rPr>
              <a:t> decide </a:t>
            </a:r>
            <a:r>
              <a:rPr sz="2850" b="1" dirty="0" err="1">
                <a:solidFill>
                  <a:srgbClr val="2E2A26"/>
                </a:solidFill>
              </a:rPr>
              <a:t>cuánto</a:t>
            </a:r>
            <a:r>
              <a:rPr sz="2850" b="1" dirty="0">
                <a:solidFill>
                  <a:srgbClr val="2E2A26"/>
                </a:solidFill>
              </a:rPr>
              <a:t> control </a:t>
            </a:r>
            <a:r>
              <a:rPr sz="2850" b="1" dirty="0" err="1">
                <a:solidFill>
                  <a:srgbClr val="2E2A26"/>
                </a:solidFill>
              </a:rPr>
              <a:t>conserva</a:t>
            </a:r>
            <a:r>
              <a:rPr sz="2850" b="1" dirty="0">
                <a:solidFill>
                  <a:srgbClr val="2E2A26"/>
                </a:solidFill>
              </a:rPr>
              <a:t> </a:t>
            </a:r>
            <a:r>
              <a:rPr sz="2850" b="1" dirty="0" err="1">
                <a:solidFill>
                  <a:srgbClr val="2E2A26"/>
                </a:solidFill>
              </a:rPr>
              <a:t>sobre</a:t>
            </a:r>
            <a:r>
              <a:rPr sz="2850" b="1" dirty="0">
                <a:solidFill>
                  <a:srgbClr val="2E2A26"/>
                </a:solidFill>
              </a:rPr>
              <a:t> la </a:t>
            </a:r>
            <a:r>
              <a:rPr sz="2850" b="1" dirty="0" err="1">
                <a:solidFill>
                  <a:srgbClr val="2E2A26"/>
                </a:solidFill>
              </a:rPr>
              <a:t>asignación</a:t>
            </a:r>
            <a:endParaRPr sz="2850" b="1" dirty="0">
              <a:solidFill>
                <a:srgbClr val="2E2A26"/>
              </a:solidFill>
            </a:endParaRPr>
          </a:p>
        </p:txBody>
      </p:sp>
      <p:sp>
        <p:nvSpPr>
          <p:cNvPr id="3" name="page">
            <a:extLst>
              <a:ext uri="{FF2B5EF4-FFF2-40B4-BE49-F238E27FC236}">
                <a16:creationId xmlns:a16="http://schemas.microsoft.com/office/drawing/2014/main" id="{8FAB6F45-7CA0-4ECE-9519-E3B89EACD09D}"/>
              </a:ext>
            </a:extLst>
          </p:cNvPr>
          <p:cNvSpPr>
            <a:spLocks noGrp="1"/>
          </p:cNvSpPr>
          <p:nvPr/>
        </p:nvSpPr>
        <p:spPr>
          <a:xfrm>
            <a:off x="11049000" y="457200"/>
            <a:ext cx="457200" cy="266700"/>
          </a:xfrm>
          <a:prstGeom prst="rect">
            <a:avLst/>
          </a:prstGeom>
          <a:noFill/>
          <a:ln w="0">
            <a:noFill/>
            <a:prstDash val="solid"/>
          </a:ln>
        </p:spPr>
        <p:txBody>
          <a:bodyPr anchor="ctr"/>
          <a:lstStyle/>
          <a:p>
            <a:pPr algn="r">
              <a:defRPr sz="1125" b="1">
                <a:solidFill>
                  <a:srgbClr val="9B8B7E"/>
                </a:solidFill>
              </a:defRPr>
            </a:pPr>
            <a:r>
              <a:rPr sz="1125" b="1">
                <a:solidFill>
                  <a:srgbClr val="9B8B7E"/>
                </a:solidFill>
              </a:rPr>
              <a:t>06</a:t>
            </a:r>
          </a:p>
        </p:txBody>
      </p:sp>
      <p:sp>
        <p:nvSpPr>
          <p:cNvPr id="4" name="accent">
            <a:extLst>
              <a:ext uri="{FF2B5EF4-FFF2-40B4-BE49-F238E27FC236}">
                <a16:creationId xmlns:a16="http://schemas.microsoft.com/office/drawing/2014/main" id="{74A70FDD-A46B-4EF7-9C99-38BA827784AC}"/>
              </a:ext>
            </a:extLst>
          </p:cNvPr>
          <p:cNvSpPr>
            <a:spLocks noGrp="1"/>
          </p:cNvSpPr>
          <p:nvPr/>
        </p:nvSpPr>
        <p:spPr>
          <a:xfrm>
            <a:off x="685800" y="1457325"/>
            <a:ext cx="914400" cy="47625"/>
          </a:xfrm>
          <a:prstGeom prst="rect">
            <a:avLst/>
          </a:prstGeom>
          <a:solidFill>
            <a:srgbClr val="EC802B"/>
          </a:solidFill>
          <a:ln w="0">
            <a:noFill/>
            <a:prstDash val="solid"/>
          </a:ln>
        </p:spPr>
        <p:txBody>
          <a:bodyPr/>
          <a:lstStyle/>
          <a:p>
            <a:endParaRPr lang="es-MX"/>
          </a:p>
        </p:txBody>
      </p:sp>
      <p:sp>
        <p:nvSpPr>
          <p:cNvPr id="5" name="mode-0">
            <a:extLst>
              <a:ext uri="{FF2B5EF4-FFF2-40B4-BE49-F238E27FC236}">
                <a16:creationId xmlns:a16="http://schemas.microsoft.com/office/drawing/2014/main" id="{836751FC-DB50-4AD9-84F3-F8BB3EE9BF7B}"/>
              </a:ext>
            </a:extLst>
          </p:cNvPr>
          <p:cNvSpPr>
            <a:spLocks noGrp="1"/>
          </p:cNvSpPr>
          <p:nvPr/>
        </p:nvSpPr>
        <p:spPr>
          <a:xfrm>
            <a:off x="685800" y="2095500"/>
            <a:ext cx="3295650" cy="2857500"/>
          </a:xfrm>
          <a:prstGeom prst="roundRect">
            <a:avLst>
              <a:gd name="adj" fmla="val 5333"/>
            </a:avLst>
          </a:prstGeom>
          <a:solidFill>
            <a:srgbClr val="FFFFFF"/>
          </a:solidFill>
          <a:ln w="9525">
            <a:solidFill>
              <a:srgbClr val="DCCDBF"/>
            </a:solidFill>
            <a:prstDash val="solid"/>
          </a:ln>
        </p:spPr>
        <p:txBody>
          <a:bodyPr/>
          <a:lstStyle/>
          <a:p>
            <a:endParaRPr lang="es-MX"/>
          </a:p>
        </p:txBody>
      </p:sp>
      <p:sp>
        <p:nvSpPr>
          <p:cNvPr id="6" name="mode-bar-0">
            <a:extLst>
              <a:ext uri="{FF2B5EF4-FFF2-40B4-BE49-F238E27FC236}">
                <a16:creationId xmlns:a16="http://schemas.microsoft.com/office/drawing/2014/main" id="{12BC3F04-1F2F-4CD6-9CE9-CA738C2C069C}"/>
              </a:ext>
            </a:extLst>
          </p:cNvPr>
          <p:cNvSpPr>
            <a:spLocks noGrp="1"/>
          </p:cNvSpPr>
          <p:nvPr/>
        </p:nvSpPr>
        <p:spPr>
          <a:xfrm>
            <a:off x="685800" y="2095500"/>
            <a:ext cx="3295650" cy="133350"/>
          </a:xfrm>
          <a:prstGeom prst="roundRect">
            <a:avLst>
              <a:gd name="adj" fmla="val 50000"/>
            </a:avLst>
          </a:prstGeom>
          <a:solidFill>
            <a:srgbClr val="EC802B"/>
          </a:solidFill>
          <a:ln w="0">
            <a:noFill/>
            <a:prstDash val="solid"/>
          </a:ln>
        </p:spPr>
        <p:txBody>
          <a:bodyPr/>
          <a:lstStyle/>
          <a:p>
            <a:endParaRPr lang="es-MX"/>
          </a:p>
        </p:txBody>
      </p:sp>
      <p:sp>
        <p:nvSpPr>
          <p:cNvPr id="7" name="mode-title-0">
            <a:extLst>
              <a:ext uri="{FF2B5EF4-FFF2-40B4-BE49-F238E27FC236}">
                <a16:creationId xmlns:a16="http://schemas.microsoft.com/office/drawing/2014/main" id="{BEA34D43-1754-4293-89FA-B0619FFC210E}"/>
              </a:ext>
            </a:extLst>
          </p:cNvPr>
          <p:cNvSpPr>
            <a:spLocks noGrp="1"/>
          </p:cNvSpPr>
          <p:nvPr/>
        </p:nvSpPr>
        <p:spPr>
          <a:xfrm>
            <a:off x="914400" y="2428875"/>
            <a:ext cx="2838450" cy="428625"/>
          </a:xfrm>
          <a:prstGeom prst="rect">
            <a:avLst/>
          </a:prstGeom>
          <a:noFill/>
          <a:ln w="0">
            <a:noFill/>
            <a:prstDash val="solid"/>
          </a:ln>
        </p:spPr>
        <p:txBody>
          <a:bodyPr anchor="ctr"/>
          <a:lstStyle/>
          <a:p>
            <a:pPr algn="ctr">
              <a:defRPr sz="1650" b="1">
                <a:solidFill>
                  <a:srgbClr val="2E2A26"/>
                </a:solidFill>
              </a:defRPr>
            </a:pPr>
            <a:r>
              <a:rPr sz="1650" b="1">
                <a:solidFill>
                  <a:srgbClr val="2E2A26"/>
                </a:solidFill>
              </a:rPr>
              <a:t>MANUAL</a:t>
            </a:r>
          </a:p>
        </p:txBody>
      </p:sp>
      <p:sp>
        <p:nvSpPr>
          <p:cNvPr id="8" name="mode-body-0">
            <a:extLst>
              <a:ext uri="{FF2B5EF4-FFF2-40B4-BE49-F238E27FC236}">
                <a16:creationId xmlns:a16="http://schemas.microsoft.com/office/drawing/2014/main" id="{42F67063-23E9-404B-BA18-B01C18230E44}"/>
              </a:ext>
            </a:extLst>
          </p:cNvPr>
          <p:cNvSpPr>
            <a:spLocks noGrp="1"/>
          </p:cNvSpPr>
          <p:nvPr/>
        </p:nvSpPr>
        <p:spPr>
          <a:xfrm>
            <a:off x="952500" y="3105150"/>
            <a:ext cx="2762250" cy="1000125"/>
          </a:xfrm>
          <a:prstGeom prst="rect">
            <a:avLst/>
          </a:prstGeom>
          <a:noFill/>
          <a:ln w="0">
            <a:noFill/>
            <a:prstDash val="solid"/>
          </a:ln>
        </p:spPr>
        <p:txBody>
          <a:bodyPr anchor="ctr"/>
          <a:lstStyle/>
          <a:p>
            <a:pPr algn="ctr">
              <a:defRPr sz="1350" b="0">
                <a:solidFill>
                  <a:srgbClr val="7A6A5E"/>
                </a:solidFill>
              </a:defRPr>
            </a:pPr>
            <a:r>
              <a:rPr sz="1350" b="0" dirty="0">
                <a:solidFill>
                  <a:srgbClr val="7A6A5E"/>
                </a:solidFill>
              </a:rPr>
              <a:t>La </a:t>
            </a:r>
            <a:r>
              <a:rPr sz="1350" b="0" dirty="0" err="1">
                <a:solidFill>
                  <a:srgbClr val="7A6A5E"/>
                </a:solidFill>
              </a:rPr>
              <a:t>asociación</a:t>
            </a:r>
            <a:r>
              <a:rPr sz="1350" b="0" dirty="0">
                <a:solidFill>
                  <a:srgbClr val="7A6A5E"/>
                </a:solidFill>
              </a:rPr>
              <a:t> </a:t>
            </a:r>
            <a:r>
              <a:rPr sz="1350" b="0" dirty="0" err="1">
                <a:solidFill>
                  <a:srgbClr val="7A6A5E"/>
                </a:solidFill>
              </a:rPr>
              <a:t>elige</a:t>
            </a:r>
            <a:r>
              <a:rPr sz="1350" b="0" dirty="0">
                <a:solidFill>
                  <a:srgbClr val="7A6A5E"/>
                </a:solidFill>
              </a:rPr>
              <a:t> a </a:t>
            </a:r>
            <a:r>
              <a:rPr sz="1350" b="0" dirty="0" err="1">
                <a:solidFill>
                  <a:srgbClr val="7A6A5E"/>
                </a:solidFill>
              </a:rPr>
              <a:t>cualquiera</a:t>
            </a:r>
            <a:r>
              <a:rPr sz="1350" b="0" dirty="0">
                <a:solidFill>
                  <a:srgbClr val="7A6A5E"/>
                </a:solidFill>
              </a:rPr>
              <a:t> del top 3.</a:t>
            </a:r>
          </a:p>
        </p:txBody>
      </p:sp>
      <p:sp>
        <p:nvSpPr>
          <p:cNvPr id="9" name="mode-cap-0">
            <a:extLst>
              <a:ext uri="{FF2B5EF4-FFF2-40B4-BE49-F238E27FC236}">
                <a16:creationId xmlns:a16="http://schemas.microsoft.com/office/drawing/2014/main" id="{8CD0792D-04C5-4DE6-B22B-795DD7A3FF84}"/>
              </a:ext>
            </a:extLst>
          </p:cNvPr>
          <p:cNvSpPr>
            <a:spLocks noGrp="1"/>
          </p:cNvSpPr>
          <p:nvPr/>
        </p:nvSpPr>
        <p:spPr>
          <a:xfrm>
            <a:off x="952500" y="4400550"/>
            <a:ext cx="2762250" cy="323850"/>
          </a:xfrm>
          <a:prstGeom prst="rect">
            <a:avLst/>
          </a:prstGeom>
          <a:noFill/>
          <a:ln w="0">
            <a:noFill/>
            <a:prstDash val="solid"/>
          </a:ln>
        </p:spPr>
        <p:txBody>
          <a:bodyPr anchor="ctr"/>
          <a:lstStyle/>
          <a:p>
            <a:pPr algn="ctr">
              <a:defRPr sz="1275" b="1">
                <a:solidFill>
                  <a:srgbClr val="2E2A26"/>
                </a:solidFill>
              </a:defRPr>
            </a:pPr>
            <a:r>
              <a:rPr sz="1275" b="1">
                <a:solidFill>
                  <a:srgbClr val="2E2A26"/>
                </a:solidFill>
              </a:rPr>
              <a:t>Control directo</a:t>
            </a:r>
          </a:p>
        </p:txBody>
      </p:sp>
      <p:sp>
        <p:nvSpPr>
          <p:cNvPr id="10" name="mode-1">
            <a:extLst>
              <a:ext uri="{FF2B5EF4-FFF2-40B4-BE49-F238E27FC236}">
                <a16:creationId xmlns:a16="http://schemas.microsoft.com/office/drawing/2014/main" id="{EF10C130-3FFF-4366-A98C-9B73D939FC9C}"/>
              </a:ext>
            </a:extLst>
          </p:cNvPr>
          <p:cNvSpPr>
            <a:spLocks noGrp="1"/>
          </p:cNvSpPr>
          <p:nvPr/>
        </p:nvSpPr>
        <p:spPr>
          <a:xfrm>
            <a:off x="4286250" y="2095500"/>
            <a:ext cx="3295650" cy="2857500"/>
          </a:xfrm>
          <a:prstGeom prst="roundRect">
            <a:avLst>
              <a:gd name="adj" fmla="val 5333"/>
            </a:avLst>
          </a:prstGeom>
          <a:solidFill>
            <a:srgbClr val="FFFFFF"/>
          </a:solidFill>
          <a:ln w="9525">
            <a:solidFill>
              <a:srgbClr val="DCCDBF"/>
            </a:solidFill>
            <a:prstDash val="solid"/>
          </a:ln>
        </p:spPr>
        <p:txBody>
          <a:bodyPr/>
          <a:lstStyle/>
          <a:p>
            <a:endParaRPr lang="es-MX"/>
          </a:p>
        </p:txBody>
      </p:sp>
      <p:sp>
        <p:nvSpPr>
          <p:cNvPr id="11" name="mode-bar-1">
            <a:extLst>
              <a:ext uri="{FF2B5EF4-FFF2-40B4-BE49-F238E27FC236}">
                <a16:creationId xmlns:a16="http://schemas.microsoft.com/office/drawing/2014/main" id="{BFD436DF-E580-4D33-896C-103234B96FBC}"/>
              </a:ext>
            </a:extLst>
          </p:cNvPr>
          <p:cNvSpPr>
            <a:spLocks noGrp="1"/>
          </p:cNvSpPr>
          <p:nvPr/>
        </p:nvSpPr>
        <p:spPr>
          <a:xfrm>
            <a:off x="4286250" y="2095500"/>
            <a:ext cx="3295650" cy="133350"/>
          </a:xfrm>
          <a:prstGeom prst="roundRect">
            <a:avLst>
              <a:gd name="adj" fmla="val 50000"/>
            </a:avLst>
          </a:prstGeom>
          <a:solidFill>
            <a:srgbClr val="66BCB4"/>
          </a:solidFill>
          <a:ln w="0">
            <a:noFill/>
            <a:prstDash val="solid"/>
          </a:ln>
        </p:spPr>
        <p:txBody>
          <a:bodyPr/>
          <a:lstStyle/>
          <a:p>
            <a:endParaRPr lang="es-MX"/>
          </a:p>
        </p:txBody>
      </p:sp>
      <p:sp>
        <p:nvSpPr>
          <p:cNvPr id="12" name="mode-title-1">
            <a:extLst>
              <a:ext uri="{FF2B5EF4-FFF2-40B4-BE49-F238E27FC236}">
                <a16:creationId xmlns:a16="http://schemas.microsoft.com/office/drawing/2014/main" id="{643AFF8C-2B26-4135-8567-C04068BC9914}"/>
              </a:ext>
            </a:extLst>
          </p:cNvPr>
          <p:cNvSpPr>
            <a:spLocks noGrp="1"/>
          </p:cNvSpPr>
          <p:nvPr/>
        </p:nvSpPr>
        <p:spPr>
          <a:xfrm>
            <a:off x="4514850" y="2428875"/>
            <a:ext cx="2838450" cy="428625"/>
          </a:xfrm>
          <a:prstGeom prst="rect">
            <a:avLst/>
          </a:prstGeom>
          <a:noFill/>
          <a:ln w="0">
            <a:noFill/>
            <a:prstDash val="solid"/>
          </a:ln>
        </p:spPr>
        <p:txBody>
          <a:bodyPr anchor="ctr"/>
          <a:lstStyle/>
          <a:p>
            <a:pPr algn="ctr">
              <a:defRPr sz="1650" b="1">
                <a:solidFill>
                  <a:srgbClr val="2E2A26"/>
                </a:solidFill>
              </a:defRPr>
            </a:pPr>
            <a:r>
              <a:rPr sz="1650" b="1" dirty="0">
                <a:solidFill>
                  <a:srgbClr val="2E2A26"/>
                </a:solidFill>
              </a:rPr>
              <a:t>SEMI-AUTOMÁTICO</a:t>
            </a:r>
          </a:p>
        </p:txBody>
      </p:sp>
      <p:sp>
        <p:nvSpPr>
          <p:cNvPr id="13" name="mode-body-1">
            <a:extLst>
              <a:ext uri="{FF2B5EF4-FFF2-40B4-BE49-F238E27FC236}">
                <a16:creationId xmlns:a16="http://schemas.microsoft.com/office/drawing/2014/main" id="{9735D3EB-3E0C-4C92-A5F8-8738FB479212}"/>
              </a:ext>
            </a:extLst>
          </p:cNvPr>
          <p:cNvSpPr>
            <a:spLocks noGrp="1"/>
          </p:cNvSpPr>
          <p:nvPr/>
        </p:nvSpPr>
        <p:spPr>
          <a:xfrm>
            <a:off x="4552950" y="3105150"/>
            <a:ext cx="2762250" cy="1000125"/>
          </a:xfrm>
          <a:prstGeom prst="rect">
            <a:avLst/>
          </a:prstGeom>
          <a:noFill/>
          <a:ln w="0">
            <a:noFill/>
            <a:prstDash val="solid"/>
          </a:ln>
        </p:spPr>
        <p:txBody>
          <a:bodyPr anchor="ctr"/>
          <a:lstStyle/>
          <a:p>
            <a:pPr algn="ctr">
              <a:defRPr sz="1350" b="0">
                <a:solidFill>
                  <a:srgbClr val="7A6A5E"/>
                </a:solidFill>
              </a:defRPr>
            </a:pPr>
            <a:r>
              <a:rPr sz="1350" b="0" dirty="0">
                <a:solidFill>
                  <a:srgbClr val="7A6A5E"/>
                </a:solidFill>
              </a:rPr>
              <a:t>Hay un </a:t>
            </a:r>
            <a:r>
              <a:rPr sz="1350" b="0" dirty="0" err="1">
                <a:solidFill>
                  <a:srgbClr val="7A6A5E"/>
                </a:solidFill>
              </a:rPr>
              <a:t>plazo</a:t>
            </a:r>
            <a:r>
              <a:rPr sz="1350" b="0" dirty="0">
                <a:solidFill>
                  <a:srgbClr val="7A6A5E"/>
                </a:solidFill>
              </a:rPr>
              <a:t> </a:t>
            </a:r>
            <a:r>
              <a:rPr sz="1350" b="0" dirty="0" err="1">
                <a:solidFill>
                  <a:srgbClr val="7A6A5E"/>
                </a:solidFill>
              </a:rPr>
              <a:t>según</a:t>
            </a:r>
            <a:r>
              <a:rPr sz="1350" b="0" dirty="0">
                <a:solidFill>
                  <a:srgbClr val="7A6A5E"/>
                </a:solidFill>
              </a:rPr>
              <a:t> la </a:t>
            </a:r>
            <a:r>
              <a:rPr sz="1350" b="0" dirty="0" err="1">
                <a:solidFill>
                  <a:srgbClr val="7A6A5E"/>
                </a:solidFill>
              </a:rPr>
              <a:t>condición</a:t>
            </a:r>
            <a:r>
              <a:rPr sz="1350" b="0" dirty="0">
                <a:solidFill>
                  <a:srgbClr val="7A6A5E"/>
                </a:solidFill>
              </a:rPr>
              <a:t> </a:t>
            </a:r>
            <a:r>
              <a:rPr sz="1350" b="0" dirty="0" err="1">
                <a:solidFill>
                  <a:srgbClr val="7A6A5E"/>
                </a:solidFill>
              </a:rPr>
              <a:t>más</a:t>
            </a:r>
            <a:r>
              <a:rPr sz="1350" b="0" dirty="0">
                <a:solidFill>
                  <a:srgbClr val="7A6A5E"/>
                </a:solidFill>
              </a:rPr>
              <a:t> grave; al </a:t>
            </a:r>
            <a:r>
              <a:rPr sz="1350" b="0" dirty="0" err="1">
                <a:solidFill>
                  <a:srgbClr val="7A6A5E"/>
                </a:solidFill>
              </a:rPr>
              <a:t>vencer</a:t>
            </a:r>
            <a:r>
              <a:rPr sz="1350" b="0" dirty="0">
                <a:solidFill>
                  <a:srgbClr val="7A6A5E"/>
                </a:solidFill>
              </a:rPr>
              <a:t>, </a:t>
            </a:r>
            <a:r>
              <a:rPr sz="1350" b="0" dirty="0" err="1">
                <a:solidFill>
                  <a:srgbClr val="7A6A5E"/>
                </a:solidFill>
              </a:rPr>
              <a:t>gana</a:t>
            </a:r>
            <a:r>
              <a:rPr sz="1350" b="0" dirty="0">
                <a:solidFill>
                  <a:srgbClr val="7A6A5E"/>
                </a:solidFill>
              </a:rPr>
              <a:t> </a:t>
            </a:r>
            <a:r>
              <a:rPr sz="1350" b="0" dirty="0" err="1">
                <a:solidFill>
                  <a:srgbClr val="7A6A5E"/>
                </a:solidFill>
              </a:rPr>
              <a:t>el</a:t>
            </a:r>
            <a:r>
              <a:rPr sz="1350" b="0" dirty="0">
                <a:solidFill>
                  <a:srgbClr val="7A6A5E"/>
                </a:solidFill>
              </a:rPr>
              <a:t> primero.</a:t>
            </a:r>
          </a:p>
        </p:txBody>
      </p:sp>
      <p:sp>
        <p:nvSpPr>
          <p:cNvPr id="14" name="mode-cap-1">
            <a:extLst>
              <a:ext uri="{FF2B5EF4-FFF2-40B4-BE49-F238E27FC236}">
                <a16:creationId xmlns:a16="http://schemas.microsoft.com/office/drawing/2014/main" id="{3AF649BB-6D31-4CDC-B05E-EA7FC09E18CE}"/>
              </a:ext>
            </a:extLst>
          </p:cNvPr>
          <p:cNvSpPr>
            <a:spLocks noGrp="1"/>
          </p:cNvSpPr>
          <p:nvPr/>
        </p:nvSpPr>
        <p:spPr>
          <a:xfrm>
            <a:off x="4552950" y="4400550"/>
            <a:ext cx="2762250" cy="323850"/>
          </a:xfrm>
          <a:prstGeom prst="rect">
            <a:avLst/>
          </a:prstGeom>
          <a:noFill/>
          <a:ln w="0">
            <a:noFill/>
            <a:prstDash val="solid"/>
          </a:ln>
        </p:spPr>
        <p:txBody>
          <a:bodyPr anchor="ctr"/>
          <a:lstStyle/>
          <a:p>
            <a:pPr algn="ctr">
              <a:defRPr sz="1275" b="1">
                <a:solidFill>
                  <a:srgbClr val="2E2A26"/>
                </a:solidFill>
              </a:defRPr>
            </a:pPr>
            <a:r>
              <a:rPr sz="1275" b="1">
                <a:solidFill>
                  <a:srgbClr val="2E2A26"/>
                </a:solidFill>
              </a:rPr>
              <a:t>Control con respaldo</a:t>
            </a:r>
          </a:p>
        </p:txBody>
      </p:sp>
      <p:sp>
        <p:nvSpPr>
          <p:cNvPr id="15" name="mode-2">
            <a:extLst>
              <a:ext uri="{FF2B5EF4-FFF2-40B4-BE49-F238E27FC236}">
                <a16:creationId xmlns:a16="http://schemas.microsoft.com/office/drawing/2014/main" id="{38C856AE-9412-428D-BF85-1959302F2CAA}"/>
              </a:ext>
            </a:extLst>
          </p:cNvPr>
          <p:cNvSpPr>
            <a:spLocks noGrp="1"/>
          </p:cNvSpPr>
          <p:nvPr/>
        </p:nvSpPr>
        <p:spPr>
          <a:xfrm>
            <a:off x="7886700" y="2095500"/>
            <a:ext cx="3295650" cy="2857500"/>
          </a:xfrm>
          <a:prstGeom prst="roundRect">
            <a:avLst>
              <a:gd name="adj" fmla="val 5333"/>
            </a:avLst>
          </a:prstGeom>
          <a:solidFill>
            <a:srgbClr val="FFFFFF"/>
          </a:solidFill>
          <a:ln w="9525">
            <a:solidFill>
              <a:srgbClr val="DCCDBF"/>
            </a:solidFill>
            <a:prstDash val="solid"/>
          </a:ln>
        </p:spPr>
        <p:txBody>
          <a:bodyPr/>
          <a:lstStyle/>
          <a:p>
            <a:endParaRPr lang="es-MX"/>
          </a:p>
        </p:txBody>
      </p:sp>
      <p:sp>
        <p:nvSpPr>
          <p:cNvPr id="16" name="mode-bar-2">
            <a:extLst>
              <a:ext uri="{FF2B5EF4-FFF2-40B4-BE49-F238E27FC236}">
                <a16:creationId xmlns:a16="http://schemas.microsoft.com/office/drawing/2014/main" id="{2CF1B197-8C0F-45D0-BF63-4F074EE838DC}"/>
              </a:ext>
            </a:extLst>
          </p:cNvPr>
          <p:cNvSpPr>
            <a:spLocks noGrp="1"/>
          </p:cNvSpPr>
          <p:nvPr/>
        </p:nvSpPr>
        <p:spPr>
          <a:xfrm>
            <a:off x="7886700" y="2095500"/>
            <a:ext cx="3295650" cy="133350"/>
          </a:xfrm>
          <a:prstGeom prst="roundRect">
            <a:avLst>
              <a:gd name="adj" fmla="val 50000"/>
            </a:avLst>
          </a:prstGeom>
          <a:solidFill>
            <a:srgbClr val="EDC55B"/>
          </a:solidFill>
          <a:ln w="0">
            <a:noFill/>
            <a:prstDash val="solid"/>
          </a:ln>
        </p:spPr>
        <p:txBody>
          <a:bodyPr/>
          <a:lstStyle/>
          <a:p>
            <a:endParaRPr lang="es-MX"/>
          </a:p>
        </p:txBody>
      </p:sp>
      <p:sp>
        <p:nvSpPr>
          <p:cNvPr id="17" name="mode-title-2">
            <a:extLst>
              <a:ext uri="{FF2B5EF4-FFF2-40B4-BE49-F238E27FC236}">
                <a16:creationId xmlns:a16="http://schemas.microsoft.com/office/drawing/2014/main" id="{2CBF43ED-EC76-4C57-98C5-655609638593}"/>
              </a:ext>
            </a:extLst>
          </p:cNvPr>
          <p:cNvSpPr>
            <a:spLocks noGrp="1"/>
          </p:cNvSpPr>
          <p:nvPr/>
        </p:nvSpPr>
        <p:spPr>
          <a:xfrm>
            <a:off x="8115300" y="2428875"/>
            <a:ext cx="2838450" cy="428625"/>
          </a:xfrm>
          <a:prstGeom prst="rect">
            <a:avLst/>
          </a:prstGeom>
          <a:noFill/>
          <a:ln w="0">
            <a:noFill/>
            <a:prstDash val="solid"/>
          </a:ln>
        </p:spPr>
        <p:txBody>
          <a:bodyPr anchor="ctr"/>
          <a:lstStyle/>
          <a:p>
            <a:pPr algn="ctr">
              <a:defRPr sz="1650" b="1">
                <a:solidFill>
                  <a:srgbClr val="2E2A26"/>
                </a:solidFill>
              </a:defRPr>
            </a:pPr>
            <a:r>
              <a:rPr sz="1650" b="1">
                <a:solidFill>
                  <a:srgbClr val="2E2A26"/>
                </a:solidFill>
              </a:rPr>
              <a:t>AUTOMÁTICO</a:t>
            </a:r>
          </a:p>
        </p:txBody>
      </p:sp>
      <p:sp>
        <p:nvSpPr>
          <p:cNvPr id="18" name="mode-body-2">
            <a:extLst>
              <a:ext uri="{FF2B5EF4-FFF2-40B4-BE49-F238E27FC236}">
                <a16:creationId xmlns:a16="http://schemas.microsoft.com/office/drawing/2014/main" id="{0A96A386-4633-4EAB-A2E5-15F929D6F5B3}"/>
              </a:ext>
            </a:extLst>
          </p:cNvPr>
          <p:cNvSpPr>
            <a:spLocks noGrp="1"/>
          </p:cNvSpPr>
          <p:nvPr/>
        </p:nvSpPr>
        <p:spPr>
          <a:xfrm>
            <a:off x="8153400" y="3105150"/>
            <a:ext cx="2762250" cy="1000125"/>
          </a:xfrm>
          <a:prstGeom prst="rect">
            <a:avLst/>
          </a:prstGeom>
          <a:noFill/>
          <a:ln w="0">
            <a:noFill/>
            <a:prstDash val="solid"/>
          </a:ln>
        </p:spPr>
        <p:txBody>
          <a:bodyPr anchor="ctr"/>
          <a:lstStyle/>
          <a:p>
            <a:pPr algn="ctr">
              <a:defRPr sz="1350" b="0">
                <a:solidFill>
                  <a:srgbClr val="7A6A5E"/>
                </a:solidFill>
              </a:defRPr>
            </a:pPr>
            <a:r>
              <a:rPr sz="1350" b="0" dirty="0">
                <a:solidFill>
                  <a:srgbClr val="7A6A5E"/>
                </a:solidFill>
              </a:rPr>
              <a:t>Timeout cero: </a:t>
            </a:r>
            <a:r>
              <a:rPr sz="1350" b="0" dirty="0" err="1">
                <a:solidFill>
                  <a:srgbClr val="7A6A5E"/>
                </a:solidFill>
              </a:rPr>
              <a:t>el</a:t>
            </a:r>
            <a:r>
              <a:rPr sz="1350" b="0" dirty="0">
                <a:solidFill>
                  <a:srgbClr val="7A6A5E"/>
                </a:solidFill>
              </a:rPr>
              <a:t> </a:t>
            </a:r>
            <a:r>
              <a:rPr sz="1350" b="0" dirty="0" err="1">
                <a:solidFill>
                  <a:srgbClr val="7A6A5E"/>
                </a:solidFill>
              </a:rPr>
              <a:t>cron</a:t>
            </a:r>
            <a:r>
              <a:rPr sz="1350" b="0" dirty="0">
                <a:solidFill>
                  <a:srgbClr val="7A6A5E"/>
                </a:solidFill>
              </a:rPr>
              <a:t> </a:t>
            </a:r>
            <a:r>
              <a:rPr sz="1350" b="0" dirty="0" err="1">
                <a:solidFill>
                  <a:srgbClr val="7A6A5E"/>
                </a:solidFill>
              </a:rPr>
              <a:t>ofrece</a:t>
            </a:r>
            <a:r>
              <a:rPr sz="1350" b="0" dirty="0">
                <a:solidFill>
                  <a:srgbClr val="7A6A5E"/>
                </a:solidFill>
              </a:rPr>
              <a:t> </a:t>
            </a:r>
            <a:r>
              <a:rPr sz="1350" b="0" dirty="0" err="1">
                <a:solidFill>
                  <a:srgbClr val="7A6A5E"/>
                </a:solidFill>
              </a:rPr>
              <a:t>el</a:t>
            </a:r>
            <a:r>
              <a:rPr sz="1350" b="0" dirty="0">
                <a:solidFill>
                  <a:srgbClr val="7A6A5E"/>
                </a:solidFill>
              </a:rPr>
              <a:t> </a:t>
            </a:r>
            <a:r>
              <a:rPr sz="1350" b="0" dirty="0" err="1">
                <a:solidFill>
                  <a:srgbClr val="7A6A5E"/>
                </a:solidFill>
              </a:rPr>
              <a:t>caso</a:t>
            </a:r>
            <a:r>
              <a:rPr sz="1350" b="0" dirty="0">
                <a:solidFill>
                  <a:srgbClr val="7A6A5E"/>
                </a:solidFill>
              </a:rPr>
              <a:t> al primer </a:t>
            </a:r>
            <a:r>
              <a:rPr sz="1350" b="0" dirty="0" err="1">
                <a:solidFill>
                  <a:srgbClr val="7A6A5E"/>
                </a:solidFill>
              </a:rPr>
              <a:t>candidato</a:t>
            </a:r>
            <a:r>
              <a:rPr sz="1350" b="0" dirty="0">
                <a:solidFill>
                  <a:srgbClr val="7A6A5E"/>
                </a:solidFill>
              </a:rPr>
              <a:t>.</a:t>
            </a:r>
          </a:p>
        </p:txBody>
      </p:sp>
      <p:sp>
        <p:nvSpPr>
          <p:cNvPr id="19" name="mode-cap-2">
            <a:extLst>
              <a:ext uri="{FF2B5EF4-FFF2-40B4-BE49-F238E27FC236}">
                <a16:creationId xmlns:a16="http://schemas.microsoft.com/office/drawing/2014/main" id="{4D576141-7E69-42F6-BF29-3A8F7EBBCF04}"/>
              </a:ext>
            </a:extLst>
          </p:cNvPr>
          <p:cNvSpPr>
            <a:spLocks noGrp="1"/>
          </p:cNvSpPr>
          <p:nvPr/>
        </p:nvSpPr>
        <p:spPr>
          <a:xfrm>
            <a:off x="8153400" y="4400550"/>
            <a:ext cx="2762250" cy="323850"/>
          </a:xfrm>
          <a:prstGeom prst="rect">
            <a:avLst/>
          </a:prstGeom>
          <a:noFill/>
          <a:ln w="0">
            <a:noFill/>
            <a:prstDash val="solid"/>
          </a:ln>
        </p:spPr>
        <p:txBody>
          <a:bodyPr anchor="ctr"/>
          <a:lstStyle/>
          <a:p>
            <a:pPr algn="ctr">
              <a:defRPr sz="1275" b="1">
                <a:solidFill>
                  <a:srgbClr val="2E2A26"/>
                </a:solidFill>
              </a:defRPr>
            </a:pPr>
            <a:r>
              <a:rPr sz="1275" b="1">
                <a:solidFill>
                  <a:srgbClr val="2E2A26"/>
                </a:solidFill>
              </a:rPr>
              <a:t>Respuesta acelerada</a:t>
            </a:r>
          </a:p>
        </p:txBody>
      </p:sp>
      <p:sp>
        <p:nvSpPr>
          <p:cNvPr id="20" name="cron">
            <a:extLst>
              <a:ext uri="{FF2B5EF4-FFF2-40B4-BE49-F238E27FC236}">
                <a16:creationId xmlns:a16="http://schemas.microsoft.com/office/drawing/2014/main" id="{5A6A6357-02FA-4EFA-B980-F2404F277BC2}"/>
              </a:ext>
            </a:extLst>
          </p:cNvPr>
          <p:cNvSpPr>
            <a:spLocks noGrp="1"/>
          </p:cNvSpPr>
          <p:nvPr/>
        </p:nvSpPr>
        <p:spPr>
          <a:xfrm>
            <a:off x="2857500" y="5410200"/>
            <a:ext cx="6477000" cy="590550"/>
          </a:xfrm>
          <a:prstGeom prst="roundRect">
            <a:avLst>
              <a:gd name="adj" fmla="val 25806"/>
            </a:avLst>
          </a:prstGeom>
          <a:solidFill>
            <a:srgbClr val="FFF7EF"/>
          </a:solidFill>
          <a:ln w="9525">
            <a:solidFill>
              <a:srgbClr val="F2C49D"/>
            </a:solidFill>
            <a:prstDash val="solid"/>
          </a:ln>
        </p:spPr>
        <p:txBody>
          <a:bodyPr/>
          <a:lstStyle/>
          <a:p>
            <a:endParaRPr lang="es-MX"/>
          </a:p>
        </p:txBody>
      </p:sp>
      <p:sp>
        <p:nvSpPr>
          <p:cNvPr id="21" name="cron-text">
            <a:extLst>
              <a:ext uri="{FF2B5EF4-FFF2-40B4-BE49-F238E27FC236}">
                <a16:creationId xmlns:a16="http://schemas.microsoft.com/office/drawing/2014/main" id="{6F360E06-18D5-4BFD-8FF1-35558CCA2CD9}"/>
              </a:ext>
            </a:extLst>
          </p:cNvPr>
          <p:cNvSpPr>
            <a:spLocks noGrp="1"/>
          </p:cNvSpPr>
          <p:nvPr/>
        </p:nvSpPr>
        <p:spPr>
          <a:xfrm>
            <a:off x="3086100" y="5514975"/>
            <a:ext cx="6019800" cy="381000"/>
          </a:xfrm>
          <a:prstGeom prst="rect">
            <a:avLst/>
          </a:prstGeom>
          <a:noFill/>
          <a:ln w="0">
            <a:noFill/>
            <a:prstDash val="solid"/>
          </a:ln>
        </p:spPr>
        <p:txBody>
          <a:bodyPr anchor="ctr"/>
          <a:lstStyle/>
          <a:p>
            <a:pPr algn="ctr">
              <a:defRPr sz="1350" b="1">
                <a:solidFill>
                  <a:srgbClr val="D4621A"/>
                </a:solidFill>
              </a:defRPr>
            </a:pPr>
            <a:r>
              <a:rPr sz="1350" b="1">
                <a:solidFill>
                  <a:srgbClr val="D4621A"/>
                </a:solidFill>
              </a:rPr>
              <a:t>El cron revisa cada 5 minutos · sin candidatos, el caso sigue con la asociación</a:t>
            </a:r>
          </a:p>
        </p:txBody>
      </p:sp>
    </p:spTree>
    <p:extLst>
      <p:ext uri="{BB962C8B-B14F-4D97-AF65-F5344CB8AC3E}">
        <p14:creationId xmlns:p14="http://schemas.microsoft.com/office/powerpoint/2010/main" val="2131181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AD8"/>
        </a:solidFill>
        <a:effectLst/>
      </p:bgPr>
    </p:bg>
    <p:spTree>
      <p:nvGrpSpPr>
        <p:cNvPr id="1" name=""/>
        <p:cNvGrpSpPr/>
        <p:nvPr/>
      </p:nvGrpSpPr>
      <p:grpSpPr>
        <a:xfrm>
          <a:off x="0" y="0"/>
          <a:ext cx="0" cy="0"/>
          <a:chOff x="0" y="0"/>
          <a:chExt cx="0" cy="0"/>
        </a:xfrm>
      </p:grpSpPr>
      <p:sp>
        <p:nvSpPr>
          <p:cNvPr id="22" name="kicker">
            <a:extLst>
              <a:ext uri="{FF2B5EF4-FFF2-40B4-BE49-F238E27FC236}">
                <a16:creationId xmlns:a16="http://schemas.microsoft.com/office/drawing/2014/main" id="{4169B0C0-479E-4E98-87A1-077F2C536522}"/>
              </a:ext>
            </a:extLst>
          </p:cNvPr>
          <p:cNvSpPr>
            <a:spLocks noGrp="1"/>
          </p:cNvSpPr>
          <p:nvPr/>
        </p:nvSpPr>
        <p:spPr>
          <a:xfrm>
            <a:off x="685800" y="400050"/>
            <a:ext cx="7239000" cy="266700"/>
          </a:xfrm>
          <a:prstGeom prst="rect">
            <a:avLst/>
          </a:prstGeom>
          <a:noFill/>
          <a:ln w="0">
            <a:noFill/>
            <a:prstDash val="solid"/>
          </a:ln>
        </p:spPr>
        <p:txBody>
          <a:bodyPr anchor="ctr"/>
          <a:lstStyle/>
          <a:p>
            <a:pPr algn="l">
              <a:defRPr sz="1200" b="1">
                <a:solidFill>
                  <a:srgbClr val="EC802B"/>
                </a:solidFill>
              </a:defRPr>
            </a:pPr>
            <a:r>
              <a:rPr sz="1200" b="1">
                <a:solidFill>
                  <a:srgbClr val="EC802B"/>
                </a:solidFill>
              </a:rPr>
              <a:t>PASO 3 · CONFIRMACIÓN</a:t>
            </a:r>
          </a:p>
        </p:txBody>
      </p:sp>
      <p:sp>
        <p:nvSpPr>
          <p:cNvPr id="2" name="title">
            <a:extLst>
              <a:ext uri="{FF2B5EF4-FFF2-40B4-BE49-F238E27FC236}">
                <a16:creationId xmlns:a16="http://schemas.microsoft.com/office/drawing/2014/main" id="{A8103BAA-82B7-44FE-9D48-792ED2A9BEF0}"/>
              </a:ext>
            </a:extLst>
          </p:cNvPr>
          <p:cNvSpPr>
            <a:spLocks noGrp="1"/>
          </p:cNvSpPr>
          <p:nvPr/>
        </p:nvSpPr>
        <p:spPr>
          <a:xfrm>
            <a:off x="685800" y="723900"/>
            <a:ext cx="10382250" cy="647700"/>
          </a:xfrm>
          <a:prstGeom prst="rect">
            <a:avLst/>
          </a:prstGeom>
          <a:noFill/>
          <a:ln w="0">
            <a:noFill/>
            <a:prstDash val="solid"/>
          </a:ln>
        </p:spPr>
        <p:txBody>
          <a:bodyPr anchor="ctr"/>
          <a:lstStyle/>
          <a:p>
            <a:pPr algn="l">
              <a:defRPr sz="2850" b="1">
                <a:solidFill>
                  <a:srgbClr val="2E2A26"/>
                </a:solidFill>
              </a:defRPr>
            </a:pPr>
            <a:r>
              <a:rPr sz="2850" b="1" dirty="0">
                <a:solidFill>
                  <a:srgbClr val="2E2A26"/>
                </a:solidFill>
              </a:rPr>
              <a:t>El </a:t>
            </a:r>
            <a:r>
              <a:rPr sz="2850" b="1" dirty="0" err="1">
                <a:solidFill>
                  <a:srgbClr val="2E2A26"/>
                </a:solidFill>
              </a:rPr>
              <a:t>rescate</a:t>
            </a:r>
            <a:r>
              <a:rPr sz="2850" b="1" dirty="0">
                <a:solidFill>
                  <a:srgbClr val="2E2A26"/>
                </a:solidFill>
              </a:rPr>
              <a:t> </a:t>
            </a:r>
            <a:r>
              <a:rPr sz="2850" b="1" dirty="0" err="1">
                <a:solidFill>
                  <a:srgbClr val="2E2A26"/>
                </a:solidFill>
              </a:rPr>
              <a:t>comienza</a:t>
            </a:r>
            <a:r>
              <a:rPr sz="2850" b="1" dirty="0">
                <a:solidFill>
                  <a:srgbClr val="2E2A26"/>
                </a:solidFill>
              </a:rPr>
              <a:t> solo </a:t>
            </a:r>
            <a:r>
              <a:rPr sz="2850" b="1" dirty="0" err="1">
                <a:solidFill>
                  <a:srgbClr val="2E2A26"/>
                </a:solidFill>
              </a:rPr>
              <a:t>cuando</a:t>
            </a:r>
            <a:r>
              <a:rPr sz="2850" b="1" dirty="0">
                <a:solidFill>
                  <a:srgbClr val="2E2A26"/>
                </a:solidFill>
              </a:rPr>
              <a:t> </a:t>
            </a:r>
            <a:r>
              <a:rPr sz="2850" b="1" dirty="0" err="1">
                <a:solidFill>
                  <a:srgbClr val="2E2A26"/>
                </a:solidFill>
              </a:rPr>
              <a:t>el</a:t>
            </a:r>
            <a:r>
              <a:rPr sz="2850" b="1" dirty="0">
                <a:solidFill>
                  <a:srgbClr val="2E2A26"/>
                </a:solidFill>
              </a:rPr>
              <a:t> </a:t>
            </a:r>
            <a:r>
              <a:rPr sz="2850" b="1" dirty="0" err="1">
                <a:solidFill>
                  <a:srgbClr val="2E2A26"/>
                </a:solidFill>
              </a:rPr>
              <a:t>voluntario</a:t>
            </a:r>
            <a:r>
              <a:rPr sz="2850" b="1" dirty="0">
                <a:solidFill>
                  <a:srgbClr val="2E2A26"/>
                </a:solidFill>
              </a:rPr>
              <a:t> </a:t>
            </a:r>
            <a:r>
              <a:rPr sz="2850" b="1" dirty="0" err="1">
                <a:solidFill>
                  <a:srgbClr val="2E2A26"/>
                </a:solidFill>
              </a:rPr>
              <a:t>acepta</a:t>
            </a:r>
            <a:endParaRPr sz="2850" b="1" dirty="0">
              <a:solidFill>
                <a:srgbClr val="2E2A26"/>
              </a:solidFill>
            </a:endParaRPr>
          </a:p>
        </p:txBody>
      </p:sp>
      <p:sp>
        <p:nvSpPr>
          <p:cNvPr id="3" name="page">
            <a:extLst>
              <a:ext uri="{FF2B5EF4-FFF2-40B4-BE49-F238E27FC236}">
                <a16:creationId xmlns:a16="http://schemas.microsoft.com/office/drawing/2014/main" id="{E6B86611-872A-46AB-ABD2-A2F1C4771EA0}"/>
              </a:ext>
            </a:extLst>
          </p:cNvPr>
          <p:cNvSpPr>
            <a:spLocks noGrp="1"/>
          </p:cNvSpPr>
          <p:nvPr/>
        </p:nvSpPr>
        <p:spPr>
          <a:xfrm>
            <a:off x="11049000" y="457200"/>
            <a:ext cx="457200" cy="266700"/>
          </a:xfrm>
          <a:prstGeom prst="rect">
            <a:avLst/>
          </a:prstGeom>
          <a:noFill/>
          <a:ln w="0">
            <a:noFill/>
            <a:prstDash val="solid"/>
          </a:ln>
        </p:spPr>
        <p:txBody>
          <a:bodyPr anchor="ctr"/>
          <a:lstStyle/>
          <a:p>
            <a:pPr algn="r">
              <a:defRPr sz="1125" b="1">
                <a:solidFill>
                  <a:srgbClr val="9B8B7E"/>
                </a:solidFill>
              </a:defRPr>
            </a:pPr>
            <a:r>
              <a:rPr sz="1125" b="1">
                <a:solidFill>
                  <a:srgbClr val="9B8B7E"/>
                </a:solidFill>
              </a:rPr>
              <a:t>07</a:t>
            </a:r>
          </a:p>
        </p:txBody>
      </p:sp>
      <p:sp>
        <p:nvSpPr>
          <p:cNvPr id="4" name="accent">
            <a:extLst>
              <a:ext uri="{FF2B5EF4-FFF2-40B4-BE49-F238E27FC236}">
                <a16:creationId xmlns:a16="http://schemas.microsoft.com/office/drawing/2014/main" id="{86CF86C2-2E1A-4D7E-A0C3-4270DDC8EC8A}"/>
              </a:ext>
            </a:extLst>
          </p:cNvPr>
          <p:cNvSpPr>
            <a:spLocks noGrp="1"/>
          </p:cNvSpPr>
          <p:nvPr/>
        </p:nvSpPr>
        <p:spPr>
          <a:xfrm>
            <a:off x="685800" y="1457325"/>
            <a:ext cx="914400" cy="47625"/>
          </a:xfrm>
          <a:prstGeom prst="rect">
            <a:avLst/>
          </a:prstGeom>
          <a:solidFill>
            <a:srgbClr val="EC802B"/>
          </a:solidFill>
          <a:ln w="0">
            <a:noFill/>
            <a:prstDash val="solid"/>
          </a:ln>
        </p:spPr>
        <p:txBody>
          <a:bodyPr/>
          <a:lstStyle/>
          <a:p>
            <a:endParaRPr lang="es-MX"/>
          </a:p>
        </p:txBody>
      </p:sp>
      <p:sp>
        <p:nvSpPr>
          <p:cNvPr id="5" name="proposal">
            <a:extLst>
              <a:ext uri="{FF2B5EF4-FFF2-40B4-BE49-F238E27FC236}">
                <a16:creationId xmlns:a16="http://schemas.microsoft.com/office/drawing/2014/main" id="{A584F2A6-266E-4EB0-B0BF-3CB33BFFC3BF}"/>
              </a:ext>
            </a:extLst>
          </p:cNvPr>
          <p:cNvSpPr>
            <a:spLocks noGrp="1"/>
          </p:cNvSpPr>
          <p:nvPr/>
        </p:nvSpPr>
        <p:spPr>
          <a:xfrm>
            <a:off x="685800" y="2114550"/>
            <a:ext cx="2952750" cy="2381250"/>
          </a:xfrm>
          <a:prstGeom prst="roundRect">
            <a:avLst>
              <a:gd name="adj" fmla="val 6400"/>
            </a:avLst>
          </a:prstGeom>
          <a:solidFill>
            <a:srgbClr val="FFFFFF"/>
          </a:solidFill>
          <a:ln w="9525">
            <a:solidFill>
              <a:srgbClr val="DCCDBF"/>
            </a:solidFill>
            <a:prstDash val="solid"/>
          </a:ln>
        </p:spPr>
        <p:txBody>
          <a:bodyPr/>
          <a:lstStyle/>
          <a:p>
            <a:endParaRPr lang="es-MX"/>
          </a:p>
        </p:txBody>
      </p:sp>
      <p:sp>
        <p:nvSpPr>
          <p:cNvPr id="6" name="chip-PROPUESTA">
            <a:extLst>
              <a:ext uri="{FF2B5EF4-FFF2-40B4-BE49-F238E27FC236}">
                <a16:creationId xmlns:a16="http://schemas.microsoft.com/office/drawing/2014/main" id="{DC7912F3-0459-4D87-8100-969D385C30A2}"/>
              </a:ext>
            </a:extLst>
          </p:cNvPr>
          <p:cNvSpPr>
            <a:spLocks noGrp="1"/>
          </p:cNvSpPr>
          <p:nvPr/>
        </p:nvSpPr>
        <p:spPr>
          <a:xfrm>
            <a:off x="962025" y="2343150"/>
            <a:ext cx="1257300" cy="323850"/>
          </a:xfrm>
          <a:prstGeom prst="roundRect">
            <a:avLst>
              <a:gd name="adj" fmla="val 47059"/>
            </a:avLst>
          </a:prstGeom>
          <a:solidFill>
            <a:srgbClr val="EDC55B"/>
          </a:solidFill>
          <a:ln w="0">
            <a:noFill/>
            <a:prstDash val="solid"/>
          </a:ln>
        </p:spPr>
        <p:txBody>
          <a:bodyPr/>
          <a:lstStyle/>
          <a:p>
            <a:endParaRPr lang="es-MX"/>
          </a:p>
        </p:txBody>
      </p:sp>
      <p:sp>
        <p:nvSpPr>
          <p:cNvPr id="7" name="chip-text-PROPUESTA">
            <a:extLst>
              <a:ext uri="{FF2B5EF4-FFF2-40B4-BE49-F238E27FC236}">
                <a16:creationId xmlns:a16="http://schemas.microsoft.com/office/drawing/2014/main" id="{D84EE97B-2028-438E-B142-6215D89D830C}"/>
              </a:ext>
            </a:extLst>
          </p:cNvPr>
          <p:cNvSpPr>
            <a:spLocks noGrp="1"/>
          </p:cNvSpPr>
          <p:nvPr/>
        </p:nvSpPr>
        <p:spPr>
          <a:xfrm>
            <a:off x="1057275" y="2352675"/>
            <a:ext cx="1066800" cy="295275"/>
          </a:xfrm>
          <a:prstGeom prst="rect">
            <a:avLst/>
          </a:prstGeom>
          <a:noFill/>
          <a:ln w="0">
            <a:noFill/>
            <a:prstDash val="solid"/>
          </a:ln>
        </p:spPr>
        <p:txBody>
          <a:bodyPr anchor="ctr"/>
          <a:lstStyle/>
          <a:p>
            <a:pPr algn="ctr">
              <a:defRPr sz="1125" b="1">
                <a:solidFill>
                  <a:srgbClr val="2E2A26"/>
                </a:solidFill>
              </a:defRPr>
            </a:pPr>
            <a:r>
              <a:rPr sz="1125" b="1">
                <a:solidFill>
                  <a:srgbClr val="2E2A26"/>
                </a:solidFill>
              </a:rPr>
              <a:t>PROPUESTA</a:t>
            </a:r>
          </a:p>
        </p:txBody>
      </p:sp>
      <p:sp>
        <p:nvSpPr>
          <p:cNvPr id="8" name="proposal-title">
            <a:extLst>
              <a:ext uri="{FF2B5EF4-FFF2-40B4-BE49-F238E27FC236}">
                <a16:creationId xmlns:a16="http://schemas.microsoft.com/office/drawing/2014/main" id="{14511A8D-78E9-44AD-B852-C19BAE6C3B7E}"/>
              </a:ext>
            </a:extLst>
          </p:cNvPr>
          <p:cNvSpPr>
            <a:spLocks noGrp="1"/>
          </p:cNvSpPr>
          <p:nvPr/>
        </p:nvSpPr>
        <p:spPr>
          <a:xfrm>
            <a:off x="962025" y="2886075"/>
            <a:ext cx="2381250" cy="590550"/>
          </a:xfrm>
          <a:prstGeom prst="rect">
            <a:avLst/>
          </a:prstGeom>
          <a:noFill/>
          <a:ln w="0">
            <a:noFill/>
            <a:prstDash val="solid"/>
          </a:ln>
        </p:spPr>
        <p:txBody>
          <a:bodyPr anchor="ctr"/>
          <a:lstStyle/>
          <a:p>
            <a:pPr algn="l">
              <a:defRPr sz="2025" b="1">
                <a:solidFill>
                  <a:srgbClr val="2E2A26"/>
                </a:solidFill>
              </a:defRPr>
            </a:pPr>
            <a:r>
              <a:rPr sz="2025" b="1" dirty="0" err="1">
                <a:solidFill>
                  <a:srgbClr val="2E2A26"/>
                </a:solidFill>
              </a:rPr>
              <a:t>Esperando</a:t>
            </a:r>
            <a:r>
              <a:rPr sz="2025" b="1" dirty="0">
                <a:solidFill>
                  <a:srgbClr val="2E2A26"/>
                </a:solidFill>
              </a:rPr>
              <a:t> </a:t>
            </a:r>
            <a:r>
              <a:rPr sz="2025" b="1" dirty="0" err="1">
                <a:solidFill>
                  <a:srgbClr val="2E2A26"/>
                </a:solidFill>
              </a:rPr>
              <a:t>respuesta</a:t>
            </a:r>
            <a:endParaRPr sz="2025" b="1" dirty="0">
              <a:solidFill>
                <a:srgbClr val="2E2A26"/>
              </a:solidFill>
            </a:endParaRPr>
          </a:p>
        </p:txBody>
      </p:sp>
      <p:sp>
        <p:nvSpPr>
          <p:cNvPr id="9" name="proposal-body">
            <a:extLst>
              <a:ext uri="{FF2B5EF4-FFF2-40B4-BE49-F238E27FC236}">
                <a16:creationId xmlns:a16="http://schemas.microsoft.com/office/drawing/2014/main" id="{682B9845-60C7-418F-922B-FEC8B3CB6677}"/>
              </a:ext>
            </a:extLst>
          </p:cNvPr>
          <p:cNvSpPr>
            <a:spLocks noGrp="1"/>
          </p:cNvSpPr>
          <p:nvPr/>
        </p:nvSpPr>
        <p:spPr>
          <a:xfrm>
            <a:off x="962025" y="3648075"/>
            <a:ext cx="2381250" cy="552450"/>
          </a:xfrm>
          <a:prstGeom prst="rect">
            <a:avLst/>
          </a:prstGeom>
          <a:noFill/>
          <a:ln w="0">
            <a:noFill/>
            <a:prstDash val="solid"/>
          </a:ln>
        </p:spPr>
        <p:txBody>
          <a:bodyPr anchor="ctr"/>
          <a:lstStyle/>
          <a:p>
            <a:pPr algn="l">
              <a:defRPr sz="1350" b="0">
                <a:solidFill>
                  <a:srgbClr val="7A6A5E"/>
                </a:solidFill>
              </a:defRPr>
            </a:pPr>
            <a:r>
              <a:rPr sz="1350" b="0" dirty="0">
                <a:solidFill>
                  <a:srgbClr val="7A6A5E"/>
                </a:solidFill>
              </a:rPr>
              <a:t>El </a:t>
            </a:r>
            <a:r>
              <a:rPr sz="1350" b="0" dirty="0" err="1">
                <a:solidFill>
                  <a:srgbClr val="7A6A5E"/>
                </a:solidFill>
              </a:rPr>
              <a:t>caso</a:t>
            </a:r>
            <a:r>
              <a:rPr sz="1350" b="0" dirty="0">
                <a:solidFill>
                  <a:srgbClr val="7A6A5E"/>
                </a:solidFill>
              </a:rPr>
              <a:t> </a:t>
            </a:r>
            <a:r>
              <a:rPr sz="1350" b="0" dirty="0" err="1">
                <a:solidFill>
                  <a:srgbClr val="7A6A5E"/>
                </a:solidFill>
              </a:rPr>
              <a:t>sigue</a:t>
            </a:r>
            <a:r>
              <a:rPr sz="1350" b="0" dirty="0">
                <a:solidFill>
                  <a:srgbClr val="7A6A5E"/>
                </a:solidFill>
              </a:rPr>
              <a:t> </a:t>
            </a:r>
            <a:r>
              <a:rPr sz="1350" b="0" dirty="0" err="1">
                <a:solidFill>
                  <a:srgbClr val="7A6A5E"/>
                </a:solidFill>
              </a:rPr>
              <a:t>asignado</a:t>
            </a:r>
            <a:r>
              <a:rPr sz="1350" b="0" dirty="0">
                <a:solidFill>
                  <a:srgbClr val="7A6A5E"/>
                </a:solidFill>
              </a:rPr>
              <a:t>, </a:t>
            </a:r>
            <a:r>
              <a:rPr sz="1350" b="0" dirty="0" err="1">
                <a:solidFill>
                  <a:srgbClr val="7A6A5E"/>
                </a:solidFill>
              </a:rPr>
              <a:t>pero</a:t>
            </a:r>
            <a:r>
              <a:rPr sz="1350" b="0" dirty="0">
                <a:solidFill>
                  <a:srgbClr val="7A6A5E"/>
                </a:solidFill>
              </a:rPr>
              <a:t> </a:t>
            </a:r>
            <a:r>
              <a:rPr sz="1350" b="0" dirty="0" err="1">
                <a:solidFill>
                  <a:srgbClr val="7A6A5E"/>
                </a:solidFill>
              </a:rPr>
              <a:t>aún</a:t>
            </a:r>
            <a:r>
              <a:rPr sz="1350" b="0" dirty="0">
                <a:solidFill>
                  <a:srgbClr val="7A6A5E"/>
                </a:solidFill>
              </a:rPr>
              <a:t> no </a:t>
            </a:r>
            <a:r>
              <a:rPr sz="1350" b="0" dirty="0" err="1">
                <a:solidFill>
                  <a:srgbClr val="7A6A5E"/>
                </a:solidFill>
              </a:rPr>
              <a:t>está</a:t>
            </a:r>
            <a:r>
              <a:rPr sz="1350" b="0" dirty="0">
                <a:solidFill>
                  <a:srgbClr val="7A6A5E"/>
                </a:solidFill>
              </a:rPr>
              <a:t> </a:t>
            </a:r>
            <a:r>
              <a:rPr sz="1350" b="0" dirty="0" err="1">
                <a:solidFill>
                  <a:srgbClr val="7A6A5E"/>
                </a:solidFill>
              </a:rPr>
              <a:t>en</a:t>
            </a:r>
            <a:r>
              <a:rPr sz="1350" b="0" dirty="0">
                <a:solidFill>
                  <a:srgbClr val="7A6A5E"/>
                </a:solidFill>
              </a:rPr>
              <a:t> camino.</a:t>
            </a:r>
          </a:p>
        </p:txBody>
      </p:sp>
      <p:sp>
        <p:nvSpPr>
          <p:cNvPr id="10" name="branch">
            <a:extLst>
              <a:ext uri="{FF2B5EF4-FFF2-40B4-BE49-F238E27FC236}">
                <a16:creationId xmlns:a16="http://schemas.microsoft.com/office/drawing/2014/main" id="{9EC19A30-27B3-4B31-B497-D23792B9BA78}"/>
              </a:ext>
            </a:extLst>
          </p:cNvPr>
          <p:cNvSpPr>
            <a:spLocks noGrp="1"/>
          </p:cNvSpPr>
          <p:nvPr/>
        </p:nvSpPr>
        <p:spPr>
          <a:xfrm>
            <a:off x="3848100" y="2905125"/>
            <a:ext cx="476250" cy="533400"/>
          </a:xfrm>
          <a:prstGeom prst="rect">
            <a:avLst/>
          </a:prstGeom>
          <a:noFill/>
          <a:ln w="0">
            <a:noFill/>
            <a:prstDash val="solid"/>
          </a:ln>
        </p:spPr>
        <p:txBody>
          <a:bodyPr anchor="ctr"/>
          <a:lstStyle/>
          <a:p>
            <a:pPr algn="ctr">
              <a:defRPr sz="3150" b="1">
                <a:solidFill>
                  <a:srgbClr val="9B8B7E"/>
                </a:solidFill>
              </a:defRPr>
            </a:pPr>
            <a:r>
              <a:rPr sz="3150" b="1">
                <a:solidFill>
                  <a:srgbClr val="9B8B7E"/>
                </a:solidFill>
              </a:rPr>
              <a:t>→</a:t>
            </a:r>
          </a:p>
        </p:txBody>
      </p:sp>
      <p:sp>
        <p:nvSpPr>
          <p:cNvPr id="11" name="accept">
            <a:extLst>
              <a:ext uri="{FF2B5EF4-FFF2-40B4-BE49-F238E27FC236}">
                <a16:creationId xmlns:a16="http://schemas.microsoft.com/office/drawing/2014/main" id="{54037E29-89E8-4D52-A01A-661CF195DBEF}"/>
              </a:ext>
            </a:extLst>
          </p:cNvPr>
          <p:cNvSpPr>
            <a:spLocks noGrp="1"/>
          </p:cNvSpPr>
          <p:nvPr/>
        </p:nvSpPr>
        <p:spPr>
          <a:xfrm>
            <a:off x="4533900" y="1828800"/>
            <a:ext cx="6972300" cy="1447800"/>
          </a:xfrm>
          <a:prstGeom prst="roundRect">
            <a:avLst>
              <a:gd name="adj" fmla="val 10526"/>
            </a:avLst>
          </a:prstGeom>
          <a:solidFill>
            <a:srgbClr val="E9F7F5"/>
          </a:solidFill>
          <a:ln w="9525">
            <a:solidFill>
              <a:srgbClr val="66BCB4"/>
            </a:solidFill>
            <a:prstDash val="solid"/>
          </a:ln>
        </p:spPr>
        <p:txBody>
          <a:bodyPr/>
          <a:lstStyle/>
          <a:p>
            <a:endParaRPr lang="es-MX"/>
          </a:p>
        </p:txBody>
      </p:sp>
      <p:sp>
        <p:nvSpPr>
          <p:cNvPr id="12" name="chip-ACEPTA">
            <a:extLst>
              <a:ext uri="{FF2B5EF4-FFF2-40B4-BE49-F238E27FC236}">
                <a16:creationId xmlns:a16="http://schemas.microsoft.com/office/drawing/2014/main" id="{54ECE352-3290-48B6-9559-5AF1B3201AE9}"/>
              </a:ext>
            </a:extLst>
          </p:cNvPr>
          <p:cNvSpPr>
            <a:spLocks noGrp="1"/>
          </p:cNvSpPr>
          <p:nvPr/>
        </p:nvSpPr>
        <p:spPr>
          <a:xfrm>
            <a:off x="4791075" y="2057400"/>
            <a:ext cx="990600" cy="323850"/>
          </a:xfrm>
          <a:prstGeom prst="roundRect">
            <a:avLst>
              <a:gd name="adj" fmla="val 47059"/>
            </a:avLst>
          </a:prstGeom>
          <a:solidFill>
            <a:srgbClr val="66BCB4"/>
          </a:solidFill>
          <a:ln w="0">
            <a:noFill/>
            <a:prstDash val="solid"/>
          </a:ln>
        </p:spPr>
        <p:txBody>
          <a:bodyPr/>
          <a:lstStyle/>
          <a:p>
            <a:endParaRPr lang="es-MX"/>
          </a:p>
        </p:txBody>
      </p:sp>
      <p:sp>
        <p:nvSpPr>
          <p:cNvPr id="13" name="chip-text-ACEPTA">
            <a:extLst>
              <a:ext uri="{FF2B5EF4-FFF2-40B4-BE49-F238E27FC236}">
                <a16:creationId xmlns:a16="http://schemas.microsoft.com/office/drawing/2014/main" id="{498CA303-142E-4932-AA1A-10364D444176}"/>
              </a:ext>
            </a:extLst>
          </p:cNvPr>
          <p:cNvSpPr>
            <a:spLocks noGrp="1"/>
          </p:cNvSpPr>
          <p:nvPr/>
        </p:nvSpPr>
        <p:spPr>
          <a:xfrm>
            <a:off x="4886325" y="2066925"/>
            <a:ext cx="800100" cy="295275"/>
          </a:xfrm>
          <a:prstGeom prst="rect">
            <a:avLst/>
          </a:prstGeom>
          <a:noFill/>
          <a:ln w="0">
            <a:noFill/>
            <a:prstDash val="solid"/>
          </a:ln>
        </p:spPr>
        <p:txBody>
          <a:bodyPr anchor="ctr"/>
          <a:lstStyle/>
          <a:p>
            <a:pPr algn="ctr">
              <a:defRPr sz="1125" b="1">
                <a:solidFill>
                  <a:srgbClr val="2E2A26"/>
                </a:solidFill>
              </a:defRPr>
            </a:pPr>
            <a:r>
              <a:rPr sz="1125" b="1">
                <a:solidFill>
                  <a:srgbClr val="2E2A26"/>
                </a:solidFill>
              </a:rPr>
              <a:t>ACEPTA</a:t>
            </a:r>
          </a:p>
        </p:txBody>
      </p:sp>
      <p:sp>
        <p:nvSpPr>
          <p:cNvPr id="14" name="accept-title">
            <a:extLst>
              <a:ext uri="{FF2B5EF4-FFF2-40B4-BE49-F238E27FC236}">
                <a16:creationId xmlns:a16="http://schemas.microsoft.com/office/drawing/2014/main" id="{B8406E39-FD1B-47E9-BB37-B6AD9A84C20E}"/>
              </a:ext>
            </a:extLst>
          </p:cNvPr>
          <p:cNvSpPr>
            <a:spLocks noGrp="1"/>
          </p:cNvSpPr>
          <p:nvPr/>
        </p:nvSpPr>
        <p:spPr>
          <a:xfrm>
            <a:off x="5981700" y="2009775"/>
            <a:ext cx="4953000" cy="457200"/>
          </a:xfrm>
          <a:prstGeom prst="rect">
            <a:avLst/>
          </a:prstGeom>
          <a:noFill/>
          <a:ln w="0">
            <a:noFill/>
            <a:prstDash val="solid"/>
          </a:ln>
        </p:spPr>
        <p:txBody>
          <a:bodyPr anchor="ctr"/>
          <a:lstStyle/>
          <a:p>
            <a:pPr algn="l">
              <a:defRPr sz="2100" b="1">
                <a:solidFill>
                  <a:srgbClr val="2E2A26"/>
                </a:solidFill>
              </a:defRPr>
            </a:pPr>
            <a:r>
              <a:rPr sz="2100" b="1" dirty="0" err="1">
                <a:solidFill>
                  <a:srgbClr val="2E2A26"/>
                </a:solidFill>
              </a:rPr>
              <a:t>Confirmado</a:t>
            </a:r>
            <a:r>
              <a:rPr sz="2100" b="1" dirty="0">
                <a:solidFill>
                  <a:srgbClr val="2E2A26"/>
                </a:solidFill>
              </a:rPr>
              <a:t> </a:t>
            </a:r>
            <a:r>
              <a:rPr lang="es-419" sz="2100" b="1" dirty="0">
                <a:solidFill>
                  <a:srgbClr val="2E2A26"/>
                </a:solidFill>
              </a:rPr>
              <a:t>c</a:t>
            </a:r>
            <a:r>
              <a:rPr sz="2100" b="1" dirty="0" err="1">
                <a:solidFill>
                  <a:srgbClr val="2E2A26"/>
                </a:solidFill>
              </a:rPr>
              <a:t>en</a:t>
            </a:r>
            <a:r>
              <a:rPr sz="2100" b="1" dirty="0">
                <a:solidFill>
                  <a:srgbClr val="2E2A26"/>
                </a:solidFill>
              </a:rPr>
              <a:t> camino</a:t>
            </a:r>
          </a:p>
        </p:txBody>
      </p:sp>
      <p:sp>
        <p:nvSpPr>
          <p:cNvPr id="15" name="accept-body">
            <a:extLst>
              <a:ext uri="{FF2B5EF4-FFF2-40B4-BE49-F238E27FC236}">
                <a16:creationId xmlns:a16="http://schemas.microsoft.com/office/drawing/2014/main" id="{961012C2-2395-4344-95AC-BBB9D44316D7}"/>
              </a:ext>
            </a:extLst>
          </p:cNvPr>
          <p:cNvSpPr>
            <a:spLocks noGrp="1"/>
          </p:cNvSpPr>
          <p:nvPr/>
        </p:nvSpPr>
        <p:spPr>
          <a:xfrm>
            <a:off x="4791075" y="2638425"/>
            <a:ext cx="6191250" cy="361950"/>
          </a:xfrm>
          <a:prstGeom prst="rect">
            <a:avLst/>
          </a:prstGeom>
          <a:noFill/>
          <a:ln w="0">
            <a:noFill/>
            <a:prstDash val="solid"/>
          </a:ln>
        </p:spPr>
        <p:txBody>
          <a:bodyPr anchor="ctr"/>
          <a:lstStyle/>
          <a:p>
            <a:pPr algn="l">
              <a:defRPr sz="1350" b="0">
                <a:solidFill>
                  <a:srgbClr val="7A6A5E"/>
                </a:solidFill>
              </a:defRPr>
            </a:pPr>
            <a:r>
              <a:rPr sz="1350" b="0" dirty="0">
                <a:solidFill>
                  <a:srgbClr val="7A6A5E"/>
                </a:solidFill>
              </a:rPr>
              <a:t>Se </a:t>
            </a:r>
            <a:r>
              <a:rPr sz="1350" b="0" dirty="0" err="1">
                <a:solidFill>
                  <a:srgbClr val="7A6A5E"/>
                </a:solidFill>
              </a:rPr>
              <a:t>valida</a:t>
            </a:r>
            <a:r>
              <a:rPr sz="1350" b="0" dirty="0">
                <a:solidFill>
                  <a:srgbClr val="7A6A5E"/>
                </a:solidFill>
              </a:rPr>
              <a:t> al </a:t>
            </a:r>
            <a:r>
              <a:rPr sz="1350" b="0" dirty="0" err="1">
                <a:solidFill>
                  <a:srgbClr val="7A6A5E"/>
                </a:solidFill>
              </a:rPr>
              <a:t>voluntario</a:t>
            </a:r>
            <a:r>
              <a:rPr sz="1350" b="0" dirty="0">
                <a:solidFill>
                  <a:srgbClr val="7A6A5E"/>
                </a:solidFill>
              </a:rPr>
              <a:t> </a:t>
            </a:r>
            <a:r>
              <a:rPr sz="1350" b="0" dirty="0" err="1">
                <a:solidFill>
                  <a:srgbClr val="7A6A5E"/>
                </a:solidFill>
              </a:rPr>
              <a:t>asignado</a:t>
            </a:r>
            <a:r>
              <a:rPr sz="1350" b="0" dirty="0">
                <a:solidFill>
                  <a:srgbClr val="7A6A5E"/>
                </a:solidFill>
              </a:rPr>
              <a:t> y se </a:t>
            </a:r>
            <a:r>
              <a:rPr sz="1350" b="0" dirty="0" err="1">
                <a:solidFill>
                  <a:srgbClr val="7A6A5E"/>
                </a:solidFill>
              </a:rPr>
              <a:t>registra</a:t>
            </a:r>
            <a:r>
              <a:rPr sz="1350" b="0" dirty="0">
                <a:solidFill>
                  <a:srgbClr val="7A6A5E"/>
                </a:solidFill>
              </a:rPr>
              <a:t> </a:t>
            </a:r>
            <a:r>
              <a:rPr sz="1350" b="0" dirty="0" err="1">
                <a:solidFill>
                  <a:srgbClr val="7A6A5E"/>
                </a:solidFill>
              </a:rPr>
              <a:t>voluntario_confirma</a:t>
            </a:r>
            <a:r>
              <a:rPr sz="1350" b="0" dirty="0">
                <a:solidFill>
                  <a:srgbClr val="7A6A5E"/>
                </a:solidFill>
              </a:rPr>
              <a:t>.</a:t>
            </a:r>
          </a:p>
        </p:txBody>
      </p:sp>
      <p:sp>
        <p:nvSpPr>
          <p:cNvPr id="16" name="reject">
            <a:extLst>
              <a:ext uri="{FF2B5EF4-FFF2-40B4-BE49-F238E27FC236}">
                <a16:creationId xmlns:a16="http://schemas.microsoft.com/office/drawing/2014/main" id="{55B6B18B-000B-4441-BDE5-70473C485464}"/>
              </a:ext>
            </a:extLst>
          </p:cNvPr>
          <p:cNvSpPr>
            <a:spLocks noGrp="1"/>
          </p:cNvSpPr>
          <p:nvPr/>
        </p:nvSpPr>
        <p:spPr>
          <a:xfrm>
            <a:off x="4533900" y="3581400"/>
            <a:ext cx="6972300" cy="1771650"/>
          </a:xfrm>
          <a:prstGeom prst="roundRect">
            <a:avLst>
              <a:gd name="adj" fmla="val 8602"/>
            </a:avLst>
          </a:prstGeom>
          <a:solidFill>
            <a:srgbClr val="FFF3F0"/>
          </a:solidFill>
          <a:ln w="9525">
            <a:solidFill>
              <a:srgbClr val="E9A291"/>
            </a:solidFill>
            <a:prstDash val="solid"/>
          </a:ln>
        </p:spPr>
        <p:txBody>
          <a:bodyPr/>
          <a:lstStyle/>
          <a:p>
            <a:endParaRPr lang="es-MX"/>
          </a:p>
        </p:txBody>
      </p:sp>
      <p:sp>
        <p:nvSpPr>
          <p:cNvPr id="17" name="chip-RECHAZA">
            <a:extLst>
              <a:ext uri="{FF2B5EF4-FFF2-40B4-BE49-F238E27FC236}">
                <a16:creationId xmlns:a16="http://schemas.microsoft.com/office/drawing/2014/main" id="{4561619A-B243-42D2-93F1-46C3FBAF7A5F}"/>
              </a:ext>
            </a:extLst>
          </p:cNvPr>
          <p:cNvSpPr>
            <a:spLocks noGrp="1"/>
          </p:cNvSpPr>
          <p:nvPr/>
        </p:nvSpPr>
        <p:spPr>
          <a:xfrm>
            <a:off x="4791075" y="3810000"/>
            <a:ext cx="1104900" cy="323850"/>
          </a:xfrm>
          <a:prstGeom prst="roundRect">
            <a:avLst>
              <a:gd name="adj" fmla="val 47059"/>
            </a:avLst>
          </a:prstGeom>
          <a:solidFill>
            <a:srgbClr val="D94025"/>
          </a:solidFill>
          <a:ln w="0">
            <a:noFill/>
            <a:prstDash val="solid"/>
          </a:ln>
        </p:spPr>
        <p:txBody>
          <a:bodyPr/>
          <a:lstStyle/>
          <a:p>
            <a:endParaRPr lang="es-MX"/>
          </a:p>
        </p:txBody>
      </p:sp>
      <p:sp>
        <p:nvSpPr>
          <p:cNvPr id="18" name="chip-text-RECHAZA">
            <a:extLst>
              <a:ext uri="{FF2B5EF4-FFF2-40B4-BE49-F238E27FC236}">
                <a16:creationId xmlns:a16="http://schemas.microsoft.com/office/drawing/2014/main" id="{8AA4E107-0109-455F-9F4C-5B47341E7FFD}"/>
              </a:ext>
            </a:extLst>
          </p:cNvPr>
          <p:cNvSpPr>
            <a:spLocks noGrp="1"/>
          </p:cNvSpPr>
          <p:nvPr/>
        </p:nvSpPr>
        <p:spPr>
          <a:xfrm>
            <a:off x="4886325" y="3819525"/>
            <a:ext cx="914400" cy="295275"/>
          </a:xfrm>
          <a:prstGeom prst="rect">
            <a:avLst/>
          </a:prstGeom>
          <a:noFill/>
          <a:ln w="0">
            <a:noFill/>
            <a:prstDash val="solid"/>
          </a:ln>
        </p:spPr>
        <p:txBody>
          <a:bodyPr anchor="ctr"/>
          <a:lstStyle/>
          <a:p>
            <a:pPr algn="ctr">
              <a:defRPr sz="1125" b="1">
                <a:solidFill>
                  <a:srgbClr val="FFFFFF"/>
                </a:solidFill>
              </a:defRPr>
            </a:pPr>
            <a:r>
              <a:rPr sz="1125" b="1">
                <a:solidFill>
                  <a:srgbClr val="FFFFFF"/>
                </a:solidFill>
              </a:rPr>
              <a:t>RECHAZA</a:t>
            </a:r>
          </a:p>
        </p:txBody>
      </p:sp>
      <p:sp>
        <p:nvSpPr>
          <p:cNvPr id="19" name="reject-title">
            <a:extLst>
              <a:ext uri="{FF2B5EF4-FFF2-40B4-BE49-F238E27FC236}">
                <a16:creationId xmlns:a16="http://schemas.microsoft.com/office/drawing/2014/main" id="{C4838684-9941-4B7D-B621-9BA5085F2126}"/>
              </a:ext>
            </a:extLst>
          </p:cNvPr>
          <p:cNvSpPr>
            <a:spLocks noGrp="1"/>
          </p:cNvSpPr>
          <p:nvPr/>
        </p:nvSpPr>
        <p:spPr>
          <a:xfrm>
            <a:off x="6076950" y="3762375"/>
            <a:ext cx="4953000" cy="495300"/>
          </a:xfrm>
          <a:prstGeom prst="rect">
            <a:avLst/>
          </a:prstGeom>
          <a:noFill/>
          <a:ln w="0">
            <a:noFill/>
            <a:prstDash val="solid"/>
          </a:ln>
        </p:spPr>
        <p:txBody>
          <a:bodyPr anchor="ctr"/>
          <a:lstStyle/>
          <a:p>
            <a:pPr algn="l">
              <a:defRPr sz="1950" b="1">
                <a:solidFill>
                  <a:srgbClr val="2E2A26"/>
                </a:solidFill>
              </a:defRPr>
            </a:pPr>
            <a:r>
              <a:rPr sz="1950" b="1" dirty="0">
                <a:solidFill>
                  <a:srgbClr val="2E2A26"/>
                </a:solidFill>
              </a:rPr>
              <a:t>Se libera la </a:t>
            </a:r>
            <a:r>
              <a:rPr sz="1950" b="1" dirty="0" err="1">
                <a:solidFill>
                  <a:srgbClr val="2E2A26"/>
                </a:solidFill>
              </a:rPr>
              <a:t>propuesta</a:t>
            </a:r>
            <a:r>
              <a:rPr sz="1950" b="1" dirty="0">
                <a:solidFill>
                  <a:srgbClr val="2E2A26"/>
                </a:solidFill>
              </a:rPr>
              <a:t> y </a:t>
            </a:r>
            <a:r>
              <a:rPr sz="1950" b="1" dirty="0" err="1">
                <a:solidFill>
                  <a:srgbClr val="2E2A26"/>
                </a:solidFill>
              </a:rPr>
              <a:t>avanza</a:t>
            </a:r>
            <a:r>
              <a:rPr sz="1950" b="1" dirty="0">
                <a:solidFill>
                  <a:srgbClr val="2E2A26"/>
                </a:solidFill>
              </a:rPr>
              <a:t> </a:t>
            </a:r>
            <a:r>
              <a:rPr sz="1950" b="1" dirty="0" err="1">
                <a:solidFill>
                  <a:srgbClr val="2E2A26"/>
                </a:solidFill>
              </a:rPr>
              <a:t>el</a:t>
            </a:r>
            <a:r>
              <a:rPr sz="1950" b="1" dirty="0">
                <a:solidFill>
                  <a:srgbClr val="2E2A26"/>
                </a:solidFill>
              </a:rPr>
              <a:t> </a:t>
            </a:r>
            <a:r>
              <a:rPr sz="1950" b="1" dirty="0" err="1">
                <a:solidFill>
                  <a:srgbClr val="2E2A26"/>
                </a:solidFill>
              </a:rPr>
              <a:t>siguiente</a:t>
            </a:r>
            <a:endParaRPr sz="1950" b="1" dirty="0">
              <a:solidFill>
                <a:srgbClr val="2E2A26"/>
              </a:solidFill>
            </a:endParaRPr>
          </a:p>
        </p:txBody>
      </p:sp>
      <p:sp>
        <p:nvSpPr>
          <p:cNvPr id="20" name="reject-body">
            <a:extLst>
              <a:ext uri="{FF2B5EF4-FFF2-40B4-BE49-F238E27FC236}">
                <a16:creationId xmlns:a16="http://schemas.microsoft.com/office/drawing/2014/main" id="{0DCA3A43-3636-43FF-9891-59FC8C19E537}"/>
              </a:ext>
            </a:extLst>
          </p:cNvPr>
          <p:cNvSpPr>
            <a:spLocks noGrp="1"/>
          </p:cNvSpPr>
          <p:nvPr/>
        </p:nvSpPr>
        <p:spPr>
          <a:xfrm>
            <a:off x="4791075" y="4410075"/>
            <a:ext cx="6191250" cy="666750"/>
          </a:xfrm>
          <a:prstGeom prst="rect">
            <a:avLst/>
          </a:prstGeom>
          <a:noFill/>
          <a:ln w="0">
            <a:noFill/>
            <a:prstDash val="solid"/>
          </a:ln>
        </p:spPr>
        <p:txBody>
          <a:bodyPr anchor="ctr"/>
          <a:lstStyle/>
          <a:p>
            <a:pPr algn="l">
              <a:defRPr sz="1350" b="0">
                <a:solidFill>
                  <a:srgbClr val="7A6A5E"/>
                </a:solidFill>
              </a:defRPr>
            </a:pPr>
            <a:r>
              <a:rPr sz="1350" b="0" dirty="0">
                <a:solidFill>
                  <a:srgbClr val="7A6A5E"/>
                </a:solidFill>
              </a:rPr>
              <a:t>El </a:t>
            </a:r>
            <a:r>
              <a:rPr sz="1350" b="0" dirty="0" err="1">
                <a:solidFill>
                  <a:srgbClr val="7A6A5E"/>
                </a:solidFill>
              </a:rPr>
              <a:t>voluntario</a:t>
            </a:r>
            <a:r>
              <a:rPr sz="1350" b="0" dirty="0">
                <a:solidFill>
                  <a:srgbClr val="7A6A5E"/>
                </a:solidFill>
              </a:rPr>
              <a:t> </a:t>
            </a:r>
            <a:r>
              <a:rPr sz="1350" b="0" dirty="0" err="1">
                <a:solidFill>
                  <a:srgbClr val="7A6A5E"/>
                </a:solidFill>
              </a:rPr>
              <a:t>queda</a:t>
            </a:r>
            <a:r>
              <a:rPr sz="1350" b="0" dirty="0">
                <a:solidFill>
                  <a:srgbClr val="7A6A5E"/>
                </a:solidFill>
              </a:rPr>
              <a:t> </a:t>
            </a:r>
            <a:r>
              <a:rPr sz="1350" b="0" dirty="0" err="1">
                <a:solidFill>
                  <a:srgbClr val="7A6A5E"/>
                </a:solidFill>
              </a:rPr>
              <a:t>excluido</a:t>
            </a:r>
            <a:r>
              <a:rPr sz="1350" b="0" dirty="0">
                <a:solidFill>
                  <a:srgbClr val="7A6A5E"/>
                </a:solidFill>
              </a:rPr>
              <a:t> de </a:t>
            </a:r>
            <a:r>
              <a:rPr sz="1350" b="0" dirty="0" err="1">
                <a:solidFill>
                  <a:srgbClr val="7A6A5E"/>
                </a:solidFill>
              </a:rPr>
              <a:t>futuros</a:t>
            </a:r>
            <a:r>
              <a:rPr sz="1350" b="0" dirty="0">
                <a:solidFill>
                  <a:srgbClr val="7A6A5E"/>
                </a:solidFill>
              </a:rPr>
              <a:t> rankings; </a:t>
            </a:r>
            <a:r>
              <a:rPr sz="1350" b="0" dirty="0" err="1">
                <a:solidFill>
                  <a:srgbClr val="7A6A5E"/>
                </a:solidFill>
              </a:rPr>
              <a:t>el</a:t>
            </a:r>
            <a:r>
              <a:rPr sz="1350" b="0" dirty="0">
                <a:solidFill>
                  <a:srgbClr val="7A6A5E"/>
                </a:solidFill>
              </a:rPr>
              <a:t> frontend </a:t>
            </a:r>
            <a:r>
              <a:rPr sz="1350" b="0" dirty="0" err="1">
                <a:solidFill>
                  <a:srgbClr val="7A6A5E"/>
                </a:solidFill>
              </a:rPr>
              <a:t>detecta</a:t>
            </a:r>
            <a:r>
              <a:rPr sz="1350" b="0" dirty="0">
                <a:solidFill>
                  <a:srgbClr val="7A6A5E"/>
                </a:solidFill>
              </a:rPr>
              <a:t> </a:t>
            </a:r>
            <a:r>
              <a:rPr sz="1350" b="0" dirty="0" err="1">
                <a:solidFill>
                  <a:srgbClr val="7A6A5E"/>
                </a:solidFill>
              </a:rPr>
              <a:t>el</a:t>
            </a:r>
            <a:r>
              <a:rPr sz="1350" b="0" dirty="0">
                <a:solidFill>
                  <a:srgbClr val="7A6A5E"/>
                </a:solidFill>
              </a:rPr>
              <a:t> </a:t>
            </a:r>
            <a:r>
              <a:rPr sz="1350" b="0" dirty="0" err="1">
                <a:solidFill>
                  <a:srgbClr val="7A6A5E"/>
                </a:solidFill>
              </a:rPr>
              <a:t>rechazo</a:t>
            </a:r>
            <a:r>
              <a:rPr sz="1350" b="0" dirty="0">
                <a:solidFill>
                  <a:srgbClr val="7A6A5E"/>
                </a:solidFill>
              </a:rPr>
              <a:t> </a:t>
            </a:r>
            <a:r>
              <a:rPr sz="1350" b="0" dirty="0" err="1">
                <a:solidFill>
                  <a:srgbClr val="7A6A5E"/>
                </a:solidFill>
              </a:rPr>
              <a:t>cada</a:t>
            </a:r>
            <a:r>
              <a:rPr sz="1350" b="0" dirty="0">
                <a:solidFill>
                  <a:srgbClr val="7A6A5E"/>
                </a:solidFill>
              </a:rPr>
              <a:t> 5 </a:t>
            </a:r>
            <a:r>
              <a:rPr sz="1350" b="0" dirty="0" err="1">
                <a:solidFill>
                  <a:srgbClr val="7A6A5E"/>
                </a:solidFill>
              </a:rPr>
              <a:t>segundos</a:t>
            </a:r>
            <a:r>
              <a:rPr sz="1350" b="0" dirty="0">
                <a:solidFill>
                  <a:srgbClr val="7A6A5E"/>
                </a:solidFill>
              </a:rPr>
              <a:t> y </a:t>
            </a:r>
            <a:r>
              <a:rPr sz="1350" b="0" dirty="0" err="1">
                <a:solidFill>
                  <a:srgbClr val="7A6A5E"/>
                </a:solidFill>
              </a:rPr>
              <a:t>recarga</a:t>
            </a:r>
            <a:r>
              <a:rPr sz="1350" b="0" dirty="0">
                <a:solidFill>
                  <a:srgbClr val="7A6A5E"/>
                </a:solidFill>
              </a:rPr>
              <a:t> </a:t>
            </a:r>
            <a:r>
              <a:rPr sz="1350" b="0" dirty="0" err="1">
                <a:solidFill>
                  <a:srgbClr val="7A6A5E"/>
                </a:solidFill>
              </a:rPr>
              <a:t>candidatos</a:t>
            </a:r>
            <a:r>
              <a:rPr sz="1350" b="0" dirty="0">
                <a:solidFill>
                  <a:srgbClr val="7A6A5E"/>
                </a:solidFill>
              </a:rPr>
              <a:t>.</a:t>
            </a:r>
          </a:p>
        </p:txBody>
      </p:sp>
      <p:sp>
        <p:nvSpPr>
          <p:cNvPr id="21" name="closing">
            <a:extLst>
              <a:ext uri="{FF2B5EF4-FFF2-40B4-BE49-F238E27FC236}">
                <a16:creationId xmlns:a16="http://schemas.microsoft.com/office/drawing/2014/main" id="{120C12F3-3706-4734-9D1E-2927CE8A5251}"/>
              </a:ext>
            </a:extLst>
          </p:cNvPr>
          <p:cNvSpPr>
            <a:spLocks noGrp="1"/>
          </p:cNvSpPr>
          <p:nvPr/>
        </p:nvSpPr>
        <p:spPr>
          <a:xfrm>
            <a:off x="685800" y="5943600"/>
            <a:ext cx="10820400" cy="381000"/>
          </a:xfrm>
          <a:prstGeom prst="rect">
            <a:avLst/>
          </a:prstGeom>
          <a:noFill/>
          <a:ln w="0">
            <a:noFill/>
            <a:prstDash val="solid"/>
          </a:ln>
        </p:spPr>
        <p:txBody>
          <a:bodyPr anchor="ctr"/>
          <a:lstStyle/>
          <a:p>
            <a:pPr algn="ctr">
              <a:defRPr sz="1650" b="1">
                <a:solidFill>
                  <a:srgbClr val="2E2A26"/>
                </a:solidFill>
              </a:defRPr>
            </a:pPr>
            <a:r>
              <a:rPr sz="1650" b="1" dirty="0" err="1">
                <a:solidFill>
                  <a:srgbClr val="2E2A26"/>
                </a:solidFill>
              </a:rPr>
              <a:t>PawAlert</a:t>
            </a:r>
            <a:r>
              <a:rPr sz="1650" b="1" dirty="0">
                <a:solidFill>
                  <a:srgbClr val="2E2A26"/>
                </a:solidFill>
              </a:rPr>
              <a:t> </a:t>
            </a:r>
            <a:r>
              <a:rPr sz="1650" b="1">
                <a:solidFill>
                  <a:srgbClr val="2E2A26"/>
                </a:solidFill>
              </a:rPr>
              <a:t>prioriza </a:t>
            </a:r>
            <a:r>
              <a:rPr sz="1650" b="1" dirty="0" err="1">
                <a:solidFill>
                  <a:srgbClr val="2E2A26"/>
                </a:solidFill>
              </a:rPr>
              <a:t>cobertura</a:t>
            </a:r>
            <a:r>
              <a:rPr sz="1650" b="1" dirty="0">
                <a:solidFill>
                  <a:srgbClr val="2E2A26"/>
                </a:solidFill>
              </a:rPr>
              <a:t>, </a:t>
            </a:r>
            <a:r>
              <a:rPr sz="1650" b="1" dirty="0" err="1">
                <a:solidFill>
                  <a:srgbClr val="2E2A26"/>
                </a:solidFill>
              </a:rPr>
              <a:t>compatibilidad</a:t>
            </a:r>
            <a:r>
              <a:rPr sz="1650" b="1" dirty="0">
                <a:solidFill>
                  <a:srgbClr val="2E2A26"/>
                </a:solidFill>
              </a:rPr>
              <a:t> y </a:t>
            </a:r>
            <a:r>
              <a:rPr sz="1650" b="1" dirty="0" err="1">
                <a:solidFill>
                  <a:srgbClr val="2E2A26"/>
                </a:solidFill>
              </a:rPr>
              <a:t>consentimiento</a:t>
            </a:r>
            <a:r>
              <a:rPr sz="1650" b="1" dirty="0">
                <a:solidFill>
                  <a:srgbClr val="2E2A26"/>
                </a:solidFill>
              </a:rPr>
              <a:t> </a:t>
            </a:r>
            <a:r>
              <a:rPr sz="1650" b="1" dirty="0" err="1">
                <a:solidFill>
                  <a:srgbClr val="2E2A26"/>
                </a:solidFill>
              </a:rPr>
              <a:t>en</a:t>
            </a:r>
            <a:r>
              <a:rPr sz="1650" b="1" dirty="0">
                <a:solidFill>
                  <a:srgbClr val="2E2A26"/>
                </a:solidFill>
              </a:rPr>
              <a:t> </a:t>
            </a:r>
            <a:r>
              <a:rPr sz="1650" b="1" dirty="0" err="1">
                <a:solidFill>
                  <a:srgbClr val="2E2A26"/>
                </a:solidFill>
              </a:rPr>
              <a:t>cada</a:t>
            </a:r>
            <a:r>
              <a:rPr sz="1650" b="1" dirty="0">
                <a:solidFill>
                  <a:srgbClr val="2E2A26"/>
                </a:solidFill>
              </a:rPr>
              <a:t> </a:t>
            </a:r>
            <a:r>
              <a:rPr sz="1650" b="1" dirty="0" err="1">
                <a:solidFill>
                  <a:srgbClr val="2E2A26"/>
                </a:solidFill>
              </a:rPr>
              <a:t>asignación</a:t>
            </a:r>
            <a:r>
              <a:rPr sz="1650" b="1" dirty="0">
                <a:solidFill>
                  <a:srgbClr val="2E2A26"/>
                </a:solidFill>
              </a:rPr>
              <a:t>.</a:t>
            </a:r>
          </a:p>
        </p:txBody>
      </p:sp>
    </p:spTree>
    <p:extLst>
      <p:ext uri="{BB962C8B-B14F-4D97-AF65-F5344CB8AC3E}">
        <p14:creationId xmlns:p14="http://schemas.microsoft.com/office/powerpoint/2010/main" val="20143903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1053</Words>
  <Application>Microsoft Macintosh PowerPoint</Application>
  <DocSecurity>0</DocSecurity>
  <PresentationFormat>Panorámica</PresentationFormat>
  <Paragraphs>112</Paragraphs>
  <Slides>7</Slides>
  <Notes>7</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7</vt:i4>
      </vt:variant>
    </vt:vector>
  </HeadingPairs>
  <TitlesOfParts>
    <vt:vector size="9" baseType="lpstr">
      <vt:lpstr>Calibri</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DANIELA GUADALUPE LIRA HUERTA</cp:lastModifiedBy>
  <cp:revision>1</cp:revision>
  <dcterms:created xsi:type="dcterms:W3CDTF">2026-07-19T05:16:24Z</dcterms:created>
  <dcterms:modified xsi:type="dcterms:W3CDTF">2026-07-20T03:04:38Z</dcterms:modified>
</cp:coreProperties>
</file>